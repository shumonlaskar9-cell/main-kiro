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13716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594360"/>
            <a:ext cx="2926080" cy="41148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300" b="1">
                <a:solidFill>
                  <a:srgbClr val="1B3A57"/>
                </a:solidFill>
                <a:latin typeface="Calibri"/>
              </a:rPr>
              <a:t>ANIMAL REPRODUCTION</a:t>
            </a:r>
          </a:p>
        </p:txBody>
      </p:sp>
      <p:sp>
        <p:nvSpPr>
          <p:cNvPr id="5" name="TextBox 4"/>
          <p:cNvSpPr txBox="1"/>
          <p:nvPr/>
        </p:nvSpPr>
        <p:spPr>
          <a:xfrm>
            <a:off x="594360" y="2834640"/>
            <a:ext cx="10972800" cy="822960"/>
          </a:xfrm>
          <a:prstGeom prst="rect">
            <a:avLst/>
          </a:prstGeom>
          <a:noFill/>
        </p:spPr>
        <p:txBody>
          <a:bodyPr wrap="none">
            <a:spAutoFit/>
          </a:bodyPr>
          <a:lstStyle/>
          <a:p>
            <a:r>
              <a:rPr sz="5600" b="1">
                <a:solidFill>
                  <a:srgbClr val="1B3A57"/>
                </a:solidFill>
                <a:latin typeface="Calibri"/>
              </a:rPr>
              <a:t>REPEAT BREEDING</a:t>
            </a:r>
          </a:p>
        </p:txBody>
      </p:sp>
      <p:sp>
        <p:nvSpPr>
          <p:cNvPr id="6" name="TextBox 5"/>
          <p:cNvSpPr txBox="1"/>
          <p:nvPr/>
        </p:nvSpPr>
        <p:spPr>
          <a:xfrm>
            <a:off x="594360" y="3611880"/>
            <a:ext cx="10972800" cy="548640"/>
          </a:xfrm>
          <a:prstGeom prst="rect">
            <a:avLst/>
          </a:prstGeom>
          <a:noFill/>
        </p:spPr>
        <p:txBody>
          <a:bodyPr wrap="none">
            <a:spAutoFit/>
          </a:bodyPr>
          <a:lstStyle/>
          <a:p>
            <a:r>
              <a:rPr sz="2200" i="1">
                <a:solidFill>
                  <a:srgbClr val="1F2533"/>
                </a:solidFill>
                <a:latin typeface="Calibri"/>
              </a:rPr>
              <a:t>Causes, Diagnosis, Treatment &amp; Prevention in Cows and Buffaloes</a:t>
            </a:r>
          </a:p>
        </p:txBody>
      </p:sp>
      <p:sp>
        <p:nvSpPr>
          <p:cNvPr id="7" name="Rectangle 6"/>
          <p:cNvSpPr/>
          <p:nvPr/>
        </p:nvSpPr>
        <p:spPr>
          <a:xfrm>
            <a:off x="548640" y="4572000"/>
            <a:ext cx="374904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w_holstein.jpg"/>
          <p:cNvPicPr>
            <a:picLocks noChangeAspect="1"/>
          </p:cNvPicPr>
          <p:nvPr/>
        </p:nvPicPr>
        <p:blipFill>
          <a:blip r:embed="rId2"/>
          <a:stretch>
            <a:fillRect/>
          </a:stretch>
        </p:blipFill>
        <p:spPr>
          <a:xfrm>
            <a:off x="594360" y="4617720"/>
            <a:ext cx="3657600" cy="1554480"/>
          </a:xfrm>
          <a:prstGeom prst="rect">
            <a:avLst/>
          </a:prstGeom>
        </p:spPr>
      </p:pic>
      <p:sp>
        <p:nvSpPr>
          <p:cNvPr id="9" name="TextBox 8"/>
          <p:cNvSpPr txBox="1"/>
          <p:nvPr/>
        </p:nvSpPr>
        <p:spPr>
          <a:xfrm>
            <a:off x="594360" y="6217920"/>
            <a:ext cx="3657600" cy="274320"/>
          </a:xfrm>
          <a:prstGeom prst="rect">
            <a:avLst/>
          </a:prstGeom>
          <a:noFill/>
        </p:spPr>
        <p:txBody>
          <a:bodyPr wrap="none">
            <a:spAutoFit/>
          </a:bodyPr>
          <a:lstStyle/>
          <a:p>
            <a:pPr algn="ctr"/>
            <a:r>
              <a:rPr sz="1000" i="1">
                <a:solidFill>
                  <a:srgbClr val="555C66"/>
                </a:solidFill>
                <a:latin typeface="Calibri"/>
              </a:rPr>
              <a:t>Holstein Friesian (dairy cow)</a:t>
            </a:r>
          </a:p>
        </p:txBody>
      </p:sp>
      <p:sp>
        <p:nvSpPr>
          <p:cNvPr id="10" name="Rectangle 9"/>
          <p:cNvSpPr/>
          <p:nvPr/>
        </p:nvSpPr>
        <p:spPr>
          <a:xfrm>
            <a:off x="7909559" y="4572000"/>
            <a:ext cx="374904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ffalo_murrah.jpg"/>
          <p:cNvPicPr>
            <a:picLocks noChangeAspect="1"/>
          </p:cNvPicPr>
          <p:nvPr/>
        </p:nvPicPr>
        <p:blipFill>
          <a:blip r:embed="rId3"/>
          <a:stretch>
            <a:fillRect/>
          </a:stretch>
        </p:blipFill>
        <p:spPr>
          <a:xfrm>
            <a:off x="7955279" y="4617720"/>
            <a:ext cx="3657600" cy="1554480"/>
          </a:xfrm>
          <a:prstGeom prst="rect">
            <a:avLst/>
          </a:prstGeom>
        </p:spPr>
      </p:pic>
      <p:sp>
        <p:nvSpPr>
          <p:cNvPr id="12" name="TextBox 11"/>
          <p:cNvSpPr txBox="1"/>
          <p:nvPr/>
        </p:nvSpPr>
        <p:spPr>
          <a:xfrm>
            <a:off x="7955279" y="6217920"/>
            <a:ext cx="3657600" cy="274320"/>
          </a:xfrm>
          <a:prstGeom prst="rect">
            <a:avLst/>
          </a:prstGeom>
          <a:noFill/>
        </p:spPr>
        <p:txBody>
          <a:bodyPr wrap="none">
            <a:spAutoFit/>
          </a:bodyPr>
          <a:lstStyle/>
          <a:p>
            <a:pPr algn="ctr"/>
            <a:r>
              <a:rPr sz="1000" i="1">
                <a:solidFill>
                  <a:srgbClr val="555C66"/>
                </a:solidFill>
                <a:latin typeface="Calibri"/>
              </a:rPr>
              <a:t>Murrah buffalo</a:t>
            </a:r>
          </a:p>
        </p:txBody>
      </p:sp>
      <p:sp>
        <p:nvSpPr>
          <p:cNvPr id="13" name="TextBox 12"/>
          <p:cNvSpPr txBox="1"/>
          <p:nvPr/>
        </p:nvSpPr>
        <p:spPr>
          <a:xfrm>
            <a:off x="4389120" y="4937760"/>
            <a:ext cx="3474720" cy="1280160"/>
          </a:xfrm>
          <a:prstGeom prst="rect">
            <a:avLst/>
          </a:prstGeom>
          <a:noFill/>
        </p:spPr>
        <p:txBody>
          <a:bodyPr wrap="none">
            <a:spAutoFit/>
          </a:bodyPr>
          <a:lstStyle/>
          <a:p>
            <a:pPr algn="ctr"/>
            <a:r>
              <a:rPr sz="1800" b="1">
                <a:solidFill>
                  <a:srgbClr val="FFFFFF"/>
                </a:solidFill>
                <a:latin typeface="Calibri"/>
              </a:rPr>
              <a:t>Veterinary Gynaecology
&amp; Obstetrics</a:t>
            </a:r>
          </a:p>
          <a:p>
            <a:pPr algn="ctr"/>
            <a:r>
              <a:rPr sz="1300" i="1">
                <a:solidFill>
                  <a:srgbClr val="FFFFFF"/>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Presentation Outline</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80136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91640"/>
            <a:ext cx="5029200" cy="457200"/>
          </a:xfrm>
          <a:prstGeom prst="rect">
            <a:avLst/>
          </a:prstGeom>
          <a:noFill/>
        </p:spPr>
        <p:txBody>
          <a:bodyPr wrap="none">
            <a:spAutoFit/>
          </a:bodyPr>
          <a:lstStyle/>
          <a:p>
            <a:r>
              <a:rPr sz="1800">
                <a:solidFill>
                  <a:srgbClr val="1F2533"/>
                </a:solidFill>
                <a:latin typeface="Calibri"/>
              </a:rPr>
              <a:t>1.  Introduction &amp; Definition</a:t>
            </a:r>
          </a:p>
        </p:txBody>
      </p:sp>
      <p:sp>
        <p:nvSpPr>
          <p:cNvPr id="9" name="Oval 8"/>
          <p:cNvSpPr/>
          <p:nvPr/>
        </p:nvSpPr>
        <p:spPr>
          <a:xfrm>
            <a:off x="777240" y="244144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331720"/>
            <a:ext cx="5029200" cy="457200"/>
          </a:xfrm>
          <a:prstGeom prst="rect">
            <a:avLst/>
          </a:prstGeom>
          <a:noFill/>
        </p:spPr>
        <p:txBody>
          <a:bodyPr wrap="none">
            <a:spAutoFit/>
          </a:bodyPr>
          <a:lstStyle/>
          <a:p>
            <a:r>
              <a:rPr sz="1800">
                <a:solidFill>
                  <a:srgbClr val="1F2533"/>
                </a:solidFill>
                <a:latin typeface="Calibri"/>
              </a:rPr>
              <a:t>2.  Incidence &amp; Economic Impact</a:t>
            </a:r>
          </a:p>
        </p:txBody>
      </p:sp>
      <p:sp>
        <p:nvSpPr>
          <p:cNvPr id="11" name="Oval 10"/>
          <p:cNvSpPr/>
          <p:nvPr/>
        </p:nvSpPr>
        <p:spPr>
          <a:xfrm>
            <a:off x="777240" y="308152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971800"/>
            <a:ext cx="5029200" cy="457200"/>
          </a:xfrm>
          <a:prstGeom prst="rect">
            <a:avLst/>
          </a:prstGeom>
          <a:noFill/>
        </p:spPr>
        <p:txBody>
          <a:bodyPr wrap="none">
            <a:spAutoFit/>
          </a:bodyPr>
          <a:lstStyle/>
          <a:p>
            <a:r>
              <a:rPr sz="1800">
                <a:solidFill>
                  <a:srgbClr val="1F2533"/>
                </a:solidFill>
                <a:latin typeface="Calibri"/>
              </a:rPr>
              <a:t>3.  Etiology / Causes</a:t>
            </a:r>
          </a:p>
        </p:txBody>
      </p:sp>
      <p:sp>
        <p:nvSpPr>
          <p:cNvPr id="13" name="Oval 12"/>
          <p:cNvSpPr/>
          <p:nvPr/>
        </p:nvSpPr>
        <p:spPr>
          <a:xfrm>
            <a:off x="777240" y="3721607"/>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1879"/>
            <a:ext cx="5029200" cy="457200"/>
          </a:xfrm>
          <a:prstGeom prst="rect">
            <a:avLst/>
          </a:prstGeom>
          <a:noFill/>
        </p:spPr>
        <p:txBody>
          <a:bodyPr wrap="none">
            <a:spAutoFit/>
          </a:bodyPr>
          <a:lstStyle/>
          <a:p>
            <a:r>
              <a:rPr sz="1800">
                <a:solidFill>
                  <a:srgbClr val="1F2533"/>
                </a:solidFill>
                <a:latin typeface="Calibri"/>
              </a:rPr>
              <a:t>4.  Pathophysiology</a:t>
            </a:r>
          </a:p>
        </p:txBody>
      </p:sp>
      <p:sp>
        <p:nvSpPr>
          <p:cNvPr id="15" name="Oval 14"/>
          <p:cNvSpPr/>
          <p:nvPr/>
        </p:nvSpPr>
        <p:spPr>
          <a:xfrm>
            <a:off x="777240" y="436168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251960"/>
            <a:ext cx="5029200" cy="457200"/>
          </a:xfrm>
          <a:prstGeom prst="rect">
            <a:avLst/>
          </a:prstGeom>
          <a:noFill/>
        </p:spPr>
        <p:txBody>
          <a:bodyPr wrap="none">
            <a:spAutoFit/>
          </a:bodyPr>
          <a:lstStyle/>
          <a:p>
            <a:r>
              <a:rPr sz="1800">
                <a:solidFill>
                  <a:srgbClr val="1F2533"/>
                </a:solidFill>
                <a:latin typeface="Calibri"/>
              </a:rPr>
              <a:t>5.  Diagnosis &amp; Clinical Approach</a:t>
            </a:r>
          </a:p>
        </p:txBody>
      </p:sp>
      <p:sp>
        <p:nvSpPr>
          <p:cNvPr id="17" name="Oval 16"/>
          <p:cNvSpPr/>
          <p:nvPr/>
        </p:nvSpPr>
        <p:spPr>
          <a:xfrm>
            <a:off x="777240" y="500176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892040"/>
            <a:ext cx="5029200" cy="457200"/>
          </a:xfrm>
          <a:prstGeom prst="rect">
            <a:avLst/>
          </a:prstGeom>
          <a:noFill/>
        </p:spPr>
        <p:txBody>
          <a:bodyPr wrap="none">
            <a:spAutoFit/>
          </a:bodyPr>
          <a:lstStyle/>
          <a:p>
            <a:r>
              <a:rPr sz="1800">
                <a:solidFill>
                  <a:srgbClr val="1F2533"/>
                </a:solidFill>
                <a:latin typeface="Calibri"/>
              </a:rPr>
              <a:t>6.  Treatment &amp; Management</a:t>
            </a:r>
          </a:p>
        </p:txBody>
      </p:sp>
      <p:sp>
        <p:nvSpPr>
          <p:cNvPr id="19" name="Oval 18"/>
          <p:cNvSpPr/>
          <p:nvPr/>
        </p:nvSpPr>
        <p:spPr>
          <a:xfrm>
            <a:off x="6263640" y="180136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1691640"/>
            <a:ext cx="5029200" cy="457200"/>
          </a:xfrm>
          <a:prstGeom prst="rect">
            <a:avLst/>
          </a:prstGeom>
          <a:noFill/>
        </p:spPr>
        <p:txBody>
          <a:bodyPr wrap="none">
            <a:spAutoFit/>
          </a:bodyPr>
          <a:lstStyle/>
          <a:p>
            <a:r>
              <a:rPr sz="1800">
                <a:solidFill>
                  <a:srgbClr val="1F2533"/>
                </a:solidFill>
                <a:latin typeface="Calibri"/>
              </a:rPr>
              <a:t>7.  Hormonal Therapy Protocols</a:t>
            </a:r>
          </a:p>
        </p:txBody>
      </p:sp>
      <p:sp>
        <p:nvSpPr>
          <p:cNvPr id="21" name="Oval 20"/>
          <p:cNvSpPr/>
          <p:nvPr/>
        </p:nvSpPr>
        <p:spPr>
          <a:xfrm>
            <a:off x="6263640" y="244144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2331720"/>
            <a:ext cx="5029200" cy="457200"/>
          </a:xfrm>
          <a:prstGeom prst="rect">
            <a:avLst/>
          </a:prstGeom>
          <a:noFill/>
        </p:spPr>
        <p:txBody>
          <a:bodyPr wrap="none">
            <a:spAutoFit/>
          </a:bodyPr>
          <a:lstStyle/>
          <a:p>
            <a:r>
              <a:rPr sz="1800">
                <a:solidFill>
                  <a:srgbClr val="1F2533"/>
                </a:solidFill>
                <a:latin typeface="Calibri"/>
              </a:rPr>
              <a:t>8.  Buffalo-Specific Repeat Breeding</a:t>
            </a:r>
          </a:p>
        </p:txBody>
      </p:sp>
      <p:sp>
        <p:nvSpPr>
          <p:cNvPr id="23" name="Oval 22"/>
          <p:cNvSpPr/>
          <p:nvPr/>
        </p:nvSpPr>
        <p:spPr>
          <a:xfrm>
            <a:off x="6263640" y="308152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2971800"/>
            <a:ext cx="5029200" cy="457200"/>
          </a:xfrm>
          <a:prstGeom prst="rect">
            <a:avLst/>
          </a:prstGeom>
          <a:noFill/>
        </p:spPr>
        <p:txBody>
          <a:bodyPr wrap="none">
            <a:spAutoFit/>
          </a:bodyPr>
          <a:lstStyle/>
          <a:p>
            <a:r>
              <a:rPr sz="1800">
                <a:solidFill>
                  <a:srgbClr val="1F2533"/>
                </a:solidFill>
                <a:latin typeface="Calibri"/>
              </a:rPr>
              <a:t>9.  Prevention Strategies</a:t>
            </a:r>
          </a:p>
        </p:txBody>
      </p:sp>
      <p:sp>
        <p:nvSpPr>
          <p:cNvPr id="25" name="Oval 24"/>
          <p:cNvSpPr/>
          <p:nvPr/>
        </p:nvSpPr>
        <p:spPr>
          <a:xfrm>
            <a:off x="6263640" y="3721607"/>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3611879"/>
            <a:ext cx="5029200" cy="457200"/>
          </a:xfrm>
          <a:prstGeom prst="rect">
            <a:avLst/>
          </a:prstGeom>
          <a:noFill/>
        </p:spPr>
        <p:txBody>
          <a:bodyPr wrap="none">
            <a:spAutoFit/>
          </a:bodyPr>
          <a:lstStyle/>
          <a:p>
            <a:r>
              <a:rPr sz="1800">
                <a:solidFill>
                  <a:srgbClr val="1F2533"/>
                </a:solidFill>
                <a:latin typeface="Calibri"/>
              </a:rPr>
              <a:t>10. Recent Advances</a:t>
            </a:r>
          </a:p>
        </p:txBody>
      </p:sp>
      <p:sp>
        <p:nvSpPr>
          <p:cNvPr id="27" name="Oval 26"/>
          <p:cNvSpPr/>
          <p:nvPr/>
        </p:nvSpPr>
        <p:spPr>
          <a:xfrm>
            <a:off x="6263640" y="4361688"/>
            <a:ext cx="164592" cy="164592"/>
          </a:xfrm>
          <a:prstGeom prst="ellipse">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4251960"/>
            <a:ext cx="5029200" cy="457200"/>
          </a:xfrm>
          <a:prstGeom prst="rect">
            <a:avLst/>
          </a:prstGeom>
          <a:noFill/>
        </p:spPr>
        <p:txBody>
          <a:bodyPr wrap="none">
            <a:spAutoFit/>
          </a:bodyPr>
          <a:lstStyle/>
          <a:p>
            <a:r>
              <a:rPr sz="1800">
                <a:solidFill>
                  <a:srgbClr val="1F2533"/>
                </a:solidFill>
                <a:latin typeface="Calibri"/>
              </a:rPr>
              <a:t>11. Conclusion &amp; References</a:t>
            </a:r>
          </a:p>
        </p:txBody>
      </p:sp>
      <p:sp>
        <p:nvSpPr>
          <p:cNvPr id="29" name="TextBox 28"/>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30" name="TextBox 29"/>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Introduction</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11155680" cy="365760"/>
          </a:xfrm>
          <a:prstGeom prst="rect">
            <a:avLst/>
          </a:prstGeom>
          <a:noFill/>
        </p:spPr>
        <p:txBody>
          <a:bodyPr wrap="none">
            <a:spAutoFit/>
          </a:bodyPr>
          <a:lstStyle/>
          <a:p>
            <a:r>
              <a:rPr sz="1400" i="1">
                <a:solidFill>
                  <a:srgbClr val="555C66"/>
                </a:solidFill>
                <a:latin typeface="Calibri"/>
              </a:rPr>
              <a:t>Reproductive efficiency is the backbone of profitable dairy farming</a:t>
            </a:r>
          </a:p>
        </p:txBody>
      </p:sp>
      <p:sp>
        <p:nvSpPr>
          <p:cNvPr id="8" name="TextBox 7"/>
          <p:cNvSpPr txBox="1"/>
          <p:nvPr/>
        </p:nvSpPr>
        <p:spPr>
          <a:xfrm>
            <a:off x="777240" y="1691640"/>
            <a:ext cx="7315200" cy="4572000"/>
          </a:xfrm>
          <a:prstGeom prst="rect">
            <a:avLst/>
          </a:prstGeom>
          <a:noFill/>
        </p:spPr>
        <p:txBody>
          <a:bodyPr wrap="square" lIns="0" rIns="0">
            <a:spAutoFit/>
          </a:bodyPr>
          <a:lstStyle/>
          <a:p>
            <a:pPr>
              <a:spcAft>
                <a:spcPts val="600"/>
              </a:spcAft>
            </a:pPr>
            <a:r>
              <a:rPr sz="1600">
                <a:solidFill>
                  <a:srgbClr val="1F2533"/>
                </a:solidFill>
                <a:latin typeface="Calibri"/>
              </a:rPr>
              <a:t>•  Reproduction is the most important factor governing the economic success of any dairy enterprise.</a:t>
            </a:r>
          </a:p>
          <a:p>
            <a:pPr>
              <a:spcAft>
                <a:spcPts val="600"/>
              </a:spcAft>
            </a:pPr>
            <a:r>
              <a:rPr sz="1600">
                <a:solidFill>
                  <a:srgbClr val="1F2533"/>
                </a:solidFill>
                <a:latin typeface="Calibri"/>
              </a:rPr>
              <a:t>•  A normal fertile cow should conceive within 60–90 days post-partum and deliver one calf every 12–13 months.</a:t>
            </a:r>
          </a:p>
          <a:p>
            <a:pPr>
              <a:spcAft>
                <a:spcPts val="600"/>
              </a:spcAft>
            </a:pPr>
            <a:r>
              <a:rPr sz="1600">
                <a:solidFill>
                  <a:srgbClr val="1F2533"/>
                </a:solidFill>
                <a:latin typeface="Calibri"/>
              </a:rPr>
              <a:t>•  Failure to conceive after repeated inseminations — despite normal estrous cycles and apparently healthy genitalia — is termed REPEAT BREEDING.</a:t>
            </a:r>
          </a:p>
          <a:p>
            <a:pPr>
              <a:spcAft>
                <a:spcPts val="600"/>
              </a:spcAft>
            </a:pPr>
            <a:r>
              <a:rPr sz="1600">
                <a:solidFill>
                  <a:srgbClr val="1F2533"/>
                </a:solidFill>
                <a:latin typeface="Calibri"/>
              </a:rPr>
              <a:t>•  It is one of the most frustrating and economically damaging reproductive disorders in cattle and buffaloes worldwide.</a:t>
            </a:r>
          </a:p>
          <a:p>
            <a:pPr>
              <a:spcAft>
                <a:spcPts val="600"/>
              </a:spcAft>
            </a:pPr>
            <a:r>
              <a:rPr sz="1600">
                <a:solidFill>
                  <a:srgbClr val="1F2533"/>
                </a:solidFill>
                <a:latin typeface="Calibri"/>
              </a:rPr>
              <a:t>•  Often multifactorial — involving the cow, the bull/semen, the inseminator and the environment.</a:t>
            </a:r>
          </a:p>
        </p:txBody>
      </p:sp>
      <p:sp>
        <p:nvSpPr>
          <p:cNvPr id="9" name="Rectangle 8"/>
          <p:cNvSpPr/>
          <p:nvPr/>
        </p:nvSpPr>
        <p:spPr>
          <a:xfrm>
            <a:off x="8275320" y="1737360"/>
            <a:ext cx="3474720" cy="2633472"/>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w_dairy.jpg"/>
          <p:cNvPicPr>
            <a:picLocks noChangeAspect="1"/>
          </p:cNvPicPr>
          <p:nvPr/>
        </p:nvPicPr>
        <p:blipFill>
          <a:blip r:embed="rId2"/>
          <a:stretch>
            <a:fillRect/>
          </a:stretch>
        </p:blipFill>
        <p:spPr>
          <a:xfrm>
            <a:off x="8321040" y="1783080"/>
            <a:ext cx="3383280" cy="2542032"/>
          </a:xfrm>
          <a:prstGeom prst="rect">
            <a:avLst/>
          </a:prstGeom>
        </p:spPr>
      </p:pic>
      <p:sp>
        <p:nvSpPr>
          <p:cNvPr id="11" name="TextBox 10"/>
          <p:cNvSpPr txBox="1"/>
          <p:nvPr/>
        </p:nvSpPr>
        <p:spPr>
          <a:xfrm>
            <a:off x="8321040" y="4370832"/>
            <a:ext cx="3383280" cy="274320"/>
          </a:xfrm>
          <a:prstGeom prst="rect">
            <a:avLst/>
          </a:prstGeom>
          <a:noFill/>
        </p:spPr>
        <p:txBody>
          <a:bodyPr wrap="none">
            <a:spAutoFit/>
          </a:bodyPr>
          <a:lstStyle/>
          <a:p>
            <a:pPr algn="ctr"/>
            <a:r>
              <a:rPr sz="1000" i="1">
                <a:solidFill>
                  <a:srgbClr val="555C66"/>
                </a:solidFill>
                <a:latin typeface="Calibri"/>
              </a:rPr>
              <a:t>Holstein dairy cow on pasture</a:t>
            </a:r>
          </a:p>
        </p:txBody>
      </p:sp>
      <p:sp>
        <p:nvSpPr>
          <p:cNvPr id="12" name="Rectangle 11"/>
          <p:cNvSpPr/>
          <p:nvPr/>
        </p:nvSpPr>
        <p:spPr>
          <a:xfrm>
            <a:off x="8275320" y="4526280"/>
            <a:ext cx="3474720" cy="178308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ahiwal.jpg"/>
          <p:cNvPicPr>
            <a:picLocks noChangeAspect="1"/>
          </p:cNvPicPr>
          <p:nvPr/>
        </p:nvPicPr>
        <p:blipFill>
          <a:blip r:embed="rId3"/>
          <a:stretch>
            <a:fillRect/>
          </a:stretch>
        </p:blipFill>
        <p:spPr>
          <a:xfrm>
            <a:off x="8321040" y="4572000"/>
            <a:ext cx="3383280" cy="1691640"/>
          </a:xfrm>
          <a:prstGeom prst="rect">
            <a:avLst/>
          </a:prstGeom>
        </p:spPr>
      </p:pic>
      <p:sp>
        <p:nvSpPr>
          <p:cNvPr id="14" name="TextBox 13"/>
          <p:cNvSpPr txBox="1"/>
          <p:nvPr/>
        </p:nvSpPr>
        <p:spPr>
          <a:xfrm>
            <a:off x="8321040" y="6309360"/>
            <a:ext cx="3383280" cy="274320"/>
          </a:xfrm>
          <a:prstGeom prst="rect">
            <a:avLst/>
          </a:prstGeom>
          <a:noFill/>
        </p:spPr>
        <p:txBody>
          <a:bodyPr wrap="none">
            <a:spAutoFit/>
          </a:bodyPr>
          <a:lstStyle/>
          <a:p>
            <a:pPr algn="ctr"/>
            <a:r>
              <a:rPr sz="1000" i="1">
                <a:solidFill>
                  <a:srgbClr val="555C66"/>
                </a:solidFill>
                <a:latin typeface="Calibri"/>
              </a:rPr>
              <a:t>Sahiwal — indigenous Indian dairy breed</a:t>
            </a:r>
          </a:p>
        </p:txBody>
      </p:sp>
      <p:sp>
        <p:nvSpPr>
          <p:cNvPr id="15" name="TextBox 14"/>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6" name="TextBox 15"/>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Definition</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07040" cy="1645920"/>
          </a:xfrm>
          <a:prstGeom prst="roundRect">
            <a:avLst/>
          </a:prstGeom>
          <a:solidFill>
            <a:srgbClr val="FFFFFF"/>
          </a:solidFill>
          <a:ln w="25400">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r>
              <a:rPr sz="1700" i="1">
                <a:solidFill>
                  <a:srgbClr val="1F2533"/>
                </a:solidFill>
                <a:latin typeface="Calibri"/>
              </a:rPr>
              <a:t>A repeat breeder is a cow / buffalo of normal breeding age and parity, cycling regularly at intervals of 18–24 days, with no clinically detectable abnormality of the genital tract, that has failed to conceive after three or more successive services with fertile semen.</a:t>
            </a:r>
          </a:p>
        </p:txBody>
      </p:sp>
      <p:sp>
        <p:nvSpPr>
          <p:cNvPr id="8" name="TextBox 7"/>
          <p:cNvSpPr txBox="1"/>
          <p:nvPr/>
        </p:nvSpPr>
        <p:spPr>
          <a:xfrm>
            <a:off x="777240" y="361188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Also known as: Repeat Breeder Syndrome / Repeat Breeder Cow (RBC).</a:t>
            </a:r>
          </a:p>
          <a:p>
            <a:pPr>
              <a:spcAft>
                <a:spcPts val="600"/>
              </a:spcAft>
            </a:pPr>
            <a:r>
              <a:rPr sz="1700">
                <a:solidFill>
                  <a:srgbClr val="1F2533"/>
                </a:solidFill>
                <a:latin typeface="Calibri"/>
              </a:rPr>
              <a:t>•  Synonym in older literature: 'Conception Failure'.</a:t>
            </a:r>
          </a:p>
          <a:p>
            <a:pPr>
              <a:spcAft>
                <a:spcPts val="600"/>
              </a:spcAft>
            </a:pPr>
            <a:r>
              <a:rPr sz="1700">
                <a:solidFill>
                  <a:srgbClr val="1F2533"/>
                </a:solidFill>
                <a:latin typeface="Calibri"/>
              </a:rPr>
              <a:t>•  Key criteria — (a) regular oestrous cycles, (b) ≥3 services, (c) no palpable abnormality, (d) fertile semen, (e) competent AI.</a:t>
            </a:r>
          </a:p>
          <a:p>
            <a:pPr>
              <a:spcAft>
                <a:spcPts val="600"/>
              </a:spcAft>
            </a:pPr>
            <a:r>
              <a:rPr sz="1700">
                <a:solidFill>
                  <a:srgbClr val="1F2533"/>
                </a:solidFill>
                <a:latin typeface="Calibri"/>
              </a:rPr>
              <a:t>•  Differentiate from anoestrus, sub-oestrus, true infertility and sterility.</a:t>
            </a:r>
          </a:p>
        </p:txBody>
      </p:sp>
      <p:sp>
        <p:nvSpPr>
          <p:cNvPr id="9" name="TextBox 8"/>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0" name="TextBox 9"/>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Incidence &amp; Economic Importance</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Global incidence: 10 – 15 % of all breedable cows; may exceed 20 – 30 % in poorly managed herds.</a:t>
            </a:r>
          </a:p>
          <a:p>
            <a:pPr>
              <a:spcAft>
                <a:spcPts val="600"/>
              </a:spcAft>
            </a:pPr>
            <a:r>
              <a:rPr sz="1700">
                <a:solidFill>
                  <a:srgbClr val="1F2533"/>
                </a:solidFill>
                <a:latin typeface="Calibri"/>
              </a:rPr>
              <a:t>•  Indian dairy herds: reported range 12 – 24 % (higher in cross-bred and high-yielding cows).</a:t>
            </a:r>
          </a:p>
          <a:p>
            <a:pPr>
              <a:spcAft>
                <a:spcPts val="600"/>
              </a:spcAft>
            </a:pPr>
            <a:r>
              <a:rPr sz="1700">
                <a:solidFill>
                  <a:srgbClr val="1F2533"/>
                </a:solidFill>
                <a:latin typeface="Calibri"/>
              </a:rPr>
              <a:t>•  Buffaloes: 8 – 18 %, often masked by silent oestrus.</a:t>
            </a:r>
          </a:p>
        </p:txBody>
      </p:sp>
      <p:sp>
        <p:nvSpPr>
          <p:cNvPr id="8" name="Rectangle 7"/>
          <p:cNvSpPr/>
          <p:nvPr/>
        </p:nvSpPr>
        <p:spPr>
          <a:xfrm>
            <a:off x="777240" y="3657600"/>
            <a:ext cx="352044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Direct Losses</a:t>
            </a:r>
          </a:p>
        </p:txBody>
      </p:sp>
      <p:sp>
        <p:nvSpPr>
          <p:cNvPr id="9" name="Rectangle 8"/>
          <p:cNvSpPr/>
          <p:nvPr/>
        </p:nvSpPr>
        <p:spPr>
          <a:xfrm>
            <a:off x="777240" y="4160520"/>
            <a:ext cx="3520440" cy="214884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Extra AI doses &amp; semen cost</a:t>
            </a:r>
          </a:p>
          <a:p>
            <a:pPr>
              <a:spcAft>
                <a:spcPts val="400"/>
              </a:spcAft>
            </a:pPr>
            <a:r>
              <a:rPr sz="1200">
                <a:solidFill>
                  <a:srgbClr val="1F2533"/>
                </a:solidFill>
                <a:latin typeface="Calibri"/>
              </a:rPr>
              <a:t>• Veterinary &amp; hormone bills</a:t>
            </a:r>
          </a:p>
          <a:p>
            <a:pPr>
              <a:spcAft>
                <a:spcPts val="400"/>
              </a:spcAft>
            </a:pPr>
            <a:r>
              <a:rPr sz="1200">
                <a:solidFill>
                  <a:srgbClr val="1F2533"/>
                </a:solidFill>
                <a:latin typeface="Calibri"/>
              </a:rPr>
              <a:t>• Extended dry / open period</a:t>
            </a:r>
          </a:p>
          <a:p>
            <a:pPr>
              <a:spcAft>
                <a:spcPts val="400"/>
              </a:spcAft>
            </a:pPr>
            <a:r>
              <a:rPr sz="1200">
                <a:solidFill>
                  <a:srgbClr val="1F2533"/>
                </a:solidFill>
                <a:latin typeface="Calibri"/>
              </a:rPr>
              <a:t>• Reduced lifetime calves</a:t>
            </a:r>
          </a:p>
        </p:txBody>
      </p:sp>
      <p:sp>
        <p:nvSpPr>
          <p:cNvPr id="10" name="Rectangle 9"/>
          <p:cNvSpPr/>
          <p:nvPr/>
        </p:nvSpPr>
        <p:spPr>
          <a:xfrm>
            <a:off x="4526280" y="3657600"/>
            <a:ext cx="3520440" cy="50292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Indirect Losses</a:t>
            </a:r>
          </a:p>
        </p:txBody>
      </p:sp>
      <p:sp>
        <p:nvSpPr>
          <p:cNvPr id="11" name="Rectangle 10"/>
          <p:cNvSpPr/>
          <p:nvPr/>
        </p:nvSpPr>
        <p:spPr>
          <a:xfrm>
            <a:off x="4526280" y="4160520"/>
            <a:ext cx="3520440" cy="2148840"/>
          </a:xfrm>
          <a:prstGeom prst="rect">
            <a:avLst/>
          </a:prstGeom>
          <a:solidFill>
            <a:srgbClr val="FFFFFF"/>
          </a:solidFill>
          <a:ln w="9525">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Lower lactation yield</a:t>
            </a:r>
          </a:p>
          <a:p>
            <a:pPr>
              <a:spcAft>
                <a:spcPts val="400"/>
              </a:spcAft>
            </a:pPr>
            <a:r>
              <a:rPr sz="1200">
                <a:solidFill>
                  <a:srgbClr val="1F2533"/>
                </a:solidFill>
                <a:latin typeface="Calibri"/>
              </a:rPr>
              <a:t>• Increased calving interval</a:t>
            </a:r>
          </a:p>
          <a:p>
            <a:pPr>
              <a:spcAft>
                <a:spcPts val="400"/>
              </a:spcAft>
            </a:pPr>
            <a:r>
              <a:rPr sz="1200">
                <a:solidFill>
                  <a:srgbClr val="1F2533"/>
                </a:solidFill>
                <a:latin typeface="Calibri"/>
              </a:rPr>
              <a:t>• Premature culling</a:t>
            </a:r>
          </a:p>
          <a:p>
            <a:pPr>
              <a:spcAft>
                <a:spcPts val="400"/>
              </a:spcAft>
            </a:pPr>
            <a:r>
              <a:rPr sz="1200">
                <a:solidFill>
                  <a:srgbClr val="1F2533"/>
                </a:solidFill>
                <a:latin typeface="Calibri"/>
              </a:rPr>
              <a:t>• Loss of genetic progress</a:t>
            </a:r>
          </a:p>
        </p:txBody>
      </p:sp>
      <p:sp>
        <p:nvSpPr>
          <p:cNvPr id="12" name="Rectangle 11"/>
          <p:cNvSpPr/>
          <p:nvPr/>
        </p:nvSpPr>
        <p:spPr>
          <a:xfrm>
            <a:off x="8275320" y="3657600"/>
            <a:ext cx="35204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Estimated Cost</a:t>
            </a:r>
          </a:p>
        </p:txBody>
      </p:sp>
      <p:sp>
        <p:nvSpPr>
          <p:cNvPr id="13" name="Rectangle 12"/>
          <p:cNvSpPr/>
          <p:nvPr/>
        </p:nvSpPr>
        <p:spPr>
          <a:xfrm>
            <a:off x="8275320" y="4160520"/>
            <a:ext cx="3520440" cy="2148840"/>
          </a:xfrm>
          <a:prstGeom prst="rect">
            <a:avLst/>
          </a:prstGeom>
          <a:solidFill>
            <a:srgbClr val="FFFFFF"/>
          </a:solidFill>
          <a:ln w="9525">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Each extra open day ≈ ₹150–250</a:t>
            </a:r>
          </a:p>
          <a:p>
            <a:pPr>
              <a:spcAft>
                <a:spcPts val="400"/>
              </a:spcAft>
            </a:pPr>
            <a:r>
              <a:rPr sz="1200">
                <a:solidFill>
                  <a:srgbClr val="1F2533"/>
                </a:solidFill>
                <a:latin typeface="Calibri"/>
              </a:rPr>
              <a:t>• Per repeat breeder: ₹8 000–15 000 / lactation</a:t>
            </a:r>
          </a:p>
          <a:p>
            <a:pPr>
              <a:spcAft>
                <a:spcPts val="400"/>
              </a:spcAft>
            </a:pPr>
            <a:r>
              <a:rPr sz="1200">
                <a:solidFill>
                  <a:srgbClr val="1F2533"/>
                </a:solidFill>
                <a:latin typeface="Calibri"/>
              </a:rPr>
              <a:t>• National-level losses run into thousands of crores</a:t>
            </a:r>
          </a:p>
        </p:txBody>
      </p:sp>
      <p:sp>
        <p:nvSpPr>
          <p:cNvPr id="14" name="TextBox 13"/>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5" name="TextBox 14"/>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Etiology — An Overview</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11155680" cy="365760"/>
          </a:xfrm>
          <a:prstGeom prst="rect">
            <a:avLst/>
          </a:prstGeom>
          <a:noFill/>
        </p:spPr>
        <p:txBody>
          <a:bodyPr wrap="none">
            <a:spAutoFit/>
          </a:bodyPr>
          <a:lstStyle/>
          <a:p>
            <a:r>
              <a:rPr sz="1400" i="1">
                <a:solidFill>
                  <a:srgbClr val="555C66"/>
                </a:solidFill>
                <a:latin typeface="Calibri"/>
              </a:rPr>
              <a:t>Repeat breeding is multifactorial; causes are grouped into four broad heads</a:t>
            </a:r>
          </a:p>
        </p:txBody>
      </p:sp>
      <p:sp>
        <p:nvSpPr>
          <p:cNvPr id="8" name="Rectangle 7"/>
          <p:cNvSpPr/>
          <p:nvPr/>
        </p:nvSpPr>
        <p:spPr>
          <a:xfrm>
            <a:off x="777240" y="1783080"/>
            <a:ext cx="269748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1. Fertilization Failure</a:t>
            </a:r>
          </a:p>
        </p:txBody>
      </p:sp>
      <p:sp>
        <p:nvSpPr>
          <p:cNvPr id="9" name="Rectangle 8"/>
          <p:cNvSpPr/>
          <p:nvPr/>
        </p:nvSpPr>
        <p:spPr>
          <a:xfrm>
            <a:off x="777240" y="2286000"/>
            <a:ext cx="2697480" cy="397764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Improper AI timing</a:t>
            </a:r>
          </a:p>
          <a:p>
            <a:pPr>
              <a:spcAft>
                <a:spcPts val="400"/>
              </a:spcAft>
            </a:pPr>
            <a:r>
              <a:rPr sz="1200">
                <a:solidFill>
                  <a:srgbClr val="1F2533"/>
                </a:solidFill>
                <a:latin typeface="Calibri"/>
              </a:rPr>
              <a:t>• Poor semen quality</a:t>
            </a:r>
          </a:p>
          <a:p>
            <a:pPr>
              <a:spcAft>
                <a:spcPts val="400"/>
              </a:spcAft>
            </a:pPr>
            <a:r>
              <a:rPr sz="1200">
                <a:solidFill>
                  <a:srgbClr val="1F2533"/>
                </a:solidFill>
                <a:latin typeface="Calibri"/>
              </a:rPr>
              <a:t>• Anovulation / delayed ovulation</a:t>
            </a:r>
          </a:p>
          <a:p>
            <a:pPr>
              <a:spcAft>
                <a:spcPts val="400"/>
              </a:spcAft>
            </a:pPr>
            <a:r>
              <a:rPr sz="1200">
                <a:solidFill>
                  <a:srgbClr val="1F2533"/>
                </a:solidFill>
                <a:latin typeface="Calibri"/>
              </a:rPr>
              <a:t>• Reproductive tract obstruction</a:t>
            </a:r>
          </a:p>
          <a:p>
            <a:pPr>
              <a:spcAft>
                <a:spcPts val="400"/>
              </a:spcAft>
            </a:pPr>
            <a:r>
              <a:rPr sz="1200">
                <a:solidFill>
                  <a:srgbClr val="1F2533"/>
                </a:solidFill>
                <a:latin typeface="Calibri"/>
              </a:rPr>
              <a:t>• Anti-sperm antibodies</a:t>
            </a:r>
          </a:p>
        </p:txBody>
      </p:sp>
      <p:sp>
        <p:nvSpPr>
          <p:cNvPr id="10" name="Rectangle 9"/>
          <p:cNvSpPr/>
          <p:nvPr/>
        </p:nvSpPr>
        <p:spPr>
          <a:xfrm>
            <a:off x="3657600" y="1783080"/>
            <a:ext cx="2697480" cy="50292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2. Early Embryonic Death</a:t>
            </a:r>
          </a:p>
        </p:txBody>
      </p:sp>
      <p:sp>
        <p:nvSpPr>
          <p:cNvPr id="11" name="Rectangle 10"/>
          <p:cNvSpPr/>
          <p:nvPr/>
        </p:nvSpPr>
        <p:spPr>
          <a:xfrm>
            <a:off x="3657600" y="2286000"/>
            <a:ext cx="2697480" cy="3977640"/>
          </a:xfrm>
          <a:prstGeom prst="rect">
            <a:avLst/>
          </a:prstGeom>
          <a:solidFill>
            <a:srgbClr val="FFFFFF"/>
          </a:solidFill>
          <a:ln w="9525">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Hormonal imbalance</a:t>
            </a:r>
          </a:p>
          <a:p>
            <a:pPr>
              <a:spcAft>
                <a:spcPts val="400"/>
              </a:spcAft>
            </a:pPr>
            <a:r>
              <a:rPr sz="1200">
                <a:solidFill>
                  <a:srgbClr val="1F2533"/>
                </a:solidFill>
                <a:latin typeface="Calibri"/>
              </a:rPr>
              <a:t>• Uterine infections</a:t>
            </a:r>
          </a:p>
          <a:p>
            <a:pPr>
              <a:spcAft>
                <a:spcPts val="400"/>
              </a:spcAft>
            </a:pPr>
            <a:r>
              <a:rPr sz="1200">
                <a:solidFill>
                  <a:srgbClr val="1F2533"/>
                </a:solidFill>
                <a:latin typeface="Calibri"/>
              </a:rPr>
              <a:t>• Heat stress</a:t>
            </a:r>
          </a:p>
          <a:p>
            <a:pPr>
              <a:spcAft>
                <a:spcPts val="400"/>
              </a:spcAft>
            </a:pPr>
            <a:r>
              <a:rPr sz="1200">
                <a:solidFill>
                  <a:srgbClr val="1F2533"/>
                </a:solidFill>
                <a:latin typeface="Calibri"/>
              </a:rPr>
              <a:t>• Chromosomal defects</a:t>
            </a:r>
          </a:p>
          <a:p>
            <a:pPr>
              <a:spcAft>
                <a:spcPts val="400"/>
              </a:spcAft>
            </a:pPr>
            <a:r>
              <a:rPr sz="1200">
                <a:solidFill>
                  <a:srgbClr val="1F2533"/>
                </a:solidFill>
                <a:latin typeface="Calibri"/>
              </a:rPr>
              <a:t>• Nutritional deficiency</a:t>
            </a:r>
          </a:p>
        </p:txBody>
      </p:sp>
      <p:sp>
        <p:nvSpPr>
          <p:cNvPr id="12" name="Rectangle 11"/>
          <p:cNvSpPr/>
          <p:nvPr/>
        </p:nvSpPr>
        <p:spPr>
          <a:xfrm>
            <a:off x="6537960" y="1783080"/>
            <a:ext cx="269748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3. Management Errors</a:t>
            </a:r>
          </a:p>
        </p:txBody>
      </p:sp>
      <p:sp>
        <p:nvSpPr>
          <p:cNvPr id="13" name="Rectangle 12"/>
          <p:cNvSpPr/>
          <p:nvPr/>
        </p:nvSpPr>
        <p:spPr>
          <a:xfrm>
            <a:off x="6537960" y="2286000"/>
            <a:ext cx="2697480" cy="3977640"/>
          </a:xfrm>
          <a:prstGeom prst="rect">
            <a:avLst/>
          </a:prstGeom>
          <a:solidFill>
            <a:srgbClr val="FFFFFF"/>
          </a:solidFill>
          <a:ln w="9525">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Missed / mis-detected oestrus</a:t>
            </a:r>
          </a:p>
          <a:p>
            <a:pPr>
              <a:spcAft>
                <a:spcPts val="400"/>
              </a:spcAft>
            </a:pPr>
            <a:r>
              <a:rPr sz="1200">
                <a:solidFill>
                  <a:srgbClr val="1F2533"/>
                </a:solidFill>
                <a:latin typeface="Calibri"/>
              </a:rPr>
              <a:t>• Wrong AI technique</a:t>
            </a:r>
          </a:p>
          <a:p>
            <a:pPr>
              <a:spcAft>
                <a:spcPts val="400"/>
              </a:spcAft>
            </a:pPr>
            <a:r>
              <a:rPr sz="1200">
                <a:solidFill>
                  <a:srgbClr val="1F2533"/>
                </a:solidFill>
                <a:latin typeface="Calibri"/>
              </a:rPr>
              <a:t>• Faulty semen handling</a:t>
            </a:r>
          </a:p>
          <a:p>
            <a:pPr>
              <a:spcAft>
                <a:spcPts val="400"/>
              </a:spcAft>
            </a:pPr>
            <a:r>
              <a:rPr sz="1200">
                <a:solidFill>
                  <a:srgbClr val="1F2533"/>
                </a:solidFill>
                <a:latin typeface="Calibri"/>
              </a:rPr>
              <a:t>• Inadequate records</a:t>
            </a:r>
          </a:p>
          <a:p>
            <a:pPr>
              <a:spcAft>
                <a:spcPts val="400"/>
              </a:spcAft>
            </a:pPr>
            <a:r>
              <a:rPr sz="1200">
                <a:solidFill>
                  <a:srgbClr val="1F2533"/>
                </a:solidFill>
                <a:latin typeface="Calibri"/>
              </a:rPr>
              <a:t>• Stress at AI</a:t>
            </a:r>
          </a:p>
        </p:txBody>
      </p:sp>
      <p:sp>
        <p:nvSpPr>
          <p:cNvPr id="14" name="Rectangle 13"/>
          <p:cNvSpPr/>
          <p:nvPr/>
        </p:nvSpPr>
        <p:spPr>
          <a:xfrm>
            <a:off x="9418320" y="1783080"/>
            <a:ext cx="237744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4. Genetic / Other</a:t>
            </a:r>
          </a:p>
        </p:txBody>
      </p:sp>
      <p:sp>
        <p:nvSpPr>
          <p:cNvPr id="15" name="Rectangle 14"/>
          <p:cNvSpPr/>
          <p:nvPr/>
        </p:nvSpPr>
        <p:spPr>
          <a:xfrm>
            <a:off x="9418320" y="2286000"/>
            <a:ext cx="2377440" cy="397764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Inbreeding</a:t>
            </a:r>
          </a:p>
          <a:p>
            <a:pPr>
              <a:spcAft>
                <a:spcPts val="400"/>
              </a:spcAft>
            </a:pPr>
            <a:r>
              <a:rPr sz="1200">
                <a:solidFill>
                  <a:srgbClr val="1F2533"/>
                </a:solidFill>
                <a:latin typeface="Calibri"/>
              </a:rPr>
              <a:t>• Lethal genes</a:t>
            </a:r>
          </a:p>
          <a:p>
            <a:pPr>
              <a:spcAft>
                <a:spcPts val="400"/>
              </a:spcAft>
            </a:pPr>
            <a:r>
              <a:rPr sz="1200">
                <a:solidFill>
                  <a:srgbClr val="1F2533"/>
                </a:solidFill>
                <a:latin typeface="Calibri"/>
              </a:rPr>
              <a:t>• Freemartinism</a:t>
            </a:r>
          </a:p>
          <a:p>
            <a:pPr>
              <a:spcAft>
                <a:spcPts val="400"/>
              </a:spcAft>
            </a:pPr>
            <a:r>
              <a:rPr sz="1200">
                <a:solidFill>
                  <a:srgbClr val="1F2533"/>
                </a:solidFill>
                <a:latin typeface="Calibri"/>
              </a:rPr>
              <a:t>• White heifer disease</a:t>
            </a:r>
          </a:p>
          <a:p>
            <a:pPr>
              <a:spcAft>
                <a:spcPts val="400"/>
              </a:spcAft>
            </a:pPr>
            <a:r>
              <a:rPr sz="1200">
                <a:solidFill>
                  <a:srgbClr val="1F2533"/>
                </a:solidFill>
                <a:latin typeface="Calibri"/>
              </a:rPr>
              <a:t>• Age &amp; parity</a:t>
            </a:r>
          </a:p>
        </p:txBody>
      </p:sp>
      <p:sp>
        <p:nvSpPr>
          <p:cNvPr id="16" name="TextBox 15"/>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7" name="TextBox 16"/>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Infectious &amp; Genital Tract Causes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Subclinical / chronic endometritis — most common cause (40–60 %).</a:t>
            </a:r>
          </a:p>
          <a:p>
            <a:pPr>
              <a:spcAft>
                <a:spcPts val="600"/>
              </a:spcAft>
            </a:pPr>
            <a:r>
              <a:rPr sz="1700">
                <a:solidFill>
                  <a:srgbClr val="1F2533"/>
                </a:solidFill>
                <a:latin typeface="Calibri"/>
              </a:rPr>
              <a:t>•  Specific infections:</a:t>
            </a:r>
          </a:p>
          <a:p>
            <a:pPr lvl="1">
              <a:spcAft>
                <a:spcPts val="600"/>
              </a:spcAft>
            </a:pPr>
            <a:r>
              <a:rPr sz="1500">
                <a:solidFill>
                  <a:srgbClr val="1F2533"/>
                </a:solidFill>
                <a:latin typeface="Calibri"/>
              </a:rPr>
              <a:t>–  Brucellosis (Brucella abortus)</a:t>
            </a:r>
          </a:p>
          <a:p>
            <a:pPr lvl="1">
              <a:spcAft>
                <a:spcPts val="600"/>
              </a:spcAft>
            </a:pPr>
            <a:r>
              <a:rPr sz="1500">
                <a:solidFill>
                  <a:srgbClr val="1F2533"/>
                </a:solidFill>
                <a:latin typeface="Calibri"/>
              </a:rPr>
              <a:t>–  Trichomoniasis (Tritrichomonas foetus)</a:t>
            </a:r>
          </a:p>
          <a:p>
            <a:pPr lvl="1">
              <a:spcAft>
                <a:spcPts val="600"/>
              </a:spcAft>
            </a:pPr>
            <a:r>
              <a:rPr sz="1500">
                <a:solidFill>
                  <a:srgbClr val="1F2533"/>
                </a:solidFill>
                <a:latin typeface="Calibri"/>
              </a:rPr>
              <a:t>–  Vibriosis / Campylobacteriosis (Campylobacter fetus)</a:t>
            </a:r>
          </a:p>
          <a:p>
            <a:pPr lvl="1">
              <a:spcAft>
                <a:spcPts val="600"/>
              </a:spcAft>
            </a:pPr>
            <a:r>
              <a:rPr sz="1500">
                <a:solidFill>
                  <a:srgbClr val="1F2533"/>
                </a:solidFill>
                <a:latin typeface="Calibri"/>
              </a:rPr>
              <a:t>–  IBR–IPV (Bovine Herpesvirus-1)</a:t>
            </a:r>
          </a:p>
          <a:p>
            <a:pPr lvl="1">
              <a:spcAft>
                <a:spcPts val="600"/>
              </a:spcAft>
            </a:pPr>
            <a:r>
              <a:rPr sz="1500">
                <a:solidFill>
                  <a:srgbClr val="1F2533"/>
                </a:solidFill>
                <a:latin typeface="Calibri"/>
              </a:rPr>
              <a:t>–  BVD (Bovine Viral Diarrhoea virus)</a:t>
            </a:r>
          </a:p>
          <a:p>
            <a:pPr lvl="1">
              <a:spcAft>
                <a:spcPts val="600"/>
              </a:spcAft>
            </a:pPr>
            <a:r>
              <a:rPr sz="1500">
                <a:solidFill>
                  <a:srgbClr val="1F2533"/>
                </a:solidFill>
                <a:latin typeface="Calibri"/>
              </a:rPr>
              <a:t>–  Leptospirosis, Mycoplasma, Ureaplasma spp.</a:t>
            </a:r>
          </a:p>
          <a:p>
            <a:pPr>
              <a:spcAft>
                <a:spcPts val="600"/>
              </a:spcAft>
            </a:pPr>
            <a:r>
              <a:rPr sz="1700">
                <a:solidFill>
                  <a:srgbClr val="1F2533"/>
                </a:solidFill>
                <a:latin typeface="Calibri"/>
              </a:rPr>
              <a:t>•  Anatomical defects: cervical stenosis, persistent hymen, segmental aplasia.</a:t>
            </a:r>
          </a:p>
          <a:p>
            <a:pPr>
              <a:spcAft>
                <a:spcPts val="600"/>
              </a:spcAft>
            </a:pPr>
            <a:r>
              <a:rPr sz="1700">
                <a:solidFill>
                  <a:srgbClr val="1F2533"/>
                </a:solidFill>
                <a:latin typeface="Calibri"/>
              </a:rPr>
              <a:t>•  Cystic ovarian disease (follicular &amp; luteal cysts).</a:t>
            </a:r>
          </a:p>
          <a:p>
            <a:pPr>
              <a:spcAft>
                <a:spcPts val="600"/>
              </a:spcAft>
            </a:pPr>
            <a:r>
              <a:rPr sz="1700">
                <a:solidFill>
                  <a:srgbClr val="1F2533"/>
                </a:solidFill>
                <a:latin typeface="Calibri"/>
              </a:rPr>
              <a:t>•  Salpingitis &amp; hydrosalpinx — block fertilization.</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Nutritional &amp; Metabolic Causes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Negative energy balance in early lactation → delayed cyclicity &amp; poor embryo quality.</a:t>
            </a:r>
          </a:p>
          <a:p>
            <a:pPr>
              <a:spcAft>
                <a:spcPts val="600"/>
              </a:spcAft>
            </a:pPr>
            <a:r>
              <a:rPr sz="1700">
                <a:solidFill>
                  <a:srgbClr val="1F2533"/>
                </a:solidFill>
                <a:latin typeface="Calibri"/>
              </a:rPr>
              <a:t>•  Excess dietary protein → high blood urea N (&gt;20 mg/dL) is embryotoxic.</a:t>
            </a:r>
          </a:p>
          <a:p>
            <a:pPr>
              <a:spcAft>
                <a:spcPts val="600"/>
              </a:spcAft>
            </a:pPr>
            <a:r>
              <a:rPr sz="1700">
                <a:solidFill>
                  <a:srgbClr val="1F2533"/>
                </a:solidFill>
                <a:latin typeface="Calibri"/>
              </a:rPr>
              <a:t>•  Mineral &amp; trace-element deficiencies:</a:t>
            </a:r>
          </a:p>
          <a:p>
            <a:pPr lvl="1">
              <a:spcAft>
                <a:spcPts val="600"/>
              </a:spcAft>
            </a:pPr>
            <a:r>
              <a:rPr sz="1500">
                <a:solidFill>
                  <a:srgbClr val="1F2533"/>
                </a:solidFill>
                <a:latin typeface="Calibri"/>
              </a:rPr>
              <a:t>–  Phosphorus, Calcium — anoestrus, weak heat</a:t>
            </a:r>
          </a:p>
          <a:p>
            <a:pPr lvl="1">
              <a:spcAft>
                <a:spcPts val="600"/>
              </a:spcAft>
            </a:pPr>
            <a:r>
              <a:rPr sz="1500">
                <a:solidFill>
                  <a:srgbClr val="1F2533"/>
                </a:solidFill>
                <a:latin typeface="Calibri"/>
              </a:rPr>
              <a:t>–  Copper, Cobalt, Zinc, Manganese — silent heat, low conception</a:t>
            </a:r>
          </a:p>
          <a:p>
            <a:pPr lvl="1">
              <a:spcAft>
                <a:spcPts val="600"/>
              </a:spcAft>
            </a:pPr>
            <a:r>
              <a:rPr sz="1500">
                <a:solidFill>
                  <a:srgbClr val="1F2533"/>
                </a:solidFill>
                <a:latin typeface="Calibri"/>
              </a:rPr>
              <a:t>–  Selenium / Vitamin E — early embryonic death, retained placenta</a:t>
            </a:r>
          </a:p>
          <a:p>
            <a:pPr lvl="1">
              <a:spcAft>
                <a:spcPts val="600"/>
              </a:spcAft>
            </a:pPr>
            <a:r>
              <a:rPr sz="1500">
                <a:solidFill>
                  <a:srgbClr val="1F2533"/>
                </a:solidFill>
                <a:latin typeface="Calibri"/>
              </a:rPr>
              <a:t>–  Iodine — irregular cycles</a:t>
            </a:r>
          </a:p>
          <a:p>
            <a:pPr lvl="1">
              <a:spcAft>
                <a:spcPts val="600"/>
              </a:spcAft>
            </a:pPr>
            <a:r>
              <a:rPr sz="1500">
                <a:solidFill>
                  <a:srgbClr val="1F2533"/>
                </a:solidFill>
                <a:latin typeface="Calibri"/>
              </a:rPr>
              <a:t>–  Vitamin A, D, E deficiencies — endometrial &amp; embryo defects</a:t>
            </a:r>
          </a:p>
          <a:p>
            <a:pPr>
              <a:spcAft>
                <a:spcPts val="600"/>
              </a:spcAft>
            </a:pPr>
            <a:r>
              <a:rPr sz="1700">
                <a:solidFill>
                  <a:srgbClr val="1F2533"/>
                </a:solidFill>
                <a:latin typeface="Calibri"/>
              </a:rPr>
              <a:t>•  Mycotoxin contamination of feed (zearalenone, aflatoxin) → ovarian &amp; embryonic disturbance.</a:t>
            </a:r>
          </a:p>
          <a:p>
            <a:pPr>
              <a:spcAft>
                <a:spcPts val="600"/>
              </a:spcAft>
            </a:pPr>
            <a:r>
              <a:rPr sz="1700">
                <a:solidFill>
                  <a:srgbClr val="1F2533"/>
                </a:solidFill>
                <a:latin typeface="Calibri"/>
              </a:rPr>
              <a:t>•  Body Condition Score &lt; 2.5 or &gt; 4 at AI is strongly associated with repeat breeding.</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Hormonal &amp; Endocrine Causes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800">
                <a:solidFill>
                  <a:srgbClr val="1F2533"/>
                </a:solidFill>
                <a:latin typeface="Calibri"/>
              </a:rPr>
              <a:t>•  Inadequate pre-ovulatory LH surge → delayed or failed ovulation.</a:t>
            </a:r>
          </a:p>
          <a:p>
            <a:pPr>
              <a:spcAft>
                <a:spcPts val="600"/>
              </a:spcAft>
            </a:pPr>
            <a:r>
              <a:rPr sz="1800">
                <a:solidFill>
                  <a:srgbClr val="1F2533"/>
                </a:solidFill>
                <a:latin typeface="Calibri"/>
              </a:rPr>
              <a:t>•  Sub-luteal progesterone (&lt; 1 ng/mL after Day-5) → embryonic loss.</a:t>
            </a:r>
          </a:p>
          <a:p>
            <a:pPr>
              <a:spcAft>
                <a:spcPts val="600"/>
              </a:spcAft>
            </a:pPr>
            <a:r>
              <a:rPr sz="1800">
                <a:solidFill>
                  <a:srgbClr val="1F2533"/>
                </a:solidFill>
                <a:latin typeface="Calibri"/>
              </a:rPr>
              <a:t>•  Persistent corpus luteum (CL) — pseudo-pregnancy effect.</a:t>
            </a:r>
          </a:p>
          <a:p>
            <a:pPr>
              <a:spcAft>
                <a:spcPts val="600"/>
              </a:spcAft>
            </a:pPr>
            <a:r>
              <a:rPr sz="1800">
                <a:solidFill>
                  <a:srgbClr val="1F2533"/>
                </a:solidFill>
                <a:latin typeface="Calibri"/>
              </a:rPr>
              <a:t>•  Hyper-prolactinaemia &amp; thyroid dysfunction.</a:t>
            </a:r>
          </a:p>
          <a:p>
            <a:pPr>
              <a:spcAft>
                <a:spcPts val="600"/>
              </a:spcAft>
            </a:pPr>
            <a:r>
              <a:rPr sz="1800">
                <a:solidFill>
                  <a:srgbClr val="1F2533"/>
                </a:solidFill>
                <a:latin typeface="Calibri"/>
              </a:rPr>
              <a:t>•  Premature luteolysis — failure of maternal recognition (low Interferon-τ).</a:t>
            </a:r>
          </a:p>
          <a:p>
            <a:pPr>
              <a:spcAft>
                <a:spcPts val="600"/>
              </a:spcAft>
            </a:pPr>
            <a:r>
              <a:rPr sz="1800">
                <a:solidFill>
                  <a:srgbClr val="1F2533"/>
                </a:solidFill>
                <a:latin typeface="Calibri"/>
              </a:rPr>
              <a:t>•  Stress-induced cortisol rise → suppression of GnRH/LH.</a:t>
            </a:r>
          </a:p>
          <a:p>
            <a:pPr>
              <a:spcAft>
                <a:spcPts val="600"/>
              </a:spcAft>
            </a:pPr>
            <a:r>
              <a:rPr sz="1800">
                <a:solidFill>
                  <a:srgbClr val="1F2533"/>
                </a:solidFill>
                <a:latin typeface="Calibri"/>
              </a:rPr>
              <a:t>•  Heat stress in summer — reduced oestradiol, weak signs of oestrus, poor oocyte quality.</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Management &amp; Inseminator-Related Causes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Improper heat detection — single twice-daily check misses 25–50 % of heats.</a:t>
            </a:r>
          </a:p>
          <a:p>
            <a:pPr>
              <a:spcAft>
                <a:spcPts val="600"/>
              </a:spcAft>
            </a:pPr>
            <a:r>
              <a:rPr sz="1700">
                <a:solidFill>
                  <a:srgbClr val="1F2533"/>
                </a:solidFill>
                <a:latin typeface="Calibri"/>
              </a:rPr>
              <a:t>•  Wrong time of AI — outside the optimum window (mid- to late-oestrus).</a:t>
            </a:r>
          </a:p>
          <a:p>
            <a:pPr>
              <a:spcAft>
                <a:spcPts val="600"/>
              </a:spcAft>
            </a:pPr>
            <a:r>
              <a:rPr sz="1700">
                <a:solidFill>
                  <a:srgbClr val="1F2533"/>
                </a:solidFill>
                <a:latin typeface="Calibri"/>
              </a:rPr>
              <a:t>•  Faulty semen thawing (water temp, time) and storage practices.</a:t>
            </a:r>
          </a:p>
          <a:p>
            <a:pPr>
              <a:spcAft>
                <a:spcPts val="600"/>
              </a:spcAft>
            </a:pPr>
            <a:r>
              <a:rPr sz="1700">
                <a:solidFill>
                  <a:srgbClr val="1F2533"/>
                </a:solidFill>
                <a:latin typeface="Calibri"/>
              </a:rPr>
              <a:t>•  Repeated use of same sub-fertile bull / semen batch.</a:t>
            </a:r>
          </a:p>
          <a:p>
            <a:pPr>
              <a:spcAft>
                <a:spcPts val="600"/>
              </a:spcAft>
            </a:pPr>
            <a:r>
              <a:rPr sz="1700">
                <a:solidFill>
                  <a:srgbClr val="1F2533"/>
                </a:solidFill>
                <a:latin typeface="Calibri"/>
              </a:rPr>
              <a:t>•  Trauma to cervix or uterus during AI; deep horn deposition errors.</a:t>
            </a:r>
          </a:p>
          <a:p>
            <a:pPr>
              <a:spcAft>
                <a:spcPts val="600"/>
              </a:spcAft>
            </a:pPr>
            <a:r>
              <a:rPr sz="1700">
                <a:solidFill>
                  <a:srgbClr val="1F2533"/>
                </a:solidFill>
                <a:latin typeface="Calibri"/>
              </a:rPr>
              <a:t>•  Hygiene lapses → introduction of pathogens at the time of AI.</a:t>
            </a:r>
          </a:p>
          <a:p>
            <a:pPr>
              <a:spcAft>
                <a:spcPts val="600"/>
              </a:spcAft>
            </a:pPr>
            <a:r>
              <a:rPr sz="1700">
                <a:solidFill>
                  <a:srgbClr val="1F2533"/>
                </a:solidFill>
                <a:latin typeface="Calibri"/>
              </a:rPr>
              <a:t>•  Lack of accurate breeding records and follow-up.</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Pathophysiology — Where Things Go Wrong</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1783080" cy="914400"/>
          </a:xfrm>
          <a:prstGeom prst="round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Oestrus &amp;
Ovulation</a:t>
            </a:r>
          </a:p>
        </p:txBody>
      </p:sp>
      <p:sp>
        <p:nvSpPr>
          <p:cNvPr id="8" name="Rounded Rectangle 7"/>
          <p:cNvSpPr/>
          <p:nvPr/>
        </p:nvSpPr>
        <p:spPr>
          <a:xfrm>
            <a:off x="2487168" y="2011680"/>
            <a:ext cx="1783080" cy="914400"/>
          </a:xfrm>
          <a:prstGeom prst="round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Sperm
Transport</a:t>
            </a:r>
          </a:p>
        </p:txBody>
      </p:sp>
      <p:sp>
        <p:nvSpPr>
          <p:cNvPr id="9" name="Rounded Rectangle 8"/>
          <p:cNvSpPr/>
          <p:nvPr/>
        </p:nvSpPr>
        <p:spPr>
          <a:xfrm>
            <a:off x="4334256" y="2011680"/>
            <a:ext cx="1783080" cy="914400"/>
          </a:xfrm>
          <a:prstGeom prst="round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Fertilization</a:t>
            </a:r>
          </a:p>
        </p:txBody>
      </p:sp>
      <p:sp>
        <p:nvSpPr>
          <p:cNvPr id="10" name="Rounded Rectangle 9"/>
          <p:cNvSpPr/>
          <p:nvPr/>
        </p:nvSpPr>
        <p:spPr>
          <a:xfrm>
            <a:off x="6181344" y="2011680"/>
            <a:ext cx="1783080" cy="914400"/>
          </a:xfrm>
          <a:prstGeom prst="round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Embryo
Development</a:t>
            </a:r>
          </a:p>
        </p:txBody>
      </p:sp>
      <p:sp>
        <p:nvSpPr>
          <p:cNvPr id="11" name="Rounded Rectangle 10"/>
          <p:cNvSpPr/>
          <p:nvPr/>
        </p:nvSpPr>
        <p:spPr>
          <a:xfrm>
            <a:off x="8028432" y="2011680"/>
            <a:ext cx="1783080" cy="914400"/>
          </a:xfrm>
          <a:prstGeom prst="round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Maternal
Recognition</a:t>
            </a:r>
          </a:p>
        </p:txBody>
      </p:sp>
      <p:sp>
        <p:nvSpPr>
          <p:cNvPr id="12" name="Rounded Rectangle 11"/>
          <p:cNvSpPr/>
          <p:nvPr/>
        </p:nvSpPr>
        <p:spPr>
          <a:xfrm>
            <a:off x="9875520" y="2011680"/>
            <a:ext cx="1783080" cy="914400"/>
          </a:xfrm>
          <a:prstGeom prst="round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Pregnancy</a:t>
            </a:r>
          </a:p>
        </p:txBody>
      </p:sp>
      <p:sp>
        <p:nvSpPr>
          <p:cNvPr id="13" name="Right Arrow 12"/>
          <p:cNvSpPr/>
          <p:nvPr/>
        </p:nvSpPr>
        <p:spPr>
          <a:xfrm>
            <a:off x="2404872" y="2395728"/>
            <a:ext cx="118872" cy="164592"/>
          </a:xfrm>
          <a:prstGeom prst="rightArrow">
            <a:avLst/>
          </a:prstGeom>
          <a:solidFill>
            <a:srgbClr val="1F2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4251960" y="2395728"/>
            <a:ext cx="118872" cy="164592"/>
          </a:xfrm>
          <a:prstGeom prst="rightArrow">
            <a:avLst/>
          </a:prstGeom>
          <a:solidFill>
            <a:srgbClr val="1F2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6099048" y="2395728"/>
            <a:ext cx="118872" cy="164592"/>
          </a:xfrm>
          <a:prstGeom prst="rightArrow">
            <a:avLst/>
          </a:prstGeom>
          <a:solidFill>
            <a:srgbClr val="1F2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946136" y="2395728"/>
            <a:ext cx="118872" cy="164592"/>
          </a:xfrm>
          <a:prstGeom prst="rightArrow">
            <a:avLst/>
          </a:prstGeom>
          <a:solidFill>
            <a:srgbClr val="1F2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Arrow 16"/>
          <p:cNvSpPr/>
          <p:nvPr/>
        </p:nvSpPr>
        <p:spPr>
          <a:xfrm>
            <a:off x="9793224" y="2395728"/>
            <a:ext cx="118872" cy="164592"/>
          </a:xfrm>
          <a:prstGeom prst="rightArrow">
            <a:avLst/>
          </a:prstGeom>
          <a:solidFill>
            <a:srgbClr val="1F2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291840"/>
            <a:ext cx="10972800" cy="4572000"/>
          </a:xfrm>
          <a:prstGeom prst="rect">
            <a:avLst/>
          </a:prstGeom>
          <a:noFill/>
        </p:spPr>
        <p:txBody>
          <a:bodyPr wrap="square" lIns="0" rIns="0">
            <a:spAutoFit/>
          </a:bodyPr>
          <a:lstStyle/>
          <a:p>
            <a:pPr>
              <a:spcAft>
                <a:spcPts val="600"/>
              </a:spcAft>
            </a:pPr>
            <a:r>
              <a:rPr sz="1600">
                <a:solidFill>
                  <a:srgbClr val="1F2533"/>
                </a:solidFill>
                <a:latin typeface="Calibri"/>
              </a:rPr>
              <a:t>•  Failure of ovulation or asynchronous ovulation → no fertilization.</a:t>
            </a:r>
          </a:p>
          <a:p>
            <a:pPr>
              <a:spcAft>
                <a:spcPts val="600"/>
              </a:spcAft>
            </a:pPr>
            <a:r>
              <a:rPr sz="1600">
                <a:solidFill>
                  <a:srgbClr val="1F2533"/>
                </a:solidFill>
                <a:latin typeface="Calibri"/>
              </a:rPr>
              <a:t>•  Sperm transport disturbance / hostile cervico-uterine environment.</a:t>
            </a:r>
          </a:p>
          <a:p>
            <a:pPr>
              <a:spcAft>
                <a:spcPts val="600"/>
              </a:spcAft>
            </a:pPr>
            <a:r>
              <a:rPr sz="1600">
                <a:solidFill>
                  <a:srgbClr val="1F2533"/>
                </a:solidFill>
                <a:latin typeface="Calibri"/>
              </a:rPr>
              <a:t>•  Fertilization failure — poor oocyte / sperm quality, anti-sperm antibodies.</a:t>
            </a:r>
          </a:p>
          <a:p>
            <a:pPr>
              <a:spcAft>
                <a:spcPts val="600"/>
              </a:spcAft>
            </a:pPr>
            <a:r>
              <a:rPr sz="1600">
                <a:solidFill>
                  <a:srgbClr val="1F2533"/>
                </a:solidFill>
                <a:latin typeface="Calibri"/>
              </a:rPr>
              <a:t>•  Early embryonic death (Day 8–16) — most common in repeat breeders.</a:t>
            </a:r>
          </a:p>
          <a:p>
            <a:pPr>
              <a:spcAft>
                <a:spcPts val="600"/>
              </a:spcAft>
            </a:pPr>
            <a:r>
              <a:rPr sz="1600">
                <a:solidFill>
                  <a:srgbClr val="1F2533"/>
                </a:solidFill>
                <a:latin typeface="Calibri"/>
              </a:rPr>
              <a:t>•  Failure of maternal recognition of pregnancy → CL regresses → return to oestrus.</a:t>
            </a:r>
          </a:p>
        </p:txBody>
      </p:sp>
      <p:sp>
        <p:nvSpPr>
          <p:cNvPr id="19" name="TextBox 18"/>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20" name="TextBox 19"/>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Diagnosis — Systematic Clinical Approach</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500">
                <a:solidFill>
                  <a:srgbClr val="1F2533"/>
                </a:solidFill>
                <a:latin typeface="Calibri"/>
              </a:rPr>
              <a:t>•  History:</a:t>
            </a:r>
          </a:p>
          <a:p>
            <a:pPr lvl="1">
              <a:spcAft>
                <a:spcPts val="600"/>
              </a:spcAft>
            </a:pPr>
            <a:r>
              <a:rPr sz="1300">
                <a:solidFill>
                  <a:srgbClr val="1F2533"/>
                </a:solidFill>
                <a:latin typeface="Calibri"/>
              </a:rPr>
              <a:t>–  Age, parity, calving date, services given, AI dates, semen used, bull fertility</a:t>
            </a:r>
          </a:p>
          <a:p>
            <a:pPr lvl="1">
              <a:spcAft>
                <a:spcPts val="600"/>
              </a:spcAft>
            </a:pPr>
            <a:r>
              <a:rPr sz="1300">
                <a:solidFill>
                  <a:srgbClr val="1F2533"/>
                </a:solidFill>
                <a:latin typeface="Calibri"/>
              </a:rPr>
              <a:t>–  Nutrition, deworming, vaccination, previous treatments</a:t>
            </a:r>
          </a:p>
          <a:p>
            <a:pPr>
              <a:spcAft>
                <a:spcPts val="600"/>
              </a:spcAft>
            </a:pPr>
            <a:r>
              <a:rPr sz="1500">
                <a:solidFill>
                  <a:srgbClr val="1F2533"/>
                </a:solidFill>
                <a:latin typeface="Calibri"/>
              </a:rPr>
              <a:t>•  General Examination: Body condition, anaemia, lameness, mastitis, systemic disease.</a:t>
            </a:r>
          </a:p>
          <a:p>
            <a:pPr>
              <a:spcAft>
                <a:spcPts val="600"/>
              </a:spcAft>
            </a:pPr>
            <a:r>
              <a:rPr sz="1500">
                <a:solidFill>
                  <a:srgbClr val="1F2533"/>
                </a:solidFill>
                <a:latin typeface="Calibri"/>
              </a:rPr>
              <a:t>•  Gynaeco-clinical Examination:</a:t>
            </a:r>
          </a:p>
          <a:p>
            <a:pPr lvl="1">
              <a:spcAft>
                <a:spcPts val="600"/>
              </a:spcAft>
            </a:pPr>
            <a:r>
              <a:rPr sz="1300">
                <a:solidFill>
                  <a:srgbClr val="1F2533"/>
                </a:solidFill>
                <a:latin typeface="Calibri"/>
              </a:rPr>
              <a:t>–  Vaginoscopy — discharge, cervicitis, adhesions</a:t>
            </a:r>
          </a:p>
          <a:p>
            <a:pPr lvl="1">
              <a:spcAft>
                <a:spcPts val="600"/>
              </a:spcAft>
            </a:pPr>
            <a:r>
              <a:rPr sz="1300">
                <a:solidFill>
                  <a:srgbClr val="1F2533"/>
                </a:solidFill>
                <a:latin typeface="Calibri"/>
              </a:rPr>
              <a:t>–  Per-rectal palpation — uterus, ovaries, cervix, follicles, CL</a:t>
            </a:r>
          </a:p>
          <a:p>
            <a:pPr lvl="1">
              <a:spcAft>
                <a:spcPts val="600"/>
              </a:spcAft>
            </a:pPr>
            <a:r>
              <a:rPr sz="1300">
                <a:solidFill>
                  <a:srgbClr val="1F2533"/>
                </a:solidFill>
                <a:latin typeface="Calibri"/>
              </a:rPr>
              <a:t>–  Trans-rectal ultrasonography — follicles, CL, uterine fluid, embryo</a:t>
            </a:r>
          </a:p>
          <a:p>
            <a:pPr>
              <a:spcAft>
                <a:spcPts val="600"/>
              </a:spcAft>
            </a:pPr>
            <a:r>
              <a:rPr sz="1500">
                <a:solidFill>
                  <a:srgbClr val="1F2533"/>
                </a:solidFill>
                <a:latin typeface="Calibri"/>
              </a:rPr>
              <a:t>•  Laboratory Tests:</a:t>
            </a:r>
          </a:p>
          <a:p>
            <a:pPr lvl="1">
              <a:spcAft>
                <a:spcPts val="600"/>
              </a:spcAft>
            </a:pPr>
            <a:r>
              <a:rPr sz="1300">
                <a:solidFill>
                  <a:srgbClr val="1F2533"/>
                </a:solidFill>
                <a:latin typeface="Calibri"/>
              </a:rPr>
              <a:t>–  Cervico-vaginal mucus culture &amp; sensitivity, cytology</a:t>
            </a:r>
          </a:p>
          <a:p>
            <a:pPr lvl="1">
              <a:spcAft>
                <a:spcPts val="600"/>
              </a:spcAft>
            </a:pPr>
            <a:r>
              <a:rPr sz="1300">
                <a:solidFill>
                  <a:srgbClr val="1F2533"/>
                </a:solidFill>
                <a:latin typeface="Calibri"/>
              </a:rPr>
              <a:t>–  Serum progesterone, blood urea, minerals, liver / thyroid profile</a:t>
            </a:r>
          </a:p>
          <a:p>
            <a:pPr lvl="1">
              <a:spcAft>
                <a:spcPts val="600"/>
              </a:spcAft>
            </a:pPr>
            <a:r>
              <a:rPr sz="1300">
                <a:solidFill>
                  <a:srgbClr val="1F2533"/>
                </a:solidFill>
                <a:latin typeface="Calibri"/>
              </a:rPr>
              <a:t>–  Serology / PCR — Brucella, IBR, BVD, Leptospira, Trichomonas</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Treatment — General Principles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11155680" cy="365760"/>
          </a:xfrm>
          <a:prstGeom prst="rect">
            <a:avLst/>
          </a:prstGeom>
          <a:noFill/>
        </p:spPr>
        <p:txBody>
          <a:bodyPr wrap="none">
            <a:spAutoFit/>
          </a:bodyPr>
          <a:lstStyle/>
          <a:p>
            <a:r>
              <a:rPr sz="1400" i="1">
                <a:solidFill>
                  <a:srgbClr val="555C66"/>
                </a:solidFill>
                <a:latin typeface="Calibri"/>
              </a:rPr>
              <a:t>Treat the cause, not just the symptom</a:t>
            </a:r>
          </a:p>
        </p:txBody>
      </p:sp>
      <p:sp>
        <p:nvSpPr>
          <p:cNvPr id="8" name="TextBox 7"/>
          <p:cNvSpPr txBox="1"/>
          <p:nvPr/>
        </p:nvSpPr>
        <p:spPr>
          <a:xfrm>
            <a:off x="777240" y="1691640"/>
            <a:ext cx="7315200" cy="4572000"/>
          </a:xfrm>
          <a:prstGeom prst="rect">
            <a:avLst/>
          </a:prstGeom>
          <a:noFill/>
        </p:spPr>
        <p:txBody>
          <a:bodyPr wrap="square" lIns="0" rIns="0">
            <a:spAutoFit/>
          </a:bodyPr>
          <a:lstStyle/>
          <a:p>
            <a:pPr>
              <a:spcAft>
                <a:spcPts val="600"/>
              </a:spcAft>
            </a:pPr>
            <a:r>
              <a:rPr sz="1600">
                <a:solidFill>
                  <a:srgbClr val="1F2533"/>
                </a:solidFill>
                <a:latin typeface="Calibri"/>
              </a:rPr>
              <a:t>•  Correct underlying nutrition &amp; body condition (BCS 3.0–3.5 at AI).</a:t>
            </a:r>
          </a:p>
          <a:p>
            <a:pPr>
              <a:spcAft>
                <a:spcPts val="600"/>
              </a:spcAft>
            </a:pPr>
            <a:r>
              <a:rPr sz="1600">
                <a:solidFill>
                  <a:srgbClr val="1F2533"/>
                </a:solidFill>
                <a:latin typeface="Calibri"/>
              </a:rPr>
              <a:t>•  Treat genital tract infection (intra-uterine antibiotics, antiseptics).</a:t>
            </a:r>
          </a:p>
          <a:p>
            <a:pPr>
              <a:spcAft>
                <a:spcPts val="600"/>
              </a:spcAft>
            </a:pPr>
            <a:r>
              <a:rPr sz="1600">
                <a:solidFill>
                  <a:srgbClr val="1F2533"/>
                </a:solidFill>
                <a:latin typeface="Calibri"/>
              </a:rPr>
              <a:t>•  Correct hormonal imbalance with appropriate protocols.</a:t>
            </a:r>
          </a:p>
          <a:p>
            <a:pPr>
              <a:spcAft>
                <a:spcPts val="600"/>
              </a:spcAft>
            </a:pPr>
            <a:r>
              <a:rPr sz="1600">
                <a:solidFill>
                  <a:srgbClr val="1F2533"/>
                </a:solidFill>
                <a:latin typeface="Calibri"/>
              </a:rPr>
              <a:t>•  Improve heat detection and AI timing (AM-PM rule / activity meters).</a:t>
            </a:r>
          </a:p>
          <a:p>
            <a:pPr>
              <a:spcAft>
                <a:spcPts val="600"/>
              </a:spcAft>
            </a:pPr>
            <a:r>
              <a:rPr sz="1600">
                <a:solidFill>
                  <a:srgbClr val="1F2533"/>
                </a:solidFill>
                <a:latin typeface="Calibri"/>
              </a:rPr>
              <a:t>•  Use proven, high-quality semen; ensure proper thawing &amp; deposition.</a:t>
            </a:r>
          </a:p>
          <a:p>
            <a:pPr>
              <a:spcAft>
                <a:spcPts val="600"/>
              </a:spcAft>
            </a:pPr>
            <a:r>
              <a:rPr sz="1600">
                <a:solidFill>
                  <a:srgbClr val="1F2533"/>
                </a:solidFill>
                <a:latin typeface="Calibri"/>
              </a:rPr>
              <a:t>•  Reduce stress — provide shade, water, comfortable housing, fly control.</a:t>
            </a:r>
          </a:p>
          <a:p>
            <a:pPr>
              <a:spcAft>
                <a:spcPts val="600"/>
              </a:spcAft>
            </a:pPr>
            <a:r>
              <a:rPr sz="1600">
                <a:solidFill>
                  <a:srgbClr val="1F2533"/>
                </a:solidFill>
                <a:latin typeface="Calibri"/>
              </a:rPr>
              <a:t>•  Maintain proper records; cull chronic non-responders after 5–6 services.</a:t>
            </a:r>
          </a:p>
        </p:txBody>
      </p:sp>
      <p:sp>
        <p:nvSpPr>
          <p:cNvPr id="9" name="Rectangle 8"/>
          <p:cNvSpPr/>
          <p:nvPr/>
        </p:nvSpPr>
        <p:spPr>
          <a:xfrm>
            <a:off x="8275320" y="1783080"/>
            <a:ext cx="3474720" cy="2596896"/>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w_farm.jpg"/>
          <p:cNvPicPr>
            <a:picLocks noChangeAspect="1"/>
          </p:cNvPicPr>
          <p:nvPr/>
        </p:nvPicPr>
        <p:blipFill>
          <a:blip r:embed="rId2"/>
          <a:stretch>
            <a:fillRect/>
          </a:stretch>
        </p:blipFill>
        <p:spPr>
          <a:xfrm>
            <a:off x="8321040" y="1828800"/>
            <a:ext cx="3383280" cy="2505456"/>
          </a:xfrm>
          <a:prstGeom prst="rect">
            <a:avLst/>
          </a:prstGeom>
        </p:spPr>
      </p:pic>
      <p:sp>
        <p:nvSpPr>
          <p:cNvPr id="11" name="TextBox 10"/>
          <p:cNvSpPr txBox="1"/>
          <p:nvPr/>
        </p:nvSpPr>
        <p:spPr>
          <a:xfrm>
            <a:off x="8321040" y="4379976"/>
            <a:ext cx="3383280" cy="274320"/>
          </a:xfrm>
          <a:prstGeom prst="rect">
            <a:avLst/>
          </a:prstGeom>
          <a:noFill/>
        </p:spPr>
        <p:txBody>
          <a:bodyPr wrap="none">
            <a:spAutoFit/>
          </a:bodyPr>
          <a:lstStyle/>
          <a:p>
            <a:pPr algn="ctr"/>
            <a:r>
              <a:rPr sz="1000" i="1">
                <a:solidFill>
                  <a:srgbClr val="555C66"/>
                </a:solidFill>
                <a:latin typeface="Calibri"/>
              </a:rPr>
              <a:t>Well-managed dairy cow on farm</a:t>
            </a:r>
          </a:p>
        </p:txBody>
      </p:sp>
      <p:sp>
        <p:nvSpPr>
          <p:cNvPr id="12" name="Rounded Rectangle 11"/>
          <p:cNvSpPr/>
          <p:nvPr/>
        </p:nvSpPr>
        <p:spPr>
          <a:xfrm>
            <a:off x="8321040" y="4663440"/>
            <a:ext cx="3383280" cy="1463040"/>
          </a:xfrm>
          <a:prstGeom prst="roundRect">
            <a:avLst/>
          </a:prstGeom>
          <a:solidFill>
            <a:srgbClr val="FFFFFF"/>
          </a:solidFill>
          <a:ln w="19050">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r>
              <a:rPr sz="1400" i="1" b="1">
                <a:solidFill>
                  <a:srgbClr val="1B3A57"/>
                </a:solidFill>
              </a:rPr>
              <a:t>“Prevention is better, </a:t>
            </a:r>
            <a:r>
              <a:rPr sz="1400" i="1">
                <a:solidFill>
                  <a:srgbClr val="1F2533"/>
                </a:solidFill>
              </a:rPr>
              <a:t>but timely treatment saves the cow.”</a:t>
            </a:r>
          </a:p>
          <a:p>
            <a:r>
              <a:rPr sz="1100">
                <a:solidFill>
                  <a:srgbClr val="555C66"/>
                </a:solidFill>
              </a:rPr>
              <a:t>— Field motto in dairy practice</a:t>
            </a:r>
          </a:p>
        </p:txBody>
      </p:sp>
      <p:sp>
        <p:nvSpPr>
          <p:cNvPr id="13" name="TextBox 12"/>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4" name="TextBox 13"/>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Specific Therapeutic Protocols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52044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GnRH at AI</a:t>
            </a:r>
          </a:p>
        </p:txBody>
      </p:sp>
      <p:sp>
        <p:nvSpPr>
          <p:cNvPr id="8" name="Rectangle 7"/>
          <p:cNvSpPr/>
          <p:nvPr/>
        </p:nvSpPr>
        <p:spPr>
          <a:xfrm>
            <a:off x="777240" y="2286000"/>
            <a:ext cx="3520440" cy="406908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Buserelin 10 µg or Gonadorelin 100 µg IM at the time of AI</a:t>
            </a:r>
          </a:p>
          <a:p>
            <a:pPr>
              <a:spcAft>
                <a:spcPts val="400"/>
              </a:spcAft>
            </a:pPr>
            <a:r>
              <a:rPr sz="1200">
                <a:solidFill>
                  <a:srgbClr val="1F2533"/>
                </a:solidFill>
                <a:latin typeface="Calibri"/>
              </a:rPr>
              <a:t>• Improves LH surge &amp; ovulation</a:t>
            </a:r>
          </a:p>
          <a:p>
            <a:pPr>
              <a:spcAft>
                <a:spcPts val="400"/>
              </a:spcAft>
            </a:pPr>
            <a:r>
              <a:rPr sz="1200">
                <a:solidFill>
                  <a:srgbClr val="1F2533"/>
                </a:solidFill>
                <a:latin typeface="Calibri"/>
              </a:rPr>
              <a:t>• Increases conception by 10–20 %</a:t>
            </a:r>
          </a:p>
          <a:p>
            <a:pPr>
              <a:spcAft>
                <a:spcPts val="400"/>
              </a:spcAft>
            </a:pPr>
            <a:r>
              <a:rPr sz="1200">
                <a:solidFill>
                  <a:srgbClr val="1F2533"/>
                </a:solidFill>
                <a:latin typeface="Calibri"/>
              </a:rPr>
              <a:t>• Specially useful in delayed ovulators</a:t>
            </a:r>
          </a:p>
        </p:txBody>
      </p:sp>
      <p:sp>
        <p:nvSpPr>
          <p:cNvPr id="9" name="Rectangle 8"/>
          <p:cNvSpPr/>
          <p:nvPr/>
        </p:nvSpPr>
        <p:spPr>
          <a:xfrm>
            <a:off x="4526280" y="1783080"/>
            <a:ext cx="3520440" cy="50292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Progesterone Support</a:t>
            </a:r>
          </a:p>
        </p:txBody>
      </p:sp>
      <p:sp>
        <p:nvSpPr>
          <p:cNvPr id="10" name="Rectangle 9"/>
          <p:cNvSpPr/>
          <p:nvPr/>
        </p:nvSpPr>
        <p:spPr>
          <a:xfrm>
            <a:off x="4526280" y="2286000"/>
            <a:ext cx="3520440" cy="4069080"/>
          </a:xfrm>
          <a:prstGeom prst="rect">
            <a:avLst/>
          </a:prstGeom>
          <a:solidFill>
            <a:srgbClr val="FFFFFF"/>
          </a:solidFill>
          <a:ln w="9525">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CIDR / PRID for 7 days post-AI</a:t>
            </a:r>
          </a:p>
          <a:p>
            <a:pPr>
              <a:spcAft>
                <a:spcPts val="400"/>
              </a:spcAft>
            </a:pPr>
            <a:r>
              <a:rPr sz="1200">
                <a:solidFill>
                  <a:srgbClr val="1F2533"/>
                </a:solidFill>
                <a:latin typeface="Calibri"/>
              </a:rPr>
              <a:t>• Long-acting progesterone injection on Day 5</a:t>
            </a:r>
          </a:p>
          <a:p>
            <a:pPr>
              <a:spcAft>
                <a:spcPts val="400"/>
              </a:spcAft>
            </a:pPr>
            <a:r>
              <a:rPr sz="1200">
                <a:solidFill>
                  <a:srgbClr val="1F2533"/>
                </a:solidFill>
                <a:latin typeface="Calibri"/>
              </a:rPr>
              <a:t>• Prevents premature luteolysis &amp; embryo loss</a:t>
            </a:r>
          </a:p>
          <a:p>
            <a:pPr>
              <a:spcAft>
                <a:spcPts val="400"/>
              </a:spcAft>
            </a:pPr>
            <a:r>
              <a:rPr sz="1200">
                <a:solidFill>
                  <a:srgbClr val="1F2533"/>
                </a:solidFill>
                <a:latin typeface="Calibri"/>
              </a:rPr>
              <a:t>• Best for cows with short luteal phase</a:t>
            </a:r>
          </a:p>
        </p:txBody>
      </p:sp>
      <p:sp>
        <p:nvSpPr>
          <p:cNvPr id="11" name="Rectangle 10"/>
          <p:cNvSpPr/>
          <p:nvPr/>
        </p:nvSpPr>
        <p:spPr>
          <a:xfrm>
            <a:off x="8275320" y="1783080"/>
            <a:ext cx="35204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Ovsynch / Double-AI</a:t>
            </a:r>
          </a:p>
        </p:txBody>
      </p:sp>
      <p:sp>
        <p:nvSpPr>
          <p:cNvPr id="12" name="Rectangle 11"/>
          <p:cNvSpPr/>
          <p:nvPr/>
        </p:nvSpPr>
        <p:spPr>
          <a:xfrm>
            <a:off x="8275320" y="2286000"/>
            <a:ext cx="3520440" cy="4069080"/>
          </a:xfrm>
          <a:prstGeom prst="rect">
            <a:avLst/>
          </a:prstGeom>
          <a:solidFill>
            <a:srgbClr val="FFFFFF"/>
          </a:solidFill>
          <a:ln w="9525">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GnRH (D0) → PGF2α (D7) → GnRH (D9) → AI 16h later</a:t>
            </a:r>
          </a:p>
          <a:p>
            <a:pPr>
              <a:spcAft>
                <a:spcPts val="400"/>
              </a:spcAft>
            </a:pPr>
            <a:r>
              <a:rPr sz="1200">
                <a:solidFill>
                  <a:srgbClr val="1F2533"/>
                </a:solidFill>
                <a:latin typeface="Calibri"/>
              </a:rPr>
              <a:t>• Synchronises ovulation precisely</a:t>
            </a:r>
          </a:p>
          <a:p>
            <a:pPr>
              <a:spcAft>
                <a:spcPts val="400"/>
              </a:spcAft>
            </a:pPr>
            <a:r>
              <a:rPr sz="1200">
                <a:solidFill>
                  <a:srgbClr val="1F2533"/>
                </a:solidFill>
                <a:latin typeface="Calibri"/>
              </a:rPr>
              <a:t>• Useful in herds with poor heat detection</a:t>
            </a:r>
          </a:p>
          <a:p>
            <a:pPr>
              <a:spcAft>
                <a:spcPts val="400"/>
              </a:spcAft>
            </a:pPr>
            <a:r>
              <a:rPr sz="1200">
                <a:solidFill>
                  <a:srgbClr val="1F2533"/>
                </a:solidFill>
                <a:latin typeface="Calibri"/>
              </a:rPr>
              <a:t>• Modified Ovsynch / Co-Synch / Double-Ovsynch for repeaters</a:t>
            </a:r>
          </a:p>
        </p:txBody>
      </p:sp>
      <p:sp>
        <p:nvSpPr>
          <p:cNvPr id="13" name="TextBox 12"/>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4" name="TextBox 13"/>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Intra-Uterine &amp; Adjunct Therapy</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600">
                <a:solidFill>
                  <a:srgbClr val="1F2533"/>
                </a:solidFill>
                <a:latin typeface="Calibri"/>
              </a:rPr>
              <a:t>•  Intra-uterine antibiotics (after culture / sensitivity):</a:t>
            </a:r>
          </a:p>
          <a:p>
            <a:pPr lvl="1">
              <a:spcAft>
                <a:spcPts val="600"/>
              </a:spcAft>
            </a:pPr>
            <a:r>
              <a:rPr sz="1400">
                <a:solidFill>
                  <a:srgbClr val="1F2533"/>
                </a:solidFill>
                <a:latin typeface="Calibri"/>
              </a:rPr>
              <a:t>–  Cephapirin, Ceftiofur, Oxytetracycline, Enrofloxacin</a:t>
            </a:r>
          </a:p>
          <a:p>
            <a:pPr lvl="1">
              <a:spcAft>
                <a:spcPts val="600"/>
              </a:spcAft>
            </a:pPr>
            <a:r>
              <a:rPr sz="1400">
                <a:solidFill>
                  <a:srgbClr val="1F2533"/>
                </a:solidFill>
                <a:latin typeface="Calibri"/>
              </a:rPr>
              <a:t>–  Avoid penicillin — inactivated by uterine exudate</a:t>
            </a:r>
          </a:p>
          <a:p>
            <a:pPr>
              <a:spcAft>
                <a:spcPts val="600"/>
              </a:spcAft>
            </a:pPr>
            <a:r>
              <a:rPr sz="1600">
                <a:solidFill>
                  <a:srgbClr val="1F2533"/>
                </a:solidFill>
                <a:latin typeface="Calibri"/>
              </a:rPr>
              <a:t>•  Lugol's iodine (1–2 %) flushing — mild irritant, stimulates leucocytosis.</a:t>
            </a:r>
          </a:p>
          <a:p>
            <a:pPr>
              <a:spcAft>
                <a:spcPts val="600"/>
              </a:spcAft>
            </a:pPr>
            <a:r>
              <a:rPr sz="1600">
                <a:solidFill>
                  <a:srgbClr val="1F2533"/>
                </a:solidFill>
                <a:latin typeface="Calibri"/>
              </a:rPr>
              <a:t>•  Oyster glycogen / E. coli LPS — non-specific immuno-stimulation.</a:t>
            </a:r>
          </a:p>
          <a:p>
            <a:pPr>
              <a:spcAft>
                <a:spcPts val="600"/>
              </a:spcAft>
            </a:pPr>
            <a:r>
              <a:rPr sz="1600">
                <a:solidFill>
                  <a:srgbClr val="1F2533"/>
                </a:solidFill>
                <a:latin typeface="Calibri"/>
              </a:rPr>
              <a:t>•  Intra-uterine PGF2α &amp; oxytocin — promote uterine clearance.</a:t>
            </a:r>
          </a:p>
          <a:p>
            <a:pPr>
              <a:spcAft>
                <a:spcPts val="600"/>
              </a:spcAft>
            </a:pPr>
            <a:r>
              <a:rPr sz="1600">
                <a:solidFill>
                  <a:srgbClr val="1F2533"/>
                </a:solidFill>
                <a:latin typeface="Calibri"/>
              </a:rPr>
              <a:t>•  Mineral &amp; vitamin supplementation:</a:t>
            </a:r>
          </a:p>
          <a:p>
            <a:pPr lvl="1">
              <a:spcAft>
                <a:spcPts val="600"/>
              </a:spcAft>
            </a:pPr>
            <a:r>
              <a:rPr sz="1400">
                <a:solidFill>
                  <a:srgbClr val="1F2533"/>
                </a:solidFill>
                <a:latin typeface="Calibri"/>
              </a:rPr>
              <a:t>–  AD3E, Vitamin E + Selenium, Chelated Zn-Cu-Mn-Co</a:t>
            </a:r>
          </a:p>
          <a:p>
            <a:pPr lvl="1">
              <a:spcAft>
                <a:spcPts val="600"/>
              </a:spcAft>
            </a:pPr>
            <a:r>
              <a:rPr sz="1400">
                <a:solidFill>
                  <a:srgbClr val="1F2533"/>
                </a:solidFill>
                <a:latin typeface="Calibri"/>
              </a:rPr>
              <a:t>–  Bypass protein &amp; energy correction during AI period</a:t>
            </a:r>
          </a:p>
          <a:p>
            <a:pPr>
              <a:spcAft>
                <a:spcPts val="600"/>
              </a:spcAft>
            </a:pPr>
            <a:r>
              <a:rPr sz="1600">
                <a:solidFill>
                  <a:srgbClr val="1F2533"/>
                </a:solidFill>
                <a:latin typeface="Calibri"/>
              </a:rPr>
              <a:t>•  Herbal / Ayurvedic preparations (e.g. Aloes compound, Janova, Prajana) — adjunct support.</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Buffalo-Specific Repeat Breeding</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11155680" cy="365760"/>
          </a:xfrm>
          <a:prstGeom prst="rect">
            <a:avLst/>
          </a:prstGeom>
          <a:noFill/>
        </p:spPr>
        <p:txBody>
          <a:bodyPr wrap="none">
            <a:spAutoFit/>
          </a:bodyPr>
          <a:lstStyle/>
          <a:p>
            <a:r>
              <a:rPr sz="1400" i="1">
                <a:solidFill>
                  <a:srgbClr val="555C66"/>
                </a:solidFill>
                <a:latin typeface="Calibri"/>
              </a:rPr>
              <a:t>Why buffaloes pose unique reproductive challenges</a:t>
            </a:r>
          </a:p>
        </p:txBody>
      </p:sp>
      <p:sp>
        <p:nvSpPr>
          <p:cNvPr id="8" name="Rectangle 7"/>
          <p:cNvSpPr/>
          <p:nvPr/>
        </p:nvSpPr>
        <p:spPr>
          <a:xfrm>
            <a:off x="731520" y="1691640"/>
            <a:ext cx="4206240" cy="292608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ffalo_murrah.jpg"/>
          <p:cNvPicPr>
            <a:picLocks noChangeAspect="1"/>
          </p:cNvPicPr>
          <p:nvPr/>
        </p:nvPicPr>
        <p:blipFill>
          <a:blip r:embed="rId2"/>
          <a:stretch>
            <a:fillRect/>
          </a:stretch>
        </p:blipFill>
        <p:spPr>
          <a:xfrm>
            <a:off x="777240" y="1737360"/>
            <a:ext cx="4114800" cy="2834640"/>
          </a:xfrm>
          <a:prstGeom prst="rect">
            <a:avLst/>
          </a:prstGeom>
        </p:spPr>
      </p:pic>
      <p:sp>
        <p:nvSpPr>
          <p:cNvPr id="10" name="TextBox 9"/>
          <p:cNvSpPr txBox="1"/>
          <p:nvPr/>
        </p:nvSpPr>
        <p:spPr>
          <a:xfrm>
            <a:off x="777240" y="4617720"/>
            <a:ext cx="4114800" cy="274320"/>
          </a:xfrm>
          <a:prstGeom prst="rect">
            <a:avLst/>
          </a:prstGeom>
          <a:noFill/>
        </p:spPr>
        <p:txBody>
          <a:bodyPr wrap="none">
            <a:spAutoFit/>
          </a:bodyPr>
          <a:lstStyle/>
          <a:p>
            <a:pPr algn="ctr"/>
            <a:r>
              <a:rPr sz="1000" i="1">
                <a:solidFill>
                  <a:srgbClr val="555C66"/>
                </a:solidFill>
                <a:latin typeface="Calibri"/>
              </a:rPr>
              <a:t>Murrah buffalo (Bubalus bubalis)</a:t>
            </a:r>
          </a:p>
        </p:txBody>
      </p:sp>
      <p:sp>
        <p:nvSpPr>
          <p:cNvPr id="11" name="TextBox 10"/>
          <p:cNvSpPr txBox="1"/>
          <p:nvPr/>
        </p:nvSpPr>
        <p:spPr>
          <a:xfrm>
            <a:off x="5120640" y="1737360"/>
            <a:ext cx="6675120" cy="3200400"/>
          </a:xfrm>
          <a:prstGeom prst="rect">
            <a:avLst/>
          </a:prstGeom>
          <a:noFill/>
        </p:spPr>
        <p:txBody>
          <a:bodyPr wrap="square" lIns="0" rIns="0">
            <a:spAutoFit/>
          </a:bodyPr>
          <a:lstStyle/>
          <a:p>
            <a:pPr>
              <a:spcAft>
                <a:spcPts val="600"/>
              </a:spcAft>
            </a:pPr>
            <a:r>
              <a:rPr sz="1400">
                <a:solidFill>
                  <a:srgbClr val="1F2533"/>
                </a:solidFill>
                <a:latin typeface="Calibri"/>
              </a:rPr>
              <a:t>•  Silent / sub-oestrus is common — up to 50–60 % of heats are missed without close observation.</a:t>
            </a:r>
          </a:p>
          <a:p>
            <a:pPr>
              <a:spcAft>
                <a:spcPts val="600"/>
              </a:spcAft>
            </a:pPr>
            <a:r>
              <a:rPr sz="1400">
                <a:solidFill>
                  <a:srgbClr val="1F2533"/>
                </a:solidFill>
                <a:latin typeface="Calibri"/>
              </a:rPr>
              <a:t>•  Late maturity (36–42 months) and longer post-partum anoestrus (90–150 days) than cows.</a:t>
            </a:r>
          </a:p>
          <a:p>
            <a:pPr>
              <a:spcAft>
                <a:spcPts val="600"/>
              </a:spcAft>
            </a:pPr>
            <a:r>
              <a:rPr sz="1400">
                <a:solidFill>
                  <a:srgbClr val="1F2533"/>
                </a:solidFill>
                <a:latin typeface="Calibri"/>
              </a:rPr>
              <a:t>•  Strongly seasonal breeder — short photoperiod (Oct–Feb) is the peak breeding season.</a:t>
            </a:r>
          </a:p>
          <a:p>
            <a:pPr>
              <a:spcAft>
                <a:spcPts val="600"/>
              </a:spcAft>
            </a:pPr>
            <a:r>
              <a:rPr sz="1400">
                <a:solidFill>
                  <a:srgbClr val="1F2533"/>
                </a:solidFill>
                <a:latin typeface="Calibri"/>
              </a:rPr>
              <a:t>•  Summer infertility: heat stress depresses LH surge, oocyte quality and embryo survival.</a:t>
            </a:r>
          </a:p>
          <a:p>
            <a:pPr>
              <a:spcAft>
                <a:spcPts val="600"/>
              </a:spcAft>
            </a:pPr>
            <a:r>
              <a:rPr sz="1400">
                <a:solidFill>
                  <a:srgbClr val="1F2533"/>
                </a:solidFill>
                <a:latin typeface="Calibri"/>
              </a:rPr>
              <a:t>•  Smaller, deeper-seated ovaries with fewer antral follicles than cows.</a:t>
            </a:r>
          </a:p>
          <a:p>
            <a:pPr>
              <a:spcAft>
                <a:spcPts val="600"/>
              </a:spcAft>
            </a:pPr>
            <a:r>
              <a:rPr sz="1400">
                <a:solidFill>
                  <a:srgbClr val="1F2533"/>
                </a:solidFill>
                <a:latin typeface="Calibri"/>
              </a:rPr>
              <a:t>•  Higher incidence of true anoestrus, ovarian inactivity and anovulatory cysts.</a:t>
            </a:r>
          </a:p>
        </p:txBody>
      </p:sp>
      <p:sp>
        <p:nvSpPr>
          <p:cNvPr id="12" name="Rectangle 11"/>
          <p:cNvSpPr/>
          <p:nvPr/>
        </p:nvSpPr>
        <p:spPr>
          <a:xfrm>
            <a:off x="777240" y="4754880"/>
            <a:ext cx="361188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Heat Detection</a:t>
            </a:r>
          </a:p>
        </p:txBody>
      </p:sp>
      <p:sp>
        <p:nvSpPr>
          <p:cNvPr id="13" name="Rectangle 12"/>
          <p:cNvSpPr/>
          <p:nvPr/>
        </p:nvSpPr>
        <p:spPr>
          <a:xfrm>
            <a:off x="777240" y="5257800"/>
            <a:ext cx="3611880" cy="118872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Observe 4–5 times/day, esp. early morning &amp; late evening</a:t>
            </a:r>
          </a:p>
          <a:p>
            <a:pPr>
              <a:spcAft>
                <a:spcPts val="400"/>
              </a:spcAft>
            </a:pPr>
            <a:r>
              <a:rPr sz="1200">
                <a:solidFill>
                  <a:srgbClr val="1F2533"/>
                </a:solidFill>
                <a:latin typeface="Calibri"/>
              </a:rPr>
              <a:t>• Use teaser bull / pedometer / activity meter</a:t>
            </a:r>
          </a:p>
          <a:p>
            <a:pPr>
              <a:spcAft>
                <a:spcPts val="400"/>
              </a:spcAft>
            </a:pPr>
            <a:r>
              <a:rPr sz="1200">
                <a:solidFill>
                  <a:srgbClr val="1F2533"/>
                </a:solidFill>
                <a:latin typeface="Calibri"/>
              </a:rPr>
              <a:t>• Watch for vulvar oedema, mucus, bellowing</a:t>
            </a:r>
          </a:p>
        </p:txBody>
      </p:sp>
      <p:sp>
        <p:nvSpPr>
          <p:cNvPr id="14" name="Rectangle 13"/>
          <p:cNvSpPr/>
          <p:nvPr/>
        </p:nvSpPr>
        <p:spPr>
          <a:xfrm>
            <a:off x="4526280" y="4754880"/>
            <a:ext cx="3611880" cy="50292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Hormonal / Synchrony</a:t>
            </a:r>
          </a:p>
        </p:txBody>
      </p:sp>
      <p:sp>
        <p:nvSpPr>
          <p:cNvPr id="15" name="Rectangle 14"/>
          <p:cNvSpPr/>
          <p:nvPr/>
        </p:nvSpPr>
        <p:spPr>
          <a:xfrm>
            <a:off x="4526280" y="5257800"/>
            <a:ext cx="3611880" cy="1188720"/>
          </a:xfrm>
          <a:prstGeom prst="rect">
            <a:avLst/>
          </a:prstGeom>
          <a:solidFill>
            <a:srgbClr val="FFFFFF"/>
          </a:solidFill>
          <a:ln w="9525">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Ovsynch / Heatsynch / CIDR-based protocols work well</a:t>
            </a:r>
          </a:p>
          <a:p>
            <a:pPr>
              <a:spcAft>
                <a:spcPts val="400"/>
              </a:spcAft>
            </a:pPr>
            <a:r>
              <a:rPr sz="1200">
                <a:solidFill>
                  <a:srgbClr val="1F2533"/>
                </a:solidFill>
                <a:latin typeface="Calibri"/>
              </a:rPr>
              <a:t>• Double-Ovsynch &amp; Pre-synch improve summer conception</a:t>
            </a:r>
          </a:p>
          <a:p>
            <a:pPr>
              <a:spcAft>
                <a:spcPts val="400"/>
              </a:spcAft>
            </a:pPr>
            <a:r>
              <a:rPr sz="1200">
                <a:solidFill>
                  <a:srgbClr val="1F2533"/>
                </a:solidFill>
                <a:latin typeface="Calibri"/>
              </a:rPr>
              <a:t>• GnRH at AI improves ovulation in late-cycling buffaloes</a:t>
            </a:r>
          </a:p>
        </p:txBody>
      </p:sp>
      <p:sp>
        <p:nvSpPr>
          <p:cNvPr id="16" name="Rectangle 15"/>
          <p:cNvSpPr/>
          <p:nvPr/>
        </p:nvSpPr>
        <p:spPr>
          <a:xfrm>
            <a:off x="8275320" y="4754880"/>
            <a:ext cx="352044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Environment &amp; Nutrition</a:t>
            </a:r>
          </a:p>
        </p:txBody>
      </p:sp>
      <p:sp>
        <p:nvSpPr>
          <p:cNvPr id="17" name="Rectangle 16"/>
          <p:cNvSpPr/>
          <p:nvPr/>
        </p:nvSpPr>
        <p:spPr>
          <a:xfrm>
            <a:off x="8275320" y="5257800"/>
            <a:ext cx="3520440" cy="1188720"/>
          </a:xfrm>
          <a:prstGeom prst="rect">
            <a:avLst/>
          </a:prstGeom>
          <a:solidFill>
            <a:srgbClr val="FFFFFF"/>
          </a:solidFill>
          <a:ln w="9525">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Wallowing tank / showers in summer (&gt;32 °C)</a:t>
            </a:r>
          </a:p>
          <a:p>
            <a:pPr>
              <a:spcAft>
                <a:spcPts val="400"/>
              </a:spcAft>
            </a:pPr>
            <a:r>
              <a:rPr sz="1200">
                <a:solidFill>
                  <a:srgbClr val="1F2533"/>
                </a:solidFill>
                <a:latin typeface="Calibri"/>
              </a:rPr>
              <a:t>• Shade, fans, fly control</a:t>
            </a:r>
          </a:p>
          <a:p>
            <a:pPr>
              <a:spcAft>
                <a:spcPts val="400"/>
              </a:spcAft>
            </a:pPr>
            <a:r>
              <a:rPr sz="1200">
                <a:solidFill>
                  <a:srgbClr val="1F2533"/>
                </a:solidFill>
                <a:latin typeface="Calibri"/>
              </a:rPr>
              <a:t>• Bypass fat &amp; mineral supplementation</a:t>
            </a:r>
          </a:p>
        </p:txBody>
      </p:sp>
      <p:sp>
        <p:nvSpPr>
          <p:cNvPr id="18" name="TextBox 1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9" name="TextBox 1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Prevention — Better Than Cure</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39496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Herd-Level Practices</a:t>
            </a:r>
          </a:p>
        </p:txBody>
      </p:sp>
      <p:sp>
        <p:nvSpPr>
          <p:cNvPr id="8" name="Rectangle 7"/>
          <p:cNvSpPr/>
          <p:nvPr/>
        </p:nvSpPr>
        <p:spPr>
          <a:xfrm>
            <a:off x="777240" y="2286000"/>
            <a:ext cx="5394960" cy="169164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Routine post-partum examination on Day 30–45</a:t>
            </a:r>
          </a:p>
          <a:p>
            <a:pPr>
              <a:spcAft>
                <a:spcPts val="400"/>
              </a:spcAft>
            </a:pPr>
            <a:r>
              <a:rPr sz="1200">
                <a:solidFill>
                  <a:srgbClr val="1F2533"/>
                </a:solidFill>
                <a:latin typeface="Calibri"/>
              </a:rPr>
              <a:t>• Maintain calving interval 12–13 months</a:t>
            </a:r>
          </a:p>
          <a:p>
            <a:pPr>
              <a:spcAft>
                <a:spcPts val="400"/>
              </a:spcAft>
            </a:pPr>
            <a:r>
              <a:rPr sz="1200">
                <a:solidFill>
                  <a:srgbClr val="1F2533"/>
                </a:solidFill>
                <a:latin typeface="Calibri"/>
              </a:rPr>
              <a:t>• Vaccinate against Brucella, IBR, BVD, Leptospira</a:t>
            </a:r>
          </a:p>
          <a:p>
            <a:pPr>
              <a:spcAft>
                <a:spcPts val="400"/>
              </a:spcAft>
            </a:pPr>
            <a:r>
              <a:rPr sz="1200">
                <a:solidFill>
                  <a:srgbClr val="1F2533"/>
                </a:solidFill>
                <a:latin typeface="Calibri"/>
              </a:rPr>
              <a:t>• Bio-security; quarantine new animals</a:t>
            </a:r>
          </a:p>
        </p:txBody>
      </p:sp>
      <p:sp>
        <p:nvSpPr>
          <p:cNvPr id="9" name="Rectangle 8"/>
          <p:cNvSpPr/>
          <p:nvPr/>
        </p:nvSpPr>
        <p:spPr>
          <a:xfrm>
            <a:off x="6400800" y="1783080"/>
            <a:ext cx="5394960" cy="50292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Cow-Level Practices</a:t>
            </a:r>
          </a:p>
        </p:txBody>
      </p:sp>
      <p:sp>
        <p:nvSpPr>
          <p:cNvPr id="10" name="Rectangle 9"/>
          <p:cNvSpPr/>
          <p:nvPr/>
        </p:nvSpPr>
        <p:spPr>
          <a:xfrm>
            <a:off x="6400800" y="2286000"/>
            <a:ext cx="5394960" cy="1691640"/>
          </a:xfrm>
          <a:prstGeom prst="rect">
            <a:avLst/>
          </a:prstGeom>
          <a:solidFill>
            <a:srgbClr val="FFFFFF"/>
          </a:solidFill>
          <a:ln w="9525">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Balanced ration with adequate energy, protein &amp; minerals</a:t>
            </a:r>
          </a:p>
          <a:p>
            <a:pPr>
              <a:spcAft>
                <a:spcPts val="400"/>
              </a:spcAft>
            </a:pPr>
            <a:r>
              <a:rPr sz="1200">
                <a:solidFill>
                  <a:srgbClr val="1F2533"/>
                </a:solidFill>
                <a:latin typeface="Calibri"/>
              </a:rPr>
              <a:t>• Body condition scoring at dry-off, calving and AI</a:t>
            </a:r>
          </a:p>
          <a:p>
            <a:pPr>
              <a:spcAft>
                <a:spcPts val="400"/>
              </a:spcAft>
            </a:pPr>
            <a:r>
              <a:rPr sz="1200">
                <a:solidFill>
                  <a:srgbClr val="1F2533"/>
                </a:solidFill>
                <a:latin typeface="Calibri"/>
              </a:rPr>
              <a:t>• Heat detection 3× daily / use of pedometers / activity collars</a:t>
            </a:r>
          </a:p>
          <a:p>
            <a:pPr>
              <a:spcAft>
                <a:spcPts val="400"/>
              </a:spcAft>
            </a:pPr>
            <a:r>
              <a:rPr sz="1200">
                <a:solidFill>
                  <a:srgbClr val="1F2533"/>
                </a:solidFill>
                <a:latin typeface="Calibri"/>
              </a:rPr>
              <a:t>• AI by trained technicians using fertile, properly thawed semen</a:t>
            </a:r>
          </a:p>
        </p:txBody>
      </p:sp>
      <p:sp>
        <p:nvSpPr>
          <p:cNvPr id="11" name="Rectangle 10"/>
          <p:cNvSpPr/>
          <p:nvPr/>
        </p:nvSpPr>
        <p:spPr>
          <a:xfrm>
            <a:off x="777240" y="4114800"/>
            <a:ext cx="5394960" cy="5029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Environment</a:t>
            </a:r>
          </a:p>
        </p:txBody>
      </p:sp>
      <p:sp>
        <p:nvSpPr>
          <p:cNvPr id="12" name="Rectangle 11"/>
          <p:cNvSpPr/>
          <p:nvPr/>
        </p:nvSpPr>
        <p:spPr>
          <a:xfrm>
            <a:off x="777240" y="4617720"/>
            <a:ext cx="5394960" cy="1691640"/>
          </a:xfrm>
          <a:prstGeom prst="rect">
            <a:avLst/>
          </a:prstGeom>
          <a:solidFill>
            <a:srgbClr val="FFFFFF"/>
          </a:solidFill>
          <a:ln w="9525">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Provide shade, fans, sprinklers in summer</a:t>
            </a:r>
          </a:p>
          <a:p>
            <a:pPr>
              <a:spcAft>
                <a:spcPts val="400"/>
              </a:spcAft>
            </a:pPr>
            <a:r>
              <a:rPr sz="1200">
                <a:solidFill>
                  <a:srgbClr val="1F2533"/>
                </a:solidFill>
                <a:latin typeface="Calibri"/>
              </a:rPr>
              <a:t>• Comfortable, non-slippery flooring</a:t>
            </a:r>
          </a:p>
          <a:p>
            <a:pPr>
              <a:spcAft>
                <a:spcPts val="400"/>
              </a:spcAft>
            </a:pPr>
            <a:r>
              <a:rPr sz="1200">
                <a:solidFill>
                  <a:srgbClr val="1F2533"/>
                </a:solidFill>
                <a:latin typeface="Calibri"/>
              </a:rPr>
              <a:t>• Adequate water and clean housing</a:t>
            </a:r>
          </a:p>
          <a:p>
            <a:pPr>
              <a:spcAft>
                <a:spcPts val="400"/>
              </a:spcAft>
            </a:pPr>
            <a:r>
              <a:rPr sz="1200">
                <a:solidFill>
                  <a:srgbClr val="1F2533"/>
                </a:solidFill>
                <a:latin typeface="Calibri"/>
              </a:rPr>
              <a:t>• Reduce overcrowding &amp; social stress</a:t>
            </a:r>
          </a:p>
        </p:txBody>
      </p:sp>
      <p:sp>
        <p:nvSpPr>
          <p:cNvPr id="13" name="Rectangle 12"/>
          <p:cNvSpPr/>
          <p:nvPr/>
        </p:nvSpPr>
        <p:spPr>
          <a:xfrm>
            <a:off x="6400800" y="4114800"/>
            <a:ext cx="5394960" cy="50292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Records &amp; Decisions</a:t>
            </a:r>
          </a:p>
        </p:txBody>
      </p:sp>
      <p:sp>
        <p:nvSpPr>
          <p:cNvPr id="14" name="Rectangle 13"/>
          <p:cNvSpPr/>
          <p:nvPr/>
        </p:nvSpPr>
        <p:spPr>
          <a:xfrm>
            <a:off x="6400800" y="4617720"/>
            <a:ext cx="5394960" cy="1691640"/>
          </a:xfrm>
          <a:prstGeom prst="rect">
            <a:avLst/>
          </a:prstGeom>
          <a:solidFill>
            <a:srgbClr val="FFFFFF"/>
          </a:solidFill>
          <a:ln w="9525">
            <a:solidFill>
              <a:srgbClr val="1B3A5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533"/>
                </a:solidFill>
                <a:latin typeface="Calibri"/>
              </a:rPr>
              <a:t>• Maintain individual breeding records / software</a:t>
            </a:r>
          </a:p>
          <a:p>
            <a:pPr>
              <a:spcAft>
                <a:spcPts val="400"/>
              </a:spcAft>
            </a:pPr>
            <a:r>
              <a:rPr sz="1200">
                <a:solidFill>
                  <a:srgbClr val="1F2533"/>
                </a:solidFill>
                <a:latin typeface="Calibri"/>
              </a:rPr>
              <a:t>• Identify chronic repeaters early</a:t>
            </a:r>
          </a:p>
          <a:p>
            <a:pPr>
              <a:spcAft>
                <a:spcPts val="400"/>
              </a:spcAft>
            </a:pPr>
            <a:r>
              <a:rPr sz="1200">
                <a:solidFill>
                  <a:srgbClr val="1F2533"/>
                </a:solidFill>
                <a:latin typeface="Calibri"/>
              </a:rPr>
              <a:t>• Selective culling of non-responders after 5–6 services</a:t>
            </a:r>
          </a:p>
          <a:p>
            <a:pPr>
              <a:spcAft>
                <a:spcPts val="400"/>
              </a:spcAft>
            </a:pPr>
            <a:r>
              <a:rPr sz="1200">
                <a:solidFill>
                  <a:srgbClr val="1F2533"/>
                </a:solidFill>
                <a:latin typeface="Calibri"/>
              </a:rPr>
              <a:t>• Periodic herd fertility audit</a:t>
            </a:r>
          </a:p>
        </p:txBody>
      </p:sp>
      <p:sp>
        <p:nvSpPr>
          <p:cNvPr id="15" name="TextBox 14"/>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16" name="TextBox 15"/>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Recent Advances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a:solidFill>
                  <a:srgbClr val="1F2533"/>
                </a:solidFill>
                <a:latin typeface="Calibri"/>
              </a:rPr>
              <a:t>•  Doppler ultrasonography of CL — early detection of luteal insufficiency.</a:t>
            </a:r>
          </a:p>
          <a:p>
            <a:pPr>
              <a:spcAft>
                <a:spcPts val="600"/>
              </a:spcAft>
            </a:pPr>
            <a:r>
              <a:rPr sz="1700">
                <a:solidFill>
                  <a:srgbClr val="1F2533"/>
                </a:solidFill>
                <a:latin typeface="Calibri"/>
              </a:rPr>
              <a:t>•  Embryo transfer (ET) in chronic repeat breeders bypasses fertilization and early embryo problems.</a:t>
            </a:r>
          </a:p>
          <a:p>
            <a:pPr>
              <a:spcAft>
                <a:spcPts val="600"/>
              </a:spcAft>
            </a:pPr>
            <a:r>
              <a:rPr sz="1700">
                <a:solidFill>
                  <a:srgbClr val="1F2533"/>
                </a:solidFill>
                <a:latin typeface="Calibri"/>
              </a:rPr>
              <a:t>•  In-vitro fertilization (IVF / OPU-IVP) for valuable but persistent repeaters.</a:t>
            </a:r>
          </a:p>
          <a:p>
            <a:pPr>
              <a:spcAft>
                <a:spcPts val="600"/>
              </a:spcAft>
            </a:pPr>
            <a:r>
              <a:rPr sz="1700">
                <a:solidFill>
                  <a:srgbClr val="1F2533"/>
                </a:solidFill>
                <a:latin typeface="Calibri"/>
              </a:rPr>
              <a:t>•  Sexed semen with optimised AI timing for high-genetic-merit cows.</a:t>
            </a:r>
          </a:p>
          <a:p>
            <a:pPr>
              <a:spcAft>
                <a:spcPts val="600"/>
              </a:spcAft>
            </a:pPr>
            <a:r>
              <a:rPr sz="1700">
                <a:solidFill>
                  <a:srgbClr val="1F2533"/>
                </a:solidFill>
                <a:latin typeface="Calibri"/>
              </a:rPr>
              <a:t>•  Genomic selection — identifying cows with genetic predisposition to early embryonic death.</a:t>
            </a:r>
          </a:p>
          <a:p>
            <a:pPr>
              <a:spcAft>
                <a:spcPts val="600"/>
              </a:spcAft>
            </a:pPr>
            <a:r>
              <a:rPr sz="1700">
                <a:solidFill>
                  <a:srgbClr val="1F2533"/>
                </a:solidFill>
                <a:latin typeface="Calibri"/>
              </a:rPr>
              <a:t>•  Use of activity-monitoring collars &amp; AI-based heat detection systems.</a:t>
            </a:r>
          </a:p>
          <a:p>
            <a:pPr>
              <a:spcAft>
                <a:spcPts val="600"/>
              </a:spcAft>
            </a:pPr>
            <a:r>
              <a:rPr sz="1700">
                <a:solidFill>
                  <a:srgbClr val="1F2533"/>
                </a:solidFill>
                <a:latin typeface="Calibri"/>
              </a:rPr>
              <a:t>•  Anti-oxidant therapy (Vitamin E, Selenium, Astaxanthin) to improve oocyte and embryo quality.</a:t>
            </a:r>
          </a:p>
          <a:p>
            <a:pPr>
              <a:spcAft>
                <a:spcPts val="600"/>
              </a:spcAft>
            </a:pPr>
            <a:r>
              <a:rPr sz="1700">
                <a:solidFill>
                  <a:srgbClr val="1F2533"/>
                </a:solidFill>
                <a:latin typeface="Calibri"/>
              </a:rPr>
              <a:t>•  Targeted reproductive ultrasonography &amp; uterine biopsy for refractory cases.</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C66"/>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C66"/>
                </a:solidFill>
                <a:latin typeface="Calibr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1B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92608" y="0"/>
            <a:ext cx="64008" cy="685800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92608"/>
            <a:ext cx="11155680" cy="822960"/>
          </a:xfrm>
          <a:prstGeom prst="rect">
            <a:avLst/>
          </a:prstGeom>
          <a:noFill/>
        </p:spPr>
        <p:txBody>
          <a:bodyPr wrap="none" lIns="0" rIns="0">
            <a:spAutoFit/>
          </a:bodyPr>
          <a:lstStyle/>
          <a:p>
            <a:r>
              <a:rPr sz="3400" b="1">
                <a:solidFill>
                  <a:srgbClr val="1B3A57"/>
                </a:solidFill>
                <a:latin typeface="Calibri"/>
              </a:rPr>
              <a:t>Conclusion &amp; References</a:t>
            </a:r>
          </a:p>
        </p:txBody>
      </p:sp>
      <p:sp>
        <p:nvSpPr>
          <p:cNvPr id="6" name="Rectangle 5"/>
          <p:cNvSpPr/>
          <p:nvPr/>
        </p:nvSpPr>
        <p:spPr>
          <a:xfrm>
            <a:off x="594360" y="1078992"/>
            <a:ext cx="1280160" cy="64008"/>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07040" cy="2011680"/>
          </a:xfrm>
          <a:prstGeom prst="roundRect">
            <a:avLst/>
          </a:prstGeom>
          <a:solidFill>
            <a:srgbClr val="FFFFFF"/>
          </a:solidFill>
          <a:ln w="25400">
            <a:solidFill>
              <a:srgbClr val="E07A1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r>
              <a:rPr sz="1800" b="1">
                <a:solidFill>
                  <a:srgbClr val="1B3A57"/>
                </a:solidFill>
                <a:latin typeface="Calibri"/>
              </a:rPr>
              <a:t>Conclusion</a:t>
            </a:r>
          </a:p>
          <a:p>
            <a:pPr>
              <a:spcAft>
                <a:spcPts val="200"/>
              </a:spcAft>
            </a:pPr>
            <a:r>
              <a:rPr sz="1300">
                <a:solidFill>
                  <a:srgbClr val="1F2533"/>
                </a:solidFill>
                <a:latin typeface="Calibri"/>
              </a:rPr>
              <a:t>• Repeat breeding is a multifactorial syndrome — a symptom rather than a disease.</a:t>
            </a:r>
          </a:p>
          <a:p>
            <a:pPr>
              <a:spcAft>
                <a:spcPts val="200"/>
              </a:spcAft>
            </a:pPr>
            <a:r>
              <a:rPr sz="1300">
                <a:solidFill>
                  <a:srgbClr val="1F2533"/>
                </a:solidFill>
                <a:latin typeface="Calibri"/>
              </a:rPr>
              <a:t>• Successful management requires accurate diagnosis, correction of nutrition, infection and hormonal imbalance, plus excellent AI practices.</a:t>
            </a:r>
          </a:p>
          <a:p>
            <a:pPr>
              <a:spcAft>
                <a:spcPts val="200"/>
              </a:spcAft>
            </a:pPr>
            <a:r>
              <a:rPr sz="1300">
                <a:solidFill>
                  <a:srgbClr val="1F2533"/>
                </a:solidFill>
                <a:latin typeface="Calibri"/>
              </a:rPr>
              <a:t>• Buffaloes need extra attention to silent oestrus, seasonality and summer heat-stress mitigation.</a:t>
            </a:r>
          </a:p>
          <a:p>
            <a:pPr>
              <a:spcAft>
                <a:spcPts val="200"/>
              </a:spcAft>
            </a:pPr>
            <a:r>
              <a:rPr sz="1300">
                <a:solidFill>
                  <a:srgbClr val="1F2533"/>
                </a:solidFill>
                <a:latin typeface="Calibri"/>
              </a:rPr>
              <a:t>• Prevention — through good husbandry, heat detection and herd health programs — is far more economical than treatment.</a:t>
            </a:r>
          </a:p>
        </p:txBody>
      </p:sp>
      <p:sp>
        <p:nvSpPr>
          <p:cNvPr id="8" name="TextBox 7"/>
          <p:cNvSpPr txBox="1"/>
          <p:nvPr/>
        </p:nvSpPr>
        <p:spPr>
          <a:xfrm>
            <a:off x="777240" y="3840480"/>
            <a:ext cx="10607040" cy="2468880"/>
          </a:xfrm>
          <a:prstGeom prst="rect">
            <a:avLst/>
          </a:prstGeom>
          <a:noFill/>
        </p:spPr>
        <p:txBody>
          <a:bodyPr wrap="square">
            <a:spAutoFit/>
          </a:bodyPr>
          <a:lstStyle/>
          <a:p>
            <a:r>
              <a:rPr sz="1800" b="1">
                <a:solidFill>
                  <a:srgbClr val="1B3A57"/>
                </a:solidFill>
                <a:latin typeface="Calibri"/>
              </a:rPr>
              <a:t>References (selected)</a:t>
            </a:r>
          </a:p>
          <a:p>
            <a:pPr>
              <a:spcAft>
                <a:spcPts val="200"/>
              </a:spcAft>
            </a:pPr>
            <a:r>
              <a:rPr sz="1200">
                <a:solidFill>
                  <a:srgbClr val="1F2533"/>
                </a:solidFill>
                <a:latin typeface="Calibri"/>
              </a:rPr>
              <a:t>• Roberts, S.J. — Veterinary Obstetrics &amp; Genital Diseases (Theriogenology), 3rd Ed.</a:t>
            </a:r>
          </a:p>
          <a:p>
            <a:pPr>
              <a:spcAft>
                <a:spcPts val="200"/>
              </a:spcAft>
            </a:pPr>
            <a:r>
              <a:rPr sz="1200">
                <a:solidFill>
                  <a:srgbClr val="1F2533"/>
                </a:solidFill>
                <a:latin typeface="Calibri"/>
              </a:rPr>
              <a:t>• Arthur, Noakes, Pearson &amp; Parkinson — Veterinary Reproduction &amp; Obstetrics, 11th Ed.</a:t>
            </a:r>
          </a:p>
          <a:p>
            <a:pPr>
              <a:spcAft>
                <a:spcPts val="200"/>
              </a:spcAft>
            </a:pPr>
            <a:r>
              <a:rPr sz="1200">
                <a:solidFill>
                  <a:srgbClr val="1F2533"/>
                </a:solidFill>
                <a:latin typeface="Calibri"/>
              </a:rPr>
              <a:t>• Hafez E.S.E. &amp; Hafez B. — Reproduction in Farm Animals, 7th Ed.</a:t>
            </a:r>
          </a:p>
          <a:p>
            <a:pPr>
              <a:spcAft>
                <a:spcPts val="200"/>
              </a:spcAft>
            </a:pPr>
            <a:r>
              <a:rPr sz="1200">
                <a:solidFill>
                  <a:srgbClr val="1F2533"/>
                </a:solidFill>
                <a:latin typeface="Calibri"/>
              </a:rPr>
              <a:t>• Peters A.R. &amp; Ball P.J.H. — Reproduction in Cattle, 3rd Ed.</a:t>
            </a:r>
          </a:p>
          <a:p>
            <a:pPr>
              <a:spcAft>
                <a:spcPts val="200"/>
              </a:spcAft>
            </a:pPr>
            <a:r>
              <a:rPr sz="1200">
                <a:solidFill>
                  <a:srgbClr val="1F2533"/>
                </a:solidFill>
                <a:latin typeface="Calibri"/>
              </a:rPr>
              <a:t>• Bartlett P.C. et al. — Repeat breeder syndrome in dairy cattle, JDS.</a:t>
            </a:r>
          </a:p>
          <a:p>
            <a:pPr>
              <a:spcAft>
                <a:spcPts val="200"/>
              </a:spcAft>
            </a:pPr>
            <a:r>
              <a:rPr sz="1200">
                <a:solidFill>
                  <a:srgbClr val="1F2533"/>
                </a:solidFill>
                <a:latin typeface="Calibri"/>
              </a:rPr>
              <a:t>• Gustafsson H. &amp; Emanuelson U. — Characterisation of the repeat breeding syndrome in Swedish dairy cattle, Acta Vet. Scand.</a:t>
            </a:r>
          </a:p>
          <a:p>
            <a:pPr>
              <a:spcAft>
                <a:spcPts val="200"/>
              </a:spcAft>
            </a:pPr>
            <a:r>
              <a:rPr sz="1200">
                <a:solidFill>
                  <a:srgbClr val="1F2533"/>
                </a:solidFill>
                <a:latin typeface="Calibri"/>
              </a:rPr>
              <a:t>• Perera B.M.A.O. — Reproductive cycles of buffalo, Anim. Reprod. Sci.</a:t>
            </a:r>
          </a:p>
        </p:txBody>
      </p:sp>
      <p:sp>
        <p:nvSpPr>
          <p:cNvPr id="9" name="TextBox 8"/>
          <p:cNvSpPr txBox="1"/>
          <p:nvPr/>
        </p:nvSpPr>
        <p:spPr>
          <a:xfrm>
            <a:off x="777240" y="6217920"/>
            <a:ext cx="10607040" cy="274320"/>
          </a:xfrm>
          <a:prstGeom prst="rect">
            <a:avLst/>
          </a:prstGeom>
          <a:noFill/>
        </p:spPr>
        <p:txBody>
          <a:bodyPr wrap="none">
            <a:spAutoFit/>
          </a:bodyPr>
          <a:lstStyle/>
          <a:p>
            <a:r>
              <a:rPr sz="900" i="1">
                <a:solidFill>
                  <a:srgbClr val="555C66"/>
                </a:solidFill>
                <a:latin typeface="Calibri"/>
              </a:rPr>
              <a:t>Image credits: photographs of cows and buffaloes are from Wikimedia Commons (CC BY-SA / public domain).</a:t>
            </a:r>
          </a:p>
        </p:txBody>
      </p:sp>
      <p:sp>
        <p:nvSpPr>
          <p:cNvPr id="10" name="Rectangle 9"/>
          <p:cNvSpPr/>
          <p:nvPr/>
        </p:nvSpPr>
        <p:spPr>
          <a:xfrm>
            <a:off x="4297680" y="6446520"/>
            <a:ext cx="3657600" cy="365760"/>
          </a:xfrm>
          <a:prstGeom prst="rect">
            <a:avLst/>
          </a:prstGeom>
          <a:solidFill>
            <a:srgbClr val="E07A18"/>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600" b="1">
                <a:solidFill>
                  <a:srgbClr val="FFFFFF"/>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