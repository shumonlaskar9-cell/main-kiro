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Introduce the topic of repeat breeding as a major reproductive disorder in dairy cattle and buffaloes. Mention that the seminar will cover etiology, diagnosis, treatment, prevention and a special focus on buffaloes.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four-section structure. Tell the audience they will see section divider slides between major parts.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Section I — the foundational concepts of repeat breeding.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Reproduction drives milk production, calf supply and culling decisions. Repeat breeding directly hits all three. Stress that the cow is otherwise apparently healthy.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all five criteria. Many cows mis-classified as repeat breeders are actually anoestrus or sub-oestrus cases.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problem in numerical terms. The audience must appreciate that a single repeat breeder can wipe out a smallholder's annual profit.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covers all major causes of repeat breeding.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Categorising causes helps direct diagnosis. Most refractory cases involve more than one category at a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white-side test, endometrial cytology and USG findings of intra-uterine fluid as bedside diagnostics for subclinical endometritis.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'transition cow' concept and how energy balance in the first 3 weeks post-calving affects fertility weeks later through follicle quality.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Hormonal causes are mostly diagnosed indirectly through treatment response; serum P4 assay where available is the single most useful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the AM-PM rule, role of pedometers / activity collars, and importance of culture-tested semen batches.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repeat breeders typically return to heat at a normal interval because their embryo died before the Interferon-tau signal was strong enough to maintain the CL.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 practical diagnosis and treatment.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diagnostic discipline. Most field failures come from skipping history-taking and going straight to hormones.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Empower the audience to think causally. Hormonal therapy should be the last step after correcting husbandry.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dose, timing, contra-indications. Ovsynch needs good cow handling and timely injections — limited in smallholder settings.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Caution: repeated antibiotic infusions can themselves induce chronic endometritis. Mineral therapy is often under-used and gives the best return on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 buffalo-specific issues, prevention and the future.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Buffaloes are not just 'larger cows' — emphasise silent oestrus, seasonality and heat-stress management as the three biggest practical issues.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to highlight why generic 'cow protocols' often under-perform in buffaloes — different physiology demands different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Prevention is a herd-level discipline. Single-cow interventions rarely work without supportive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Recent advances are largely accessibility-limited in smallholder settings, but Doppler USG and activity meters are increasingly affordable.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Restate that repeat breeding is preventable. Invite questions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97480"/>
            <a:ext cx="12191695" cy="141732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640080"/>
            <a:ext cx="3108960" cy="4114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lIns="164592" tIns="36576" bIns="36576"/>
          <a:lstStyle/>
          <a:p>
            <a:pPr algn="ctr"/>
            <a:r>
              <a:rPr sz="1300" b="1">
                <a:solidFill>
                  <a:srgbClr val="1B3A57"/>
                </a:solidFill>
                <a:latin typeface="Calibri"/>
              </a:rPr>
              <a:t>ANIMAL REPRODUCTION</a:t>
            </a:r>
          </a:p>
        </p:txBody>
      </p:sp>
      <p:sp>
        <p:nvSpPr>
          <p:cNvPr id="5" name="Rectangle 4"/>
          <p:cNvSpPr/>
          <p:nvPr/>
        </p:nvSpPr>
        <p:spPr>
          <a:xfrm>
            <a:off x="594360" y="1325880"/>
            <a:ext cx="274320" cy="36576"/>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1325880"/>
            <a:ext cx="274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325880"/>
            <a:ext cx="274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54480"/>
            <a:ext cx="10972800" cy="1097280"/>
          </a:xfrm>
          <a:prstGeom prst="rect">
            <a:avLst/>
          </a:prstGeom>
          <a:noFill/>
        </p:spPr>
        <p:txBody>
          <a:bodyPr wrap="none">
            <a:spAutoFit/>
          </a:bodyPr>
          <a:lstStyle/>
          <a:p>
            <a:r>
              <a:rPr sz="7200" b="1">
                <a:solidFill>
                  <a:srgbClr val="FFFFFF"/>
                </a:solidFill>
                <a:latin typeface="Calibri"/>
              </a:rPr>
              <a:t>Repeat Breeding</a:t>
            </a:r>
          </a:p>
        </p:txBody>
      </p:sp>
      <p:sp>
        <p:nvSpPr>
          <p:cNvPr id="9" name="TextBox 8"/>
          <p:cNvSpPr txBox="1"/>
          <p:nvPr/>
        </p:nvSpPr>
        <p:spPr>
          <a:xfrm>
            <a:off x="594360" y="2788920"/>
            <a:ext cx="10972800" cy="640080"/>
          </a:xfrm>
          <a:prstGeom prst="rect">
            <a:avLst/>
          </a:prstGeom>
          <a:noFill/>
        </p:spPr>
        <p:txBody>
          <a:bodyPr wrap="none">
            <a:spAutoFit/>
          </a:bodyPr>
          <a:lstStyle/>
          <a:p>
            <a:r>
              <a:rPr sz="2400" b="1">
                <a:solidFill>
                  <a:srgbClr val="1B3A57"/>
                </a:solidFill>
                <a:latin typeface="Calibri"/>
              </a:rPr>
              <a:t>Causes  ·  Diagnosis  ·  Treatment  ·  Prevention</a:t>
            </a:r>
          </a:p>
        </p:txBody>
      </p:sp>
      <p:sp>
        <p:nvSpPr>
          <p:cNvPr id="10" name="TextBox 9"/>
          <p:cNvSpPr txBox="1"/>
          <p:nvPr/>
        </p:nvSpPr>
        <p:spPr>
          <a:xfrm>
            <a:off x="594360" y="3337560"/>
            <a:ext cx="10972800" cy="457200"/>
          </a:xfrm>
          <a:prstGeom prst="rect">
            <a:avLst/>
          </a:prstGeom>
          <a:noFill/>
        </p:spPr>
        <p:txBody>
          <a:bodyPr wrap="none">
            <a:spAutoFit/>
          </a:bodyPr>
          <a:lstStyle/>
          <a:p>
            <a:r>
              <a:rPr sz="1800" i="1">
                <a:solidFill>
                  <a:srgbClr val="0F243A"/>
                </a:solidFill>
                <a:latin typeface="Calibri"/>
              </a:rPr>
              <a:t>in Cows and Buffaloes</a:t>
            </a:r>
          </a:p>
        </p:txBody>
      </p:sp>
      <p:sp>
        <p:nvSpPr>
          <p:cNvPr id="11" name="Rectangle 10"/>
          <p:cNvSpPr/>
          <p:nvPr/>
        </p:nvSpPr>
        <p:spPr>
          <a:xfrm>
            <a:off x="557784" y="4535424"/>
            <a:ext cx="3730752" cy="1764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w_holstein.jpg"/>
          <p:cNvPicPr>
            <a:picLocks noChangeAspect="1"/>
          </p:cNvPicPr>
          <p:nvPr/>
        </p:nvPicPr>
        <p:blipFill>
          <a:blip r:embed="rId2"/>
          <a:stretch>
            <a:fillRect/>
          </a:stretch>
        </p:blipFill>
        <p:spPr>
          <a:xfrm>
            <a:off x="594360" y="4572000"/>
            <a:ext cx="3657600" cy="1691640"/>
          </a:xfrm>
          <a:prstGeom prst="rect">
            <a:avLst/>
          </a:prstGeom>
        </p:spPr>
      </p:pic>
      <p:sp>
        <p:nvSpPr>
          <p:cNvPr id="13" name="TextBox 12"/>
          <p:cNvSpPr txBox="1"/>
          <p:nvPr/>
        </p:nvSpPr>
        <p:spPr>
          <a:xfrm>
            <a:off x="594360" y="6300216"/>
            <a:ext cx="3657600" cy="274320"/>
          </a:xfrm>
          <a:prstGeom prst="rect">
            <a:avLst/>
          </a:prstGeom>
          <a:noFill/>
        </p:spPr>
        <p:txBody>
          <a:bodyPr wrap="none">
            <a:spAutoFit/>
          </a:bodyPr>
          <a:lstStyle/>
          <a:p>
            <a:pPr algn="ctr"/>
            <a:r>
              <a:rPr sz="1000" i="1">
                <a:solidFill>
                  <a:srgbClr val="555C66"/>
                </a:solidFill>
                <a:latin typeface="Calibri"/>
              </a:rPr>
              <a:t>Holstein Friesian — high-yielding dairy cow</a:t>
            </a:r>
          </a:p>
        </p:txBody>
      </p:sp>
      <p:sp>
        <p:nvSpPr>
          <p:cNvPr id="14" name="Rectangle 13"/>
          <p:cNvSpPr/>
          <p:nvPr/>
        </p:nvSpPr>
        <p:spPr>
          <a:xfrm>
            <a:off x="7918703" y="4535424"/>
            <a:ext cx="3730752" cy="1764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uffalo_murrah.jpg"/>
          <p:cNvPicPr>
            <a:picLocks noChangeAspect="1"/>
          </p:cNvPicPr>
          <p:nvPr/>
        </p:nvPicPr>
        <p:blipFill>
          <a:blip r:embed="rId3"/>
          <a:stretch>
            <a:fillRect/>
          </a:stretch>
        </p:blipFill>
        <p:spPr>
          <a:xfrm>
            <a:off x="7955279" y="4572000"/>
            <a:ext cx="3657600" cy="1691640"/>
          </a:xfrm>
          <a:prstGeom prst="rect">
            <a:avLst/>
          </a:prstGeom>
        </p:spPr>
      </p:pic>
      <p:sp>
        <p:nvSpPr>
          <p:cNvPr id="16" name="TextBox 15"/>
          <p:cNvSpPr txBox="1"/>
          <p:nvPr/>
        </p:nvSpPr>
        <p:spPr>
          <a:xfrm>
            <a:off x="7955279" y="6300216"/>
            <a:ext cx="3657600" cy="274320"/>
          </a:xfrm>
          <a:prstGeom prst="rect">
            <a:avLst/>
          </a:prstGeom>
          <a:noFill/>
        </p:spPr>
        <p:txBody>
          <a:bodyPr wrap="none">
            <a:spAutoFit/>
          </a:bodyPr>
          <a:lstStyle/>
          <a:p>
            <a:pPr algn="ctr"/>
            <a:r>
              <a:rPr sz="1000" i="1">
                <a:solidFill>
                  <a:srgbClr val="555C66"/>
                </a:solidFill>
                <a:latin typeface="Calibri"/>
              </a:rPr>
              <a:t>Murrah buffalo — leading Indian dairy breed</a:t>
            </a:r>
          </a:p>
        </p:txBody>
      </p:sp>
      <p:sp>
        <p:nvSpPr>
          <p:cNvPr id="17" name="Rounded Rectangle 16"/>
          <p:cNvSpPr/>
          <p:nvPr/>
        </p:nvSpPr>
        <p:spPr>
          <a:xfrm>
            <a:off x="4572000" y="4617720"/>
            <a:ext cx="3108960" cy="1600200"/>
          </a:xfrm>
          <a:prstGeom prst="roundRect">
            <a:avLst/>
          </a:prstGeom>
          <a:solidFill>
            <a:srgbClr val="0F243A"/>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r>
              <a:rPr sz="1500" b="1">
                <a:solidFill>
                  <a:srgbClr val="FFFFFF"/>
                </a:solidFill>
                <a:latin typeface="Calibri"/>
              </a:rPr>
              <a:t>Veterinary Gynaecology</a:t>
            </a:r>
          </a:p>
          <a:p>
            <a:pPr algn="ctr"/>
            <a:r>
              <a:rPr sz="1500" b="1">
                <a:solidFill>
                  <a:srgbClr val="FFFFFF"/>
                </a:solidFill>
                <a:latin typeface="Calibri"/>
              </a:rPr>
              <a:t>&amp; Obstetrics</a:t>
            </a:r>
          </a:p>
          <a:p>
            <a:pPr algn="ctr">
              <a:spcBef>
                <a:spcPts val="800"/>
              </a:spcBef>
            </a:pPr>
            <a:r>
              <a:rPr sz="1200" i="1">
                <a:solidFill>
                  <a:srgbClr val="E07A18"/>
                </a:solidFill>
                <a:latin typeface="Calibri"/>
              </a:rPr>
              <a:t>Seminar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Presentation Roadmap</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15568"/>
            <a:ext cx="10972800" cy="384048"/>
          </a:xfrm>
          <a:prstGeom prst="rect">
            <a:avLst/>
          </a:prstGeom>
          <a:noFill/>
        </p:spPr>
        <p:txBody>
          <a:bodyPr wrap="none">
            <a:spAutoFit/>
          </a:bodyPr>
          <a:lstStyle/>
          <a:p>
            <a:r>
              <a:rPr sz="1300" i="1">
                <a:solidFill>
                  <a:srgbClr val="555C66"/>
                </a:solidFill>
                <a:latin typeface="Calibri"/>
              </a:rPr>
              <a:t>Twenty-four slides organised into four sections</a:t>
            </a:r>
          </a:p>
        </p:txBody>
      </p:sp>
      <p:sp>
        <p:nvSpPr>
          <p:cNvPr id="9" name="Oval 8"/>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02</a:t>
            </a:r>
          </a:p>
        </p:txBody>
      </p:sp>
      <p:sp>
        <p:nvSpPr>
          <p:cNvPr id="10" name="Oval 9"/>
          <p:cNvSpPr/>
          <p:nvPr/>
        </p:nvSpPr>
        <p:spPr>
          <a:xfrm>
            <a:off x="777240" y="1691640"/>
            <a:ext cx="594360" cy="594360"/>
          </a:xfrm>
          <a:prstGeom prst="ellipse">
            <a:avLst/>
          </a:prstGeom>
          <a:solidFill>
            <a:srgbClr val="1B3A57"/>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400" b="1">
                <a:solidFill>
                  <a:srgbClr val="FFFFFF"/>
                </a:solidFill>
                <a:latin typeface="Calibri"/>
              </a:rPr>
              <a:t>I</a:t>
            </a:r>
          </a:p>
        </p:txBody>
      </p:sp>
      <p:sp>
        <p:nvSpPr>
          <p:cNvPr id="11" name="TextBox 10"/>
          <p:cNvSpPr txBox="1"/>
          <p:nvPr/>
        </p:nvSpPr>
        <p:spPr>
          <a:xfrm>
            <a:off x="1463040" y="1691640"/>
            <a:ext cx="2286000" cy="640080"/>
          </a:xfrm>
          <a:prstGeom prst="rect">
            <a:avLst/>
          </a:prstGeom>
          <a:noFill/>
        </p:spPr>
        <p:txBody>
          <a:bodyPr wrap="none">
            <a:spAutoFit/>
          </a:bodyPr>
          <a:lstStyle/>
          <a:p>
            <a:r>
              <a:rPr sz="1500" b="1">
                <a:solidFill>
                  <a:srgbClr val="1B3A57"/>
                </a:solidFill>
                <a:latin typeface="Calibri"/>
              </a:rPr>
              <a:t>Foundations</a:t>
            </a:r>
          </a:p>
          <a:p>
            <a:r>
              <a:rPr sz="1000">
                <a:solidFill>
                  <a:srgbClr val="2E86AB"/>
                </a:solidFill>
                <a:latin typeface="Calibri"/>
              </a:rPr>
              <a:t>Section I</a:t>
            </a:r>
          </a:p>
        </p:txBody>
      </p:sp>
      <p:sp>
        <p:nvSpPr>
          <p:cNvPr id="12" name="TextBox 11"/>
          <p:cNvSpPr txBox="1"/>
          <p:nvPr/>
        </p:nvSpPr>
        <p:spPr>
          <a:xfrm>
            <a:off x="777240" y="2514600"/>
            <a:ext cx="2697480" cy="3657600"/>
          </a:xfrm>
          <a:prstGeom prst="rect">
            <a:avLst/>
          </a:prstGeom>
          <a:noFill/>
        </p:spPr>
        <p:txBody>
          <a:bodyPr wrap="square">
            <a:spAutoFit/>
          </a:bodyPr>
          <a:lstStyle/>
          <a:p>
            <a:pPr>
              <a:spcAft>
                <a:spcPts val="500"/>
              </a:spcAft>
            </a:pPr>
            <a:r>
              <a:rPr sz="1200">
                <a:solidFill>
                  <a:srgbClr val="1F2533"/>
                </a:solidFill>
                <a:latin typeface="Calibri"/>
              </a:rPr>
              <a:t>•  Introduction &amp; Definition</a:t>
            </a:r>
          </a:p>
          <a:p>
            <a:pPr>
              <a:spcAft>
                <a:spcPts val="500"/>
              </a:spcAft>
            </a:pPr>
            <a:r>
              <a:rPr sz="1200">
                <a:solidFill>
                  <a:srgbClr val="1F2533"/>
                </a:solidFill>
                <a:latin typeface="Calibri"/>
              </a:rPr>
              <a:t>•  Incidence &amp; Economic Impact</a:t>
            </a:r>
          </a:p>
        </p:txBody>
      </p:sp>
      <p:sp>
        <p:nvSpPr>
          <p:cNvPr id="13" name="Oval 12"/>
          <p:cNvSpPr/>
          <p:nvPr/>
        </p:nvSpPr>
        <p:spPr>
          <a:xfrm>
            <a:off x="3657600" y="1691640"/>
            <a:ext cx="594360" cy="594360"/>
          </a:xfrm>
          <a:prstGeom prst="ellipse">
            <a:avLst/>
          </a:prstGeom>
          <a:solidFill>
            <a:srgbClr val="1B3A57"/>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400" b="1">
                <a:solidFill>
                  <a:srgbClr val="FFFFFF"/>
                </a:solidFill>
                <a:latin typeface="Calibri"/>
              </a:rPr>
              <a:t>II</a:t>
            </a:r>
          </a:p>
        </p:txBody>
      </p:sp>
      <p:sp>
        <p:nvSpPr>
          <p:cNvPr id="14" name="TextBox 13"/>
          <p:cNvSpPr txBox="1"/>
          <p:nvPr/>
        </p:nvSpPr>
        <p:spPr>
          <a:xfrm>
            <a:off x="4343400" y="1691640"/>
            <a:ext cx="2286000" cy="640080"/>
          </a:xfrm>
          <a:prstGeom prst="rect">
            <a:avLst/>
          </a:prstGeom>
          <a:noFill/>
        </p:spPr>
        <p:txBody>
          <a:bodyPr wrap="none">
            <a:spAutoFit/>
          </a:bodyPr>
          <a:lstStyle/>
          <a:p>
            <a:r>
              <a:rPr sz="1500" b="1">
                <a:solidFill>
                  <a:srgbClr val="1B3A57"/>
                </a:solidFill>
                <a:latin typeface="Calibri"/>
              </a:rPr>
              <a:t>Etiology</a:t>
            </a:r>
          </a:p>
          <a:p>
            <a:r>
              <a:rPr sz="1000">
                <a:solidFill>
                  <a:srgbClr val="E07A18"/>
                </a:solidFill>
                <a:latin typeface="Calibri"/>
              </a:rPr>
              <a:t>Section II</a:t>
            </a:r>
          </a:p>
        </p:txBody>
      </p:sp>
      <p:sp>
        <p:nvSpPr>
          <p:cNvPr id="15" name="TextBox 14"/>
          <p:cNvSpPr txBox="1"/>
          <p:nvPr/>
        </p:nvSpPr>
        <p:spPr>
          <a:xfrm>
            <a:off x="3657600" y="2514600"/>
            <a:ext cx="2697480" cy="3657600"/>
          </a:xfrm>
          <a:prstGeom prst="rect">
            <a:avLst/>
          </a:prstGeom>
          <a:noFill/>
        </p:spPr>
        <p:txBody>
          <a:bodyPr wrap="square">
            <a:spAutoFit/>
          </a:bodyPr>
          <a:lstStyle/>
          <a:p>
            <a:pPr>
              <a:spcAft>
                <a:spcPts val="500"/>
              </a:spcAft>
            </a:pPr>
            <a:r>
              <a:rPr sz="1200">
                <a:solidFill>
                  <a:srgbClr val="1F2533"/>
                </a:solidFill>
                <a:latin typeface="Calibri"/>
              </a:rPr>
              <a:t>•  Overview of causes</a:t>
            </a:r>
          </a:p>
          <a:p>
            <a:pPr>
              <a:spcAft>
                <a:spcPts val="500"/>
              </a:spcAft>
            </a:pPr>
            <a:r>
              <a:rPr sz="1200">
                <a:solidFill>
                  <a:srgbClr val="1F2533"/>
                </a:solidFill>
                <a:latin typeface="Calibri"/>
              </a:rPr>
              <a:t>•  Infectious / Genital</a:t>
            </a:r>
          </a:p>
          <a:p>
            <a:pPr>
              <a:spcAft>
                <a:spcPts val="500"/>
              </a:spcAft>
            </a:pPr>
            <a:r>
              <a:rPr sz="1200">
                <a:solidFill>
                  <a:srgbClr val="1F2533"/>
                </a:solidFill>
                <a:latin typeface="Calibri"/>
              </a:rPr>
              <a:t>•  Nutritional &amp; Metabolic</a:t>
            </a:r>
          </a:p>
          <a:p>
            <a:pPr>
              <a:spcAft>
                <a:spcPts val="500"/>
              </a:spcAft>
            </a:pPr>
            <a:r>
              <a:rPr sz="1200">
                <a:solidFill>
                  <a:srgbClr val="1F2533"/>
                </a:solidFill>
                <a:latin typeface="Calibri"/>
              </a:rPr>
              <a:t>•  Hormonal &amp; Endocrine</a:t>
            </a:r>
          </a:p>
          <a:p>
            <a:pPr>
              <a:spcAft>
                <a:spcPts val="500"/>
              </a:spcAft>
            </a:pPr>
            <a:r>
              <a:rPr sz="1200">
                <a:solidFill>
                  <a:srgbClr val="1F2533"/>
                </a:solidFill>
                <a:latin typeface="Calibri"/>
              </a:rPr>
              <a:t>•  Management &amp; AI errors</a:t>
            </a:r>
          </a:p>
          <a:p>
            <a:pPr>
              <a:spcAft>
                <a:spcPts val="500"/>
              </a:spcAft>
            </a:pPr>
            <a:r>
              <a:rPr sz="1200">
                <a:solidFill>
                  <a:srgbClr val="1F2533"/>
                </a:solidFill>
                <a:latin typeface="Calibri"/>
              </a:rPr>
              <a:t>•  Pathophysiology flow</a:t>
            </a:r>
          </a:p>
        </p:txBody>
      </p:sp>
      <p:sp>
        <p:nvSpPr>
          <p:cNvPr id="16" name="Oval 15"/>
          <p:cNvSpPr/>
          <p:nvPr/>
        </p:nvSpPr>
        <p:spPr>
          <a:xfrm>
            <a:off x="6537960" y="1691640"/>
            <a:ext cx="594360" cy="594360"/>
          </a:xfrm>
          <a:prstGeom prst="ellipse">
            <a:avLst/>
          </a:prstGeom>
          <a:solidFill>
            <a:srgbClr val="1B3A57"/>
          </a:solidFill>
          <a:ln w="19050">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400" b="1">
                <a:solidFill>
                  <a:srgbClr val="FFFFFF"/>
                </a:solidFill>
                <a:latin typeface="Calibri"/>
              </a:rPr>
              <a:t>III</a:t>
            </a:r>
          </a:p>
        </p:txBody>
      </p:sp>
      <p:sp>
        <p:nvSpPr>
          <p:cNvPr id="17" name="TextBox 16"/>
          <p:cNvSpPr txBox="1"/>
          <p:nvPr/>
        </p:nvSpPr>
        <p:spPr>
          <a:xfrm>
            <a:off x="7223760" y="1691640"/>
            <a:ext cx="2286000" cy="640080"/>
          </a:xfrm>
          <a:prstGeom prst="rect">
            <a:avLst/>
          </a:prstGeom>
          <a:noFill/>
        </p:spPr>
        <p:txBody>
          <a:bodyPr wrap="none">
            <a:spAutoFit/>
          </a:bodyPr>
          <a:lstStyle/>
          <a:p>
            <a:r>
              <a:rPr sz="1500" b="1">
                <a:solidFill>
                  <a:srgbClr val="1B3A57"/>
                </a:solidFill>
                <a:latin typeface="Calibri"/>
              </a:rPr>
              <a:t>Diagnosis &amp; Treatment</a:t>
            </a:r>
          </a:p>
          <a:p>
            <a:r>
              <a:rPr sz="1000">
                <a:solidFill>
                  <a:srgbClr val="1B3A57"/>
                </a:solidFill>
                <a:latin typeface="Calibri"/>
              </a:rPr>
              <a:t>Section III</a:t>
            </a:r>
          </a:p>
        </p:txBody>
      </p:sp>
      <p:sp>
        <p:nvSpPr>
          <p:cNvPr id="18" name="TextBox 17"/>
          <p:cNvSpPr txBox="1"/>
          <p:nvPr/>
        </p:nvSpPr>
        <p:spPr>
          <a:xfrm>
            <a:off x="6537960" y="2514600"/>
            <a:ext cx="2697480" cy="3657600"/>
          </a:xfrm>
          <a:prstGeom prst="rect">
            <a:avLst/>
          </a:prstGeom>
          <a:noFill/>
        </p:spPr>
        <p:txBody>
          <a:bodyPr wrap="square">
            <a:spAutoFit/>
          </a:bodyPr>
          <a:lstStyle/>
          <a:p>
            <a:pPr>
              <a:spcAft>
                <a:spcPts val="500"/>
              </a:spcAft>
            </a:pPr>
            <a:r>
              <a:rPr sz="1200">
                <a:solidFill>
                  <a:srgbClr val="1F2533"/>
                </a:solidFill>
                <a:latin typeface="Calibri"/>
              </a:rPr>
              <a:t>•  Clinical approach</a:t>
            </a:r>
          </a:p>
          <a:p>
            <a:pPr>
              <a:spcAft>
                <a:spcPts val="500"/>
              </a:spcAft>
            </a:pPr>
            <a:r>
              <a:rPr sz="1200">
                <a:solidFill>
                  <a:srgbClr val="1F2533"/>
                </a:solidFill>
                <a:latin typeface="Calibri"/>
              </a:rPr>
              <a:t>•  Treatment principles</a:t>
            </a:r>
          </a:p>
          <a:p>
            <a:pPr>
              <a:spcAft>
                <a:spcPts val="500"/>
              </a:spcAft>
            </a:pPr>
            <a:r>
              <a:rPr sz="1200">
                <a:solidFill>
                  <a:srgbClr val="1F2533"/>
                </a:solidFill>
                <a:latin typeface="Calibri"/>
              </a:rPr>
              <a:t>•  Hormonal protocols</a:t>
            </a:r>
          </a:p>
          <a:p>
            <a:pPr>
              <a:spcAft>
                <a:spcPts val="500"/>
              </a:spcAft>
            </a:pPr>
            <a:r>
              <a:rPr sz="1200">
                <a:solidFill>
                  <a:srgbClr val="1F2533"/>
                </a:solidFill>
                <a:latin typeface="Calibri"/>
              </a:rPr>
              <a:t>•  Intra-uterine therapy</a:t>
            </a:r>
          </a:p>
        </p:txBody>
      </p:sp>
      <p:sp>
        <p:nvSpPr>
          <p:cNvPr id="19" name="Oval 18"/>
          <p:cNvSpPr/>
          <p:nvPr/>
        </p:nvSpPr>
        <p:spPr>
          <a:xfrm>
            <a:off x="9418320" y="1691640"/>
            <a:ext cx="594360" cy="594360"/>
          </a:xfrm>
          <a:prstGeom prst="ellipse">
            <a:avLst/>
          </a:prstGeom>
          <a:solidFill>
            <a:srgbClr val="1B3A57"/>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400" b="1">
                <a:solidFill>
                  <a:srgbClr val="FFFFFF"/>
                </a:solidFill>
                <a:latin typeface="Calibri"/>
              </a:rPr>
              <a:t>IV</a:t>
            </a:r>
          </a:p>
        </p:txBody>
      </p:sp>
      <p:sp>
        <p:nvSpPr>
          <p:cNvPr id="20" name="TextBox 19"/>
          <p:cNvSpPr txBox="1"/>
          <p:nvPr/>
        </p:nvSpPr>
        <p:spPr>
          <a:xfrm>
            <a:off x="10104120" y="1691640"/>
            <a:ext cx="2286000" cy="640080"/>
          </a:xfrm>
          <a:prstGeom prst="rect">
            <a:avLst/>
          </a:prstGeom>
          <a:noFill/>
        </p:spPr>
        <p:txBody>
          <a:bodyPr wrap="none">
            <a:spAutoFit/>
          </a:bodyPr>
          <a:lstStyle/>
          <a:p>
            <a:r>
              <a:rPr sz="1500" b="1">
                <a:solidFill>
                  <a:srgbClr val="1B3A57"/>
                </a:solidFill>
                <a:latin typeface="Calibri"/>
              </a:rPr>
              <a:t>Buffalo Focus &amp; Prevention</a:t>
            </a:r>
          </a:p>
          <a:p>
            <a:r>
              <a:rPr sz="1000">
                <a:solidFill>
                  <a:srgbClr val="2E86AB"/>
                </a:solidFill>
                <a:latin typeface="Calibri"/>
              </a:rPr>
              <a:t>Section IV</a:t>
            </a:r>
          </a:p>
        </p:txBody>
      </p:sp>
      <p:sp>
        <p:nvSpPr>
          <p:cNvPr id="21" name="TextBox 20"/>
          <p:cNvSpPr txBox="1"/>
          <p:nvPr/>
        </p:nvSpPr>
        <p:spPr>
          <a:xfrm>
            <a:off x="9418320" y="2514600"/>
            <a:ext cx="2697480" cy="3657600"/>
          </a:xfrm>
          <a:prstGeom prst="rect">
            <a:avLst/>
          </a:prstGeom>
          <a:noFill/>
        </p:spPr>
        <p:txBody>
          <a:bodyPr wrap="square">
            <a:spAutoFit/>
          </a:bodyPr>
          <a:lstStyle/>
          <a:p>
            <a:pPr>
              <a:spcAft>
                <a:spcPts val="500"/>
              </a:spcAft>
            </a:pPr>
            <a:r>
              <a:rPr sz="1200">
                <a:solidFill>
                  <a:srgbClr val="1F2533"/>
                </a:solidFill>
                <a:latin typeface="Calibri"/>
              </a:rPr>
              <a:t>•  Buffalo-specific repeat breeding</a:t>
            </a:r>
          </a:p>
          <a:p>
            <a:pPr>
              <a:spcAft>
                <a:spcPts val="500"/>
              </a:spcAft>
            </a:pPr>
            <a:r>
              <a:rPr sz="1200">
                <a:solidFill>
                  <a:srgbClr val="1F2533"/>
                </a:solidFill>
                <a:latin typeface="Calibri"/>
              </a:rPr>
              <a:t>•  Cow vs Buffalo comparison</a:t>
            </a:r>
          </a:p>
          <a:p>
            <a:pPr>
              <a:spcAft>
                <a:spcPts val="500"/>
              </a:spcAft>
            </a:pPr>
            <a:r>
              <a:rPr sz="1200">
                <a:solidFill>
                  <a:srgbClr val="1F2533"/>
                </a:solidFill>
                <a:latin typeface="Calibri"/>
              </a:rPr>
              <a:t>•  Prevention strategies</a:t>
            </a:r>
          </a:p>
          <a:p>
            <a:pPr>
              <a:spcAft>
                <a:spcPts val="500"/>
              </a:spcAft>
            </a:pPr>
            <a:r>
              <a:rPr sz="1200">
                <a:solidFill>
                  <a:srgbClr val="1F2533"/>
                </a:solidFill>
                <a:latin typeface="Calibri"/>
              </a:rPr>
              <a:t>•  Recent advances</a:t>
            </a:r>
          </a:p>
          <a:p>
            <a:pPr>
              <a:spcAft>
                <a:spcPts val="500"/>
              </a:spcAft>
            </a:pPr>
            <a:r>
              <a:rPr sz="1200">
                <a:solidFill>
                  <a:srgbClr val="1F2533"/>
                </a:solidFill>
                <a:latin typeface="Calibri"/>
              </a:rPr>
              <a:t>•  Conclusion</a:t>
            </a:r>
          </a:p>
        </p:txBody>
      </p:sp>
      <p:sp>
        <p:nvSpPr>
          <p:cNvPr id="22" name="TextBox 21"/>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3" name="TextBox 22"/>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2 of 24</a:t>
            </a:r>
          </a:p>
        </p:txBody>
      </p:sp>
      <p:sp>
        <p:nvSpPr>
          <p:cNvPr id="24" name="Rectangle 23"/>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468880"/>
            <a:ext cx="4572000" cy="2286000"/>
          </a:xfrm>
          <a:prstGeom prst="rect">
            <a:avLst/>
          </a:prstGeom>
          <a:noFill/>
        </p:spPr>
        <p:txBody>
          <a:bodyPr wrap="none">
            <a:spAutoFit/>
          </a:bodyPr>
          <a:lstStyle/>
          <a:p>
            <a:r>
              <a:rPr sz="14000" b="1">
                <a:solidFill>
                  <a:srgbClr val="E07A18"/>
                </a:solidFill>
                <a:latin typeface="Calibri"/>
              </a:rPr>
              <a:t>01</a:t>
            </a:r>
          </a:p>
        </p:txBody>
      </p:sp>
      <p:sp>
        <p:nvSpPr>
          <p:cNvPr id="5" name="Rectangle 4"/>
          <p:cNvSpPr/>
          <p:nvPr/>
        </p:nvSpPr>
        <p:spPr>
          <a:xfrm>
            <a:off x="5120640" y="2743200"/>
            <a:ext cx="1097280" cy="2926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1B3A57"/>
                </a:solidFill>
                <a:latin typeface="Calibri"/>
              </a:rPr>
              <a:t>SECTION</a:t>
            </a:r>
          </a:p>
        </p:txBody>
      </p:sp>
      <p:sp>
        <p:nvSpPr>
          <p:cNvPr id="6" name="TextBox 5"/>
          <p:cNvSpPr txBox="1"/>
          <p:nvPr/>
        </p:nvSpPr>
        <p:spPr>
          <a:xfrm>
            <a:off x="5074920" y="3108960"/>
            <a:ext cx="6858000" cy="1097280"/>
          </a:xfrm>
          <a:prstGeom prst="rect">
            <a:avLst/>
          </a:prstGeom>
          <a:noFill/>
        </p:spPr>
        <p:txBody>
          <a:bodyPr wrap="none">
            <a:spAutoFit/>
          </a:bodyPr>
          <a:lstStyle/>
          <a:p>
            <a:r>
              <a:rPr sz="4000" b="1">
                <a:solidFill>
                  <a:srgbClr val="FFFFFF"/>
                </a:solidFill>
                <a:latin typeface="Calibri"/>
              </a:rPr>
              <a:t>Foundations</a:t>
            </a:r>
          </a:p>
        </p:txBody>
      </p:sp>
      <p:sp>
        <p:nvSpPr>
          <p:cNvPr id="7" name="TextBox 6"/>
          <p:cNvSpPr txBox="1"/>
          <p:nvPr/>
        </p:nvSpPr>
        <p:spPr>
          <a:xfrm>
            <a:off x="5074920" y="4206240"/>
            <a:ext cx="6858000" cy="731520"/>
          </a:xfrm>
          <a:prstGeom prst="rect">
            <a:avLst/>
          </a:prstGeom>
          <a:noFill/>
        </p:spPr>
        <p:txBody>
          <a:bodyPr wrap="none">
            <a:spAutoFit/>
          </a:bodyPr>
          <a:lstStyle/>
          <a:p>
            <a:r>
              <a:rPr sz="1500" i="1">
                <a:solidFill>
                  <a:srgbClr val="DCE6F0"/>
                </a:solidFill>
                <a:latin typeface="Calibri"/>
              </a:rPr>
              <a:t>Setting the stage — what repeat breeding is and why it matters</a:t>
            </a:r>
          </a:p>
        </p:txBody>
      </p:sp>
      <p:sp>
        <p:nvSpPr>
          <p:cNvPr id="8" name="TextBox 7"/>
          <p:cNvSpPr txBox="1"/>
          <p:nvPr/>
        </p:nvSpPr>
        <p:spPr>
          <a:xfrm>
            <a:off x="9601200" y="6263640"/>
            <a:ext cx="2286000" cy="320040"/>
          </a:xfrm>
          <a:prstGeom prst="rect">
            <a:avLst/>
          </a:prstGeom>
          <a:noFill/>
        </p:spPr>
        <p:txBody>
          <a:bodyPr wrap="none">
            <a:spAutoFit/>
          </a:bodyPr>
          <a:lstStyle/>
          <a:p>
            <a:pPr algn="r"/>
            <a:r>
              <a:rPr sz="1000" b="1">
                <a:solidFill>
                  <a:srgbClr val="E07A18"/>
                </a:solidFill>
                <a:latin typeface="Calibri"/>
              </a:rPr>
              <a:t>REPEAT BREEDING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Introduction</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15568"/>
            <a:ext cx="10972800" cy="384048"/>
          </a:xfrm>
          <a:prstGeom prst="rect">
            <a:avLst/>
          </a:prstGeom>
          <a:noFill/>
        </p:spPr>
        <p:txBody>
          <a:bodyPr wrap="none">
            <a:spAutoFit/>
          </a:bodyPr>
          <a:lstStyle/>
          <a:p>
            <a:r>
              <a:rPr sz="1300" i="1">
                <a:solidFill>
                  <a:srgbClr val="555C66"/>
                </a:solidFill>
                <a:latin typeface="Calibri"/>
              </a:rPr>
              <a:t>Reproductive efficiency is the backbone of profitable dairying</a:t>
            </a:r>
          </a:p>
        </p:txBody>
      </p:sp>
      <p:sp>
        <p:nvSpPr>
          <p:cNvPr id="9" name="Oval 8"/>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04</a:t>
            </a:r>
          </a:p>
        </p:txBody>
      </p:sp>
      <p:sp>
        <p:nvSpPr>
          <p:cNvPr id="10" name="TextBox 9"/>
          <p:cNvSpPr txBox="1"/>
          <p:nvPr/>
        </p:nvSpPr>
        <p:spPr>
          <a:xfrm>
            <a:off x="777240" y="1691640"/>
            <a:ext cx="7315200" cy="4572000"/>
          </a:xfrm>
          <a:prstGeom prst="rect">
            <a:avLst/>
          </a:prstGeom>
          <a:noFill/>
        </p:spPr>
        <p:txBody>
          <a:bodyPr wrap="square" lIns="0" rIns="0">
            <a:spAutoFit/>
          </a:bodyPr>
          <a:lstStyle/>
          <a:p>
            <a:pPr>
              <a:spcAft>
                <a:spcPts val="600"/>
              </a:spcAft>
            </a:pPr>
            <a:r>
              <a:rPr sz="1500">
                <a:solidFill>
                  <a:srgbClr val="1F2533"/>
                </a:solidFill>
                <a:latin typeface="Calibri"/>
              </a:rPr>
              <a:t>▸  Reproduction is the most important factor governing the economic success of any dairy enterprise.</a:t>
            </a:r>
          </a:p>
          <a:p>
            <a:pPr>
              <a:spcAft>
                <a:spcPts val="600"/>
              </a:spcAft>
            </a:pPr>
            <a:r>
              <a:rPr sz="1500">
                <a:solidFill>
                  <a:srgbClr val="1F2533"/>
                </a:solidFill>
                <a:latin typeface="Calibri"/>
              </a:rPr>
              <a:t>▸  A normal fertile cow should conceive within 60–90 days post-partum and deliver one calf every 12–13 months.</a:t>
            </a:r>
          </a:p>
          <a:p>
            <a:pPr>
              <a:spcAft>
                <a:spcPts val="600"/>
              </a:spcAft>
            </a:pPr>
            <a:r>
              <a:rPr sz="1500">
                <a:solidFill>
                  <a:srgbClr val="1F2533"/>
                </a:solidFill>
                <a:latin typeface="Calibri"/>
              </a:rPr>
              <a:t>▸  Failure to conceive after repeated inseminations — despite normal estrous cycles and apparently healthy genitalia — is termed REPEAT BREEDING.</a:t>
            </a:r>
          </a:p>
          <a:p>
            <a:pPr>
              <a:spcAft>
                <a:spcPts val="600"/>
              </a:spcAft>
            </a:pPr>
            <a:r>
              <a:rPr sz="1500">
                <a:solidFill>
                  <a:srgbClr val="1F2533"/>
                </a:solidFill>
                <a:latin typeface="Calibri"/>
              </a:rPr>
              <a:t>▸  One of the most frustrating and economically damaging reproductive disorders in cattle and buffaloes worldwide.</a:t>
            </a:r>
          </a:p>
          <a:p>
            <a:pPr>
              <a:spcAft>
                <a:spcPts val="600"/>
              </a:spcAft>
            </a:pPr>
            <a:r>
              <a:rPr sz="1500">
                <a:solidFill>
                  <a:srgbClr val="1F2533"/>
                </a:solidFill>
                <a:latin typeface="Calibri"/>
              </a:rPr>
              <a:t>▸  Multifactorial — involving the cow, the bull / semen, the inseminator and the environment.</a:t>
            </a:r>
          </a:p>
        </p:txBody>
      </p:sp>
      <p:sp>
        <p:nvSpPr>
          <p:cNvPr id="11" name="Rectangle 10"/>
          <p:cNvSpPr/>
          <p:nvPr/>
        </p:nvSpPr>
        <p:spPr>
          <a:xfrm>
            <a:off x="8284464" y="1746504"/>
            <a:ext cx="3456432" cy="2404872"/>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w_dairy.jpg"/>
          <p:cNvPicPr>
            <a:picLocks noChangeAspect="1"/>
          </p:cNvPicPr>
          <p:nvPr/>
        </p:nvPicPr>
        <p:blipFill>
          <a:blip r:embed="rId2"/>
          <a:stretch>
            <a:fillRect/>
          </a:stretch>
        </p:blipFill>
        <p:spPr>
          <a:xfrm>
            <a:off x="8321040" y="1783080"/>
            <a:ext cx="3383280" cy="2331720"/>
          </a:xfrm>
          <a:prstGeom prst="rect">
            <a:avLst/>
          </a:prstGeom>
        </p:spPr>
      </p:pic>
      <p:sp>
        <p:nvSpPr>
          <p:cNvPr id="13" name="TextBox 12"/>
          <p:cNvSpPr txBox="1"/>
          <p:nvPr/>
        </p:nvSpPr>
        <p:spPr>
          <a:xfrm>
            <a:off x="8321040" y="4151376"/>
            <a:ext cx="3383280" cy="274320"/>
          </a:xfrm>
          <a:prstGeom prst="rect">
            <a:avLst/>
          </a:prstGeom>
          <a:noFill/>
        </p:spPr>
        <p:txBody>
          <a:bodyPr wrap="none">
            <a:spAutoFit/>
          </a:bodyPr>
          <a:lstStyle/>
          <a:p>
            <a:pPr algn="ctr"/>
            <a:r>
              <a:rPr sz="1000" i="1">
                <a:solidFill>
                  <a:srgbClr val="555C66"/>
                </a:solidFill>
                <a:latin typeface="Calibri"/>
              </a:rPr>
              <a:t>Holstein dairy cow on pasture</a:t>
            </a:r>
          </a:p>
        </p:txBody>
      </p:sp>
      <p:sp>
        <p:nvSpPr>
          <p:cNvPr id="14" name="Rectangle 13"/>
          <p:cNvSpPr/>
          <p:nvPr/>
        </p:nvSpPr>
        <p:spPr>
          <a:xfrm>
            <a:off x="8284464" y="4398264"/>
            <a:ext cx="3456432" cy="1444752"/>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ahiwal.jpg"/>
          <p:cNvPicPr>
            <a:picLocks noChangeAspect="1"/>
          </p:cNvPicPr>
          <p:nvPr/>
        </p:nvPicPr>
        <p:blipFill>
          <a:blip r:embed="rId3"/>
          <a:stretch>
            <a:fillRect/>
          </a:stretch>
        </p:blipFill>
        <p:spPr>
          <a:xfrm>
            <a:off x="8321040" y="4434840"/>
            <a:ext cx="3383280" cy="1371600"/>
          </a:xfrm>
          <a:prstGeom prst="rect">
            <a:avLst/>
          </a:prstGeom>
        </p:spPr>
      </p:pic>
      <p:sp>
        <p:nvSpPr>
          <p:cNvPr id="16" name="TextBox 15"/>
          <p:cNvSpPr txBox="1"/>
          <p:nvPr/>
        </p:nvSpPr>
        <p:spPr>
          <a:xfrm>
            <a:off x="8321040" y="5843016"/>
            <a:ext cx="3383280" cy="274320"/>
          </a:xfrm>
          <a:prstGeom prst="rect">
            <a:avLst/>
          </a:prstGeom>
          <a:noFill/>
        </p:spPr>
        <p:txBody>
          <a:bodyPr wrap="none">
            <a:spAutoFit/>
          </a:bodyPr>
          <a:lstStyle/>
          <a:p>
            <a:pPr algn="ctr"/>
            <a:r>
              <a:rPr sz="1000" i="1">
                <a:solidFill>
                  <a:srgbClr val="555C66"/>
                </a:solidFill>
                <a:latin typeface="Calibri"/>
              </a:rPr>
              <a:t>Sahiwal — indigenous Indian dairy breed</a:t>
            </a:r>
          </a:p>
        </p:txBody>
      </p:sp>
      <p:sp>
        <p:nvSpPr>
          <p:cNvPr id="17" name="Rounded Rectangle 16"/>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Reproductive failure of even a few cows can erase the entire margin of a dairy unit.</a:t>
            </a:r>
          </a:p>
        </p:txBody>
      </p:sp>
      <p:sp>
        <p:nvSpPr>
          <p:cNvPr id="18" name="Rectangle 17"/>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0" name="TextBox 19"/>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4 of 24</a:t>
            </a:r>
          </a:p>
        </p:txBody>
      </p:sp>
      <p:sp>
        <p:nvSpPr>
          <p:cNvPr id="21" name="Rectangle 20"/>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Definition</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05</a:t>
            </a:r>
          </a:p>
        </p:txBody>
      </p:sp>
      <p:sp>
        <p:nvSpPr>
          <p:cNvPr id="9" name="Rounded Rectangle 8"/>
          <p:cNvSpPr/>
          <p:nvPr/>
        </p:nvSpPr>
        <p:spPr>
          <a:xfrm>
            <a:off x="822960" y="1737360"/>
            <a:ext cx="10607040" cy="1691640"/>
          </a:xfrm>
          <a:prstGeom prst="round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1691640"/>
            <a:ext cx="10607040" cy="1691640"/>
          </a:xfrm>
          <a:prstGeom prst="roundRect">
            <a:avLst/>
          </a:prstGeom>
          <a:solidFill>
            <a:srgbClr val="FFFFFF"/>
          </a:solidFill>
          <a:ln w="2540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82880"/>
          <a:lstStyle/>
          <a:p>
            <a:pPr algn="ctr"/>
            <a:r>
              <a:rPr sz="3600" b="1">
                <a:solidFill>
                  <a:srgbClr val="E07A18"/>
                </a:solidFill>
                <a:latin typeface="Calibri"/>
              </a:rPr>
              <a:t>“</a:t>
            </a:r>
            <a:r>
              <a:rPr sz="1700" i="1">
                <a:solidFill>
                  <a:srgbClr val="1F2533"/>
                </a:solidFill>
                <a:latin typeface="Calibri"/>
              </a:rPr>
              <a:t> A repeat breeder is a cow / buffalo of normal breeding age and parity, cycling regularly at intervals of 18–24 days, with no clinically detectable abnormality of the genital tract, that has failed to conceive after three or more successive services with fertile semen. </a:t>
            </a:r>
            <a:r>
              <a:rPr sz="3600" b="1">
                <a:solidFill>
                  <a:srgbClr val="E07A18"/>
                </a:solidFill>
                <a:latin typeface="Calibri"/>
              </a:rPr>
              <a:t>”</a:t>
            </a:r>
          </a:p>
        </p:txBody>
      </p:sp>
      <p:sp>
        <p:nvSpPr>
          <p:cNvPr id="11" name="Rounded Rectangle 10"/>
          <p:cNvSpPr/>
          <p:nvPr/>
        </p:nvSpPr>
        <p:spPr>
          <a:xfrm>
            <a:off x="777240" y="3749039"/>
            <a:ext cx="2057400" cy="50292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Regular cycles</a:t>
            </a:r>
          </a:p>
        </p:txBody>
      </p:sp>
      <p:sp>
        <p:nvSpPr>
          <p:cNvPr id="12" name="Rounded Rectangle 11"/>
          <p:cNvSpPr/>
          <p:nvPr/>
        </p:nvSpPr>
        <p:spPr>
          <a:xfrm>
            <a:off x="2953512" y="3749039"/>
            <a:ext cx="2057400" cy="502920"/>
          </a:xfrm>
          <a:prstGeom prst="round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 3 services</a:t>
            </a:r>
          </a:p>
        </p:txBody>
      </p:sp>
      <p:sp>
        <p:nvSpPr>
          <p:cNvPr id="13" name="Rounded Rectangle 12"/>
          <p:cNvSpPr/>
          <p:nvPr/>
        </p:nvSpPr>
        <p:spPr>
          <a:xfrm>
            <a:off x="5129783" y="3749039"/>
            <a:ext cx="2057400" cy="502920"/>
          </a:xfrm>
          <a:prstGeom prst="round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No abnormality</a:t>
            </a:r>
          </a:p>
        </p:txBody>
      </p:sp>
      <p:sp>
        <p:nvSpPr>
          <p:cNvPr id="14" name="Rounded Rectangle 13"/>
          <p:cNvSpPr/>
          <p:nvPr/>
        </p:nvSpPr>
        <p:spPr>
          <a:xfrm>
            <a:off x="7306055" y="3749039"/>
            <a:ext cx="2057400" cy="50292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Fertile semen</a:t>
            </a:r>
          </a:p>
        </p:txBody>
      </p:sp>
      <p:sp>
        <p:nvSpPr>
          <p:cNvPr id="15" name="Rounded Rectangle 14"/>
          <p:cNvSpPr/>
          <p:nvPr/>
        </p:nvSpPr>
        <p:spPr>
          <a:xfrm>
            <a:off x="9482328" y="3749039"/>
            <a:ext cx="2057400" cy="502920"/>
          </a:xfrm>
          <a:prstGeom prst="round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Competent AI</a:t>
            </a:r>
          </a:p>
        </p:txBody>
      </p:sp>
      <p:sp>
        <p:nvSpPr>
          <p:cNvPr id="16" name="TextBox 15"/>
          <p:cNvSpPr txBox="1"/>
          <p:nvPr/>
        </p:nvSpPr>
        <p:spPr>
          <a:xfrm>
            <a:off x="777240" y="4572000"/>
            <a:ext cx="10972800" cy="4572000"/>
          </a:xfrm>
          <a:prstGeom prst="rect">
            <a:avLst/>
          </a:prstGeom>
          <a:noFill/>
        </p:spPr>
        <p:txBody>
          <a:bodyPr wrap="square" lIns="0" rIns="0">
            <a:spAutoFit/>
          </a:bodyPr>
          <a:lstStyle/>
          <a:p>
            <a:pPr>
              <a:spcAft>
                <a:spcPts val="600"/>
              </a:spcAft>
            </a:pPr>
            <a:r>
              <a:rPr sz="1500">
                <a:solidFill>
                  <a:srgbClr val="1F2533"/>
                </a:solidFill>
                <a:latin typeface="Calibri"/>
              </a:rPr>
              <a:t>▸  Also known as: Repeat Breeder Syndrome / Repeat Breeder Cow (RBC).</a:t>
            </a:r>
          </a:p>
          <a:p>
            <a:pPr>
              <a:spcAft>
                <a:spcPts val="600"/>
              </a:spcAft>
            </a:pPr>
            <a:r>
              <a:rPr sz="1500">
                <a:solidFill>
                  <a:srgbClr val="1F2533"/>
                </a:solidFill>
                <a:latin typeface="Calibri"/>
              </a:rPr>
              <a:t>▸  Older synonym: 'Conception Failure'.</a:t>
            </a:r>
          </a:p>
          <a:p>
            <a:pPr>
              <a:spcAft>
                <a:spcPts val="600"/>
              </a:spcAft>
            </a:pPr>
            <a:r>
              <a:rPr sz="1500">
                <a:solidFill>
                  <a:srgbClr val="1F2533"/>
                </a:solidFill>
                <a:latin typeface="Calibri"/>
              </a:rPr>
              <a:t>▸  Differentiate from anoestrus, sub-oestrus, true infertility and sterility.</a:t>
            </a:r>
          </a:p>
        </p:txBody>
      </p:sp>
      <p:sp>
        <p:nvSpPr>
          <p:cNvPr id="17" name="Rounded Rectangle 16"/>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Five criteria together define a repeat breeder — missing any one means a different reproductive problem.</a:t>
            </a:r>
          </a:p>
        </p:txBody>
      </p:sp>
      <p:sp>
        <p:nvSpPr>
          <p:cNvPr id="18" name="Rectangle 17"/>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0" name="TextBox 19"/>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5 of 24</a:t>
            </a:r>
          </a:p>
        </p:txBody>
      </p:sp>
      <p:sp>
        <p:nvSpPr>
          <p:cNvPr id="21" name="Rectangle 20"/>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Incidence &amp; Economic Importance</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06</a:t>
            </a:r>
          </a:p>
        </p:txBody>
      </p:sp>
      <p:sp>
        <p:nvSpPr>
          <p:cNvPr id="9" name="Rectangle 8"/>
          <p:cNvSpPr/>
          <p:nvPr/>
        </p:nvSpPr>
        <p:spPr>
          <a:xfrm>
            <a:off x="822960" y="1783080"/>
            <a:ext cx="2679192" cy="146304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37360"/>
            <a:ext cx="2679192" cy="146304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r>
              <a:rPr sz="2800" b="1">
                <a:solidFill>
                  <a:srgbClr val="2E86AB"/>
                </a:solidFill>
                <a:latin typeface="Calibri"/>
              </a:rPr>
              <a:t>10 – 15 %</a:t>
            </a:r>
          </a:p>
          <a:p>
            <a:pPr algn="ctr">
              <a:spcBef>
                <a:spcPts val="400"/>
              </a:spcBef>
            </a:pPr>
            <a:r>
              <a:rPr sz="1100">
                <a:solidFill>
                  <a:srgbClr val="1F2533"/>
                </a:solidFill>
                <a:latin typeface="Calibri"/>
              </a:rPr>
              <a:t>Global incidence in normal herds</a:t>
            </a:r>
          </a:p>
        </p:txBody>
      </p:sp>
      <p:sp>
        <p:nvSpPr>
          <p:cNvPr id="11" name="Rectangle 10"/>
          <p:cNvSpPr/>
          <p:nvPr/>
        </p:nvSpPr>
        <p:spPr>
          <a:xfrm>
            <a:off x="3634740" y="1783080"/>
            <a:ext cx="2679192" cy="146304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89020" y="1737360"/>
            <a:ext cx="2679192" cy="1463040"/>
          </a:xfrm>
          <a:prstGeom prst="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r>
              <a:rPr sz="2800" b="1">
                <a:solidFill>
                  <a:srgbClr val="E07A18"/>
                </a:solidFill>
                <a:latin typeface="Calibri"/>
              </a:rPr>
              <a:t>20 – 30 %</a:t>
            </a:r>
          </a:p>
          <a:p>
            <a:pPr algn="ctr">
              <a:spcBef>
                <a:spcPts val="400"/>
              </a:spcBef>
            </a:pPr>
            <a:r>
              <a:rPr sz="1100">
                <a:solidFill>
                  <a:srgbClr val="1F2533"/>
                </a:solidFill>
                <a:latin typeface="Calibri"/>
              </a:rPr>
              <a:t>In poorly managed herds</a:t>
            </a:r>
          </a:p>
        </p:txBody>
      </p:sp>
      <p:sp>
        <p:nvSpPr>
          <p:cNvPr id="13" name="Rectangle 12"/>
          <p:cNvSpPr/>
          <p:nvPr/>
        </p:nvSpPr>
        <p:spPr>
          <a:xfrm>
            <a:off x="6446520" y="1783080"/>
            <a:ext cx="2679192" cy="146304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737360"/>
            <a:ext cx="2679192" cy="1463040"/>
          </a:xfrm>
          <a:prstGeom prst="rect">
            <a:avLst/>
          </a:prstGeom>
          <a:solidFill>
            <a:srgbClr val="FFFFFF"/>
          </a:solidFill>
          <a:ln w="19050">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r>
              <a:rPr sz="2800" b="1">
                <a:solidFill>
                  <a:srgbClr val="1B3A57"/>
                </a:solidFill>
                <a:latin typeface="Calibri"/>
              </a:rPr>
              <a:t>12 – 24 %</a:t>
            </a:r>
          </a:p>
          <a:p>
            <a:pPr algn="ctr">
              <a:spcBef>
                <a:spcPts val="400"/>
              </a:spcBef>
            </a:pPr>
            <a:r>
              <a:rPr sz="1100">
                <a:solidFill>
                  <a:srgbClr val="1F2533"/>
                </a:solidFill>
                <a:latin typeface="Calibri"/>
              </a:rPr>
              <a:t>Indian dairy herds (cross-breds higher)</a:t>
            </a:r>
          </a:p>
        </p:txBody>
      </p:sp>
      <p:sp>
        <p:nvSpPr>
          <p:cNvPr id="15" name="Rectangle 14"/>
          <p:cNvSpPr/>
          <p:nvPr/>
        </p:nvSpPr>
        <p:spPr>
          <a:xfrm>
            <a:off x="9258300" y="1783080"/>
            <a:ext cx="2679192" cy="146304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212580" y="1737360"/>
            <a:ext cx="2679192" cy="146304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r>
              <a:rPr sz="2800" b="1">
                <a:solidFill>
                  <a:srgbClr val="2E86AB"/>
                </a:solidFill>
                <a:latin typeface="Calibri"/>
              </a:rPr>
              <a:t>8 – 18 %</a:t>
            </a:r>
          </a:p>
          <a:p>
            <a:pPr algn="ctr">
              <a:spcBef>
                <a:spcPts val="400"/>
              </a:spcBef>
            </a:pPr>
            <a:r>
              <a:rPr sz="1100">
                <a:solidFill>
                  <a:srgbClr val="1F2533"/>
                </a:solidFill>
                <a:latin typeface="Calibri"/>
              </a:rPr>
              <a:t>Buffaloes (often masked by silent oestrus)</a:t>
            </a:r>
          </a:p>
        </p:txBody>
      </p:sp>
      <p:sp>
        <p:nvSpPr>
          <p:cNvPr id="17" name="Rectangle 16"/>
          <p:cNvSpPr/>
          <p:nvPr/>
        </p:nvSpPr>
        <p:spPr>
          <a:xfrm>
            <a:off x="822960" y="3566160"/>
            <a:ext cx="3520440" cy="25603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20440"/>
            <a:ext cx="3520440" cy="50292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Direct Losses</a:t>
            </a:r>
          </a:p>
        </p:txBody>
      </p:sp>
      <p:sp>
        <p:nvSpPr>
          <p:cNvPr id="19" name="Rectangle 18"/>
          <p:cNvSpPr/>
          <p:nvPr/>
        </p:nvSpPr>
        <p:spPr>
          <a:xfrm>
            <a:off x="777240" y="4023360"/>
            <a:ext cx="3520440" cy="2057400"/>
          </a:xfrm>
          <a:prstGeom prst="rect">
            <a:avLst/>
          </a:prstGeom>
          <a:solidFill>
            <a:srgbClr val="FFFFFF"/>
          </a:solidFill>
          <a:ln w="9525">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Extra AI doses &amp; semen cost</a:t>
            </a:r>
          </a:p>
          <a:p>
            <a:pPr>
              <a:spcAft>
                <a:spcPts val="400"/>
              </a:spcAft>
            </a:pPr>
            <a:r>
              <a:rPr sz="1200">
                <a:solidFill>
                  <a:srgbClr val="1F2533"/>
                </a:solidFill>
                <a:latin typeface="Calibri"/>
              </a:rPr>
              <a:t>•  Veterinary &amp; hormone bills</a:t>
            </a:r>
          </a:p>
          <a:p>
            <a:pPr>
              <a:spcAft>
                <a:spcPts val="400"/>
              </a:spcAft>
            </a:pPr>
            <a:r>
              <a:rPr sz="1200">
                <a:solidFill>
                  <a:srgbClr val="1F2533"/>
                </a:solidFill>
                <a:latin typeface="Calibri"/>
              </a:rPr>
              <a:t>•  Extended dry / open period</a:t>
            </a:r>
          </a:p>
          <a:p>
            <a:pPr>
              <a:spcAft>
                <a:spcPts val="400"/>
              </a:spcAft>
            </a:pPr>
            <a:r>
              <a:rPr sz="1200">
                <a:solidFill>
                  <a:srgbClr val="1F2533"/>
                </a:solidFill>
                <a:latin typeface="Calibri"/>
              </a:rPr>
              <a:t>•  Reduced lifetime calves</a:t>
            </a:r>
          </a:p>
        </p:txBody>
      </p:sp>
      <p:sp>
        <p:nvSpPr>
          <p:cNvPr id="20" name="Rectangle 19"/>
          <p:cNvSpPr/>
          <p:nvPr/>
        </p:nvSpPr>
        <p:spPr>
          <a:xfrm>
            <a:off x="4572000" y="3566160"/>
            <a:ext cx="3520440" cy="25603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26280" y="3520440"/>
            <a:ext cx="3520440" cy="50292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Indirect Losses</a:t>
            </a:r>
          </a:p>
        </p:txBody>
      </p:sp>
      <p:sp>
        <p:nvSpPr>
          <p:cNvPr id="22" name="Rectangle 21"/>
          <p:cNvSpPr/>
          <p:nvPr/>
        </p:nvSpPr>
        <p:spPr>
          <a:xfrm>
            <a:off x="4526280" y="4023360"/>
            <a:ext cx="3520440" cy="2057400"/>
          </a:xfrm>
          <a:prstGeom prst="rect">
            <a:avLst/>
          </a:prstGeom>
          <a:solidFill>
            <a:srgbClr val="FFFFFF"/>
          </a:solidFill>
          <a:ln w="952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Lower lactation yield</a:t>
            </a:r>
          </a:p>
          <a:p>
            <a:pPr>
              <a:spcAft>
                <a:spcPts val="400"/>
              </a:spcAft>
            </a:pPr>
            <a:r>
              <a:rPr sz="1200">
                <a:solidFill>
                  <a:srgbClr val="1F2533"/>
                </a:solidFill>
                <a:latin typeface="Calibri"/>
              </a:rPr>
              <a:t>•  Increased calving interval</a:t>
            </a:r>
          </a:p>
          <a:p>
            <a:pPr>
              <a:spcAft>
                <a:spcPts val="400"/>
              </a:spcAft>
            </a:pPr>
            <a:r>
              <a:rPr sz="1200">
                <a:solidFill>
                  <a:srgbClr val="1F2533"/>
                </a:solidFill>
                <a:latin typeface="Calibri"/>
              </a:rPr>
              <a:t>•  Premature culling</a:t>
            </a:r>
          </a:p>
          <a:p>
            <a:pPr>
              <a:spcAft>
                <a:spcPts val="400"/>
              </a:spcAft>
            </a:pPr>
            <a:r>
              <a:rPr sz="1200">
                <a:solidFill>
                  <a:srgbClr val="1F2533"/>
                </a:solidFill>
                <a:latin typeface="Calibri"/>
              </a:rPr>
              <a:t>•  Loss of genetic progress</a:t>
            </a:r>
          </a:p>
        </p:txBody>
      </p:sp>
      <p:sp>
        <p:nvSpPr>
          <p:cNvPr id="23" name="Rectangle 22"/>
          <p:cNvSpPr/>
          <p:nvPr/>
        </p:nvSpPr>
        <p:spPr>
          <a:xfrm>
            <a:off x="8321040" y="3566160"/>
            <a:ext cx="3520440" cy="25603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75320" y="3520440"/>
            <a:ext cx="35204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Estimated Cost</a:t>
            </a:r>
          </a:p>
        </p:txBody>
      </p:sp>
      <p:sp>
        <p:nvSpPr>
          <p:cNvPr id="25" name="Rectangle 24"/>
          <p:cNvSpPr/>
          <p:nvPr/>
        </p:nvSpPr>
        <p:spPr>
          <a:xfrm>
            <a:off x="8275320" y="4023360"/>
            <a:ext cx="3520440" cy="2057400"/>
          </a:xfrm>
          <a:prstGeom prst="rect">
            <a:avLst/>
          </a:prstGeom>
          <a:solidFill>
            <a:srgbClr val="FFFFFF"/>
          </a:solidFill>
          <a:ln w="9525">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Each extra open day ≈ ₹150–250</a:t>
            </a:r>
          </a:p>
          <a:p>
            <a:pPr>
              <a:spcAft>
                <a:spcPts val="400"/>
              </a:spcAft>
            </a:pPr>
            <a:r>
              <a:rPr sz="1200">
                <a:solidFill>
                  <a:srgbClr val="1F2533"/>
                </a:solidFill>
                <a:latin typeface="Calibri"/>
              </a:rPr>
              <a:t>•  Per repeater ≈ ₹8 000–15 000 / lactation</a:t>
            </a:r>
          </a:p>
          <a:p>
            <a:pPr>
              <a:spcAft>
                <a:spcPts val="400"/>
              </a:spcAft>
            </a:pPr>
            <a:r>
              <a:rPr sz="1200">
                <a:solidFill>
                  <a:srgbClr val="1F2533"/>
                </a:solidFill>
                <a:latin typeface="Calibri"/>
              </a:rPr>
              <a:t>•  National losses run into thousands of crores</a:t>
            </a:r>
          </a:p>
          <a:p>
            <a:pPr>
              <a:spcAft>
                <a:spcPts val="400"/>
              </a:spcAft>
            </a:pPr>
            <a:r>
              <a:rPr sz="1200">
                <a:solidFill>
                  <a:srgbClr val="1F2533"/>
                </a:solidFill>
                <a:latin typeface="Calibri"/>
              </a:rPr>
              <a:t>•  Major drag on smallholder economy</a:t>
            </a:r>
          </a:p>
        </p:txBody>
      </p:sp>
      <p:sp>
        <p:nvSpPr>
          <p:cNvPr id="26" name="TextBox 25"/>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7" name="TextBox 26"/>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6 of 24</a:t>
            </a:r>
          </a:p>
        </p:txBody>
      </p:sp>
      <p:sp>
        <p:nvSpPr>
          <p:cNvPr id="28" name="Rectangle 27"/>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468880"/>
            <a:ext cx="4572000" cy="2286000"/>
          </a:xfrm>
          <a:prstGeom prst="rect">
            <a:avLst/>
          </a:prstGeom>
          <a:noFill/>
        </p:spPr>
        <p:txBody>
          <a:bodyPr wrap="none">
            <a:spAutoFit/>
          </a:bodyPr>
          <a:lstStyle/>
          <a:p>
            <a:r>
              <a:rPr sz="14000" b="1">
                <a:solidFill>
                  <a:srgbClr val="2E86AB"/>
                </a:solidFill>
                <a:latin typeface="Calibri"/>
              </a:rPr>
              <a:t>02</a:t>
            </a:r>
          </a:p>
        </p:txBody>
      </p:sp>
      <p:sp>
        <p:nvSpPr>
          <p:cNvPr id="5" name="Rectangle 4"/>
          <p:cNvSpPr/>
          <p:nvPr/>
        </p:nvSpPr>
        <p:spPr>
          <a:xfrm>
            <a:off x="5120640" y="2743200"/>
            <a:ext cx="1097280" cy="2926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1B3A57"/>
                </a:solidFill>
                <a:latin typeface="Calibri"/>
              </a:rPr>
              <a:t>SECTION</a:t>
            </a:r>
          </a:p>
        </p:txBody>
      </p:sp>
      <p:sp>
        <p:nvSpPr>
          <p:cNvPr id="6" name="TextBox 5"/>
          <p:cNvSpPr txBox="1"/>
          <p:nvPr/>
        </p:nvSpPr>
        <p:spPr>
          <a:xfrm>
            <a:off x="5074920" y="3108960"/>
            <a:ext cx="6858000" cy="1097280"/>
          </a:xfrm>
          <a:prstGeom prst="rect">
            <a:avLst/>
          </a:prstGeom>
          <a:noFill/>
        </p:spPr>
        <p:txBody>
          <a:bodyPr wrap="none">
            <a:spAutoFit/>
          </a:bodyPr>
          <a:lstStyle/>
          <a:p>
            <a:r>
              <a:rPr sz="4000" b="1">
                <a:solidFill>
                  <a:srgbClr val="FFFFFF"/>
                </a:solidFill>
                <a:latin typeface="Calibri"/>
              </a:rPr>
              <a:t>Etiology</a:t>
            </a:r>
          </a:p>
        </p:txBody>
      </p:sp>
      <p:sp>
        <p:nvSpPr>
          <p:cNvPr id="7" name="TextBox 6"/>
          <p:cNvSpPr txBox="1"/>
          <p:nvPr/>
        </p:nvSpPr>
        <p:spPr>
          <a:xfrm>
            <a:off x="5074920" y="4206240"/>
            <a:ext cx="6858000" cy="731520"/>
          </a:xfrm>
          <a:prstGeom prst="rect">
            <a:avLst/>
          </a:prstGeom>
          <a:noFill/>
        </p:spPr>
        <p:txBody>
          <a:bodyPr wrap="none">
            <a:spAutoFit/>
          </a:bodyPr>
          <a:lstStyle/>
          <a:p>
            <a:r>
              <a:rPr sz="1500" i="1">
                <a:solidFill>
                  <a:srgbClr val="DCE6F0"/>
                </a:solidFill>
                <a:latin typeface="Calibri"/>
              </a:rPr>
              <a:t>A multifactorial syndrome — the cow, the bull, the inseminator &amp; the environment</a:t>
            </a:r>
          </a:p>
        </p:txBody>
      </p:sp>
      <p:sp>
        <p:nvSpPr>
          <p:cNvPr id="8" name="TextBox 7"/>
          <p:cNvSpPr txBox="1"/>
          <p:nvPr/>
        </p:nvSpPr>
        <p:spPr>
          <a:xfrm>
            <a:off x="9601200" y="6263640"/>
            <a:ext cx="2286000" cy="320040"/>
          </a:xfrm>
          <a:prstGeom prst="rect">
            <a:avLst/>
          </a:prstGeom>
          <a:noFill/>
        </p:spPr>
        <p:txBody>
          <a:bodyPr wrap="none">
            <a:spAutoFit/>
          </a:bodyPr>
          <a:lstStyle/>
          <a:p>
            <a:pPr algn="r"/>
            <a:r>
              <a:rPr sz="1000" b="1">
                <a:solidFill>
                  <a:srgbClr val="2E86AB"/>
                </a:solidFill>
                <a:latin typeface="Calibri"/>
              </a:rPr>
              <a:t>REPEAT BREEDING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Etiology — An Overview</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15568"/>
            <a:ext cx="10972800" cy="384048"/>
          </a:xfrm>
          <a:prstGeom prst="rect">
            <a:avLst/>
          </a:prstGeom>
          <a:noFill/>
        </p:spPr>
        <p:txBody>
          <a:bodyPr wrap="none">
            <a:spAutoFit/>
          </a:bodyPr>
          <a:lstStyle/>
          <a:p>
            <a:r>
              <a:rPr sz="1300" i="1">
                <a:solidFill>
                  <a:srgbClr val="555C66"/>
                </a:solidFill>
                <a:latin typeface="Calibri"/>
              </a:rPr>
              <a:t>Causes are grouped into four broad heads</a:t>
            </a:r>
          </a:p>
        </p:txBody>
      </p:sp>
      <p:sp>
        <p:nvSpPr>
          <p:cNvPr id="9" name="Oval 8"/>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08</a:t>
            </a:r>
          </a:p>
        </p:txBody>
      </p:sp>
      <p:sp>
        <p:nvSpPr>
          <p:cNvPr id="10" name="Rectangle 9"/>
          <p:cNvSpPr/>
          <p:nvPr/>
        </p:nvSpPr>
        <p:spPr>
          <a:xfrm>
            <a:off x="822960" y="1737360"/>
            <a:ext cx="2697480" cy="429768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691640"/>
            <a:ext cx="2697480" cy="50292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1. Fertilization Failure</a:t>
            </a:r>
          </a:p>
        </p:txBody>
      </p:sp>
      <p:sp>
        <p:nvSpPr>
          <p:cNvPr id="12" name="Rectangle 11"/>
          <p:cNvSpPr/>
          <p:nvPr/>
        </p:nvSpPr>
        <p:spPr>
          <a:xfrm>
            <a:off x="777240" y="2194560"/>
            <a:ext cx="2697480" cy="3794760"/>
          </a:xfrm>
          <a:prstGeom prst="rect">
            <a:avLst/>
          </a:prstGeom>
          <a:solidFill>
            <a:srgbClr val="FFFFFF"/>
          </a:solidFill>
          <a:ln w="9525">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Improper AI timing</a:t>
            </a:r>
          </a:p>
          <a:p>
            <a:pPr>
              <a:spcAft>
                <a:spcPts val="400"/>
              </a:spcAft>
            </a:pPr>
            <a:r>
              <a:rPr sz="1200">
                <a:solidFill>
                  <a:srgbClr val="1F2533"/>
                </a:solidFill>
                <a:latin typeface="Calibri"/>
              </a:rPr>
              <a:t>•  Poor semen quality</a:t>
            </a:r>
          </a:p>
          <a:p>
            <a:pPr>
              <a:spcAft>
                <a:spcPts val="400"/>
              </a:spcAft>
            </a:pPr>
            <a:r>
              <a:rPr sz="1200">
                <a:solidFill>
                  <a:srgbClr val="1F2533"/>
                </a:solidFill>
                <a:latin typeface="Calibri"/>
              </a:rPr>
              <a:t>•  Anovulation / delayed ovulation</a:t>
            </a:r>
          </a:p>
          <a:p>
            <a:pPr>
              <a:spcAft>
                <a:spcPts val="400"/>
              </a:spcAft>
            </a:pPr>
            <a:r>
              <a:rPr sz="1200">
                <a:solidFill>
                  <a:srgbClr val="1F2533"/>
                </a:solidFill>
                <a:latin typeface="Calibri"/>
              </a:rPr>
              <a:t>•  Tract obstruction</a:t>
            </a:r>
          </a:p>
          <a:p>
            <a:pPr>
              <a:spcAft>
                <a:spcPts val="400"/>
              </a:spcAft>
            </a:pPr>
            <a:r>
              <a:rPr sz="1200">
                <a:solidFill>
                  <a:srgbClr val="1F2533"/>
                </a:solidFill>
                <a:latin typeface="Calibri"/>
              </a:rPr>
              <a:t>•  Anti-sperm antibodies</a:t>
            </a:r>
          </a:p>
        </p:txBody>
      </p:sp>
      <p:sp>
        <p:nvSpPr>
          <p:cNvPr id="13" name="Rectangle 12"/>
          <p:cNvSpPr/>
          <p:nvPr/>
        </p:nvSpPr>
        <p:spPr>
          <a:xfrm>
            <a:off x="3703320" y="1737360"/>
            <a:ext cx="2697480" cy="429768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0" y="1691640"/>
            <a:ext cx="2697480" cy="50292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2. Early Embryonic Death</a:t>
            </a:r>
          </a:p>
        </p:txBody>
      </p:sp>
      <p:sp>
        <p:nvSpPr>
          <p:cNvPr id="15" name="Rectangle 14"/>
          <p:cNvSpPr/>
          <p:nvPr/>
        </p:nvSpPr>
        <p:spPr>
          <a:xfrm>
            <a:off x="3657600" y="2194560"/>
            <a:ext cx="2697480" cy="3794760"/>
          </a:xfrm>
          <a:prstGeom prst="rect">
            <a:avLst/>
          </a:prstGeom>
          <a:solidFill>
            <a:srgbClr val="FFFFFF"/>
          </a:solidFill>
          <a:ln w="952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Hormonal imbalance</a:t>
            </a:r>
          </a:p>
          <a:p>
            <a:pPr>
              <a:spcAft>
                <a:spcPts val="400"/>
              </a:spcAft>
            </a:pPr>
            <a:r>
              <a:rPr sz="1200">
                <a:solidFill>
                  <a:srgbClr val="1F2533"/>
                </a:solidFill>
                <a:latin typeface="Calibri"/>
              </a:rPr>
              <a:t>•  Uterine infections</a:t>
            </a:r>
          </a:p>
          <a:p>
            <a:pPr>
              <a:spcAft>
                <a:spcPts val="400"/>
              </a:spcAft>
            </a:pPr>
            <a:r>
              <a:rPr sz="1200">
                <a:solidFill>
                  <a:srgbClr val="1F2533"/>
                </a:solidFill>
                <a:latin typeface="Calibri"/>
              </a:rPr>
              <a:t>•  Heat stress</a:t>
            </a:r>
          </a:p>
          <a:p>
            <a:pPr>
              <a:spcAft>
                <a:spcPts val="400"/>
              </a:spcAft>
            </a:pPr>
            <a:r>
              <a:rPr sz="1200">
                <a:solidFill>
                  <a:srgbClr val="1F2533"/>
                </a:solidFill>
                <a:latin typeface="Calibri"/>
              </a:rPr>
              <a:t>•  Chromosomal defects</a:t>
            </a:r>
          </a:p>
          <a:p>
            <a:pPr>
              <a:spcAft>
                <a:spcPts val="400"/>
              </a:spcAft>
            </a:pPr>
            <a:r>
              <a:rPr sz="1200">
                <a:solidFill>
                  <a:srgbClr val="1F2533"/>
                </a:solidFill>
                <a:latin typeface="Calibri"/>
              </a:rPr>
              <a:t>•  Nutritional deficiency</a:t>
            </a:r>
          </a:p>
        </p:txBody>
      </p:sp>
      <p:sp>
        <p:nvSpPr>
          <p:cNvPr id="16" name="Rectangle 15"/>
          <p:cNvSpPr/>
          <p:nvPr/>
        </p:nvSpPr>
        <p:spPr>
          <a:xfrm>
            <a:off x="6583680" y="1737360"/>
            <a:ext cx="2697480" cy="429768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37960" y="1691640"/>
            <a:ext cx="269748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3. Management Errors</a:t>
            </a:r>
          </a:p>
        </p:txBody>
      </p:sp>
      <p:sp>
        <p:nvSpPr>
          <p:cNvPr id="18" name="Rectangle 17"/>
          <p:cNvSpPr/>
          <p:nvPr/>
        </p:nvSpPr>
        <p:spPr>
          <a:xfrm>
            <a:off x="6537960" y="2194560"/>
            <a:ext cx="2697480" cy="3794760"/>
          </a:xfrm>
          <a:prstGeom prst="rect">
            <a:avLst/>
          </a:prstGeom>
          <a:solidFill>
            <a:srgbClr val="FFFFFF"/>
          </a:solidFill>
          <a:ln w="9525">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Missed / mis-detected oestrus</a:t>
            </a:r>
          </a:p>
          <a:p>
            <a:pPr>
              <a:spcAft>
                <a:spcPts val="400"/>
              </a:spcAft>
            </a:pPr>
            <a:r>
              <a:rPr sz="1200">
                <a:solidFill>
                  <a:srgbClr val="1F2533"/>
                </a:solidFill>
                <a:latin typeface="Calibri"/>
              </a:rPr>
              <a:t>•  Wrong AI technique</a:t>
            </a:r>
          </a:p>
          <a:p>
            <a:pPr>
              <a:spcAft>
                <a:spcPts val="400"/>
              </a:spcAft>
            </a:pPr>
            <a:r>
              <a:rPr sz="1200">
                <a:solidFill>
                  <a:srgbClr val="1F2533"/>
                </a:solidFill>
                <a:latin typeface="Calibri"/>
              </a:rPr>
              <a:t>•  Faulty semen handling</a:t>
            </a:r>
          </a:p>
          <a:p>
            <a:pPr>
              <a:spcAft>
                <a:spcPts val="400"/>
              </a:spcAft>
            </a:pPr>
            <a:r>
              <a:rPr sz="1200">
                <a:solidFill>
                  <a:srgbClr val="1F2533"/>
                </a:solidFill>
                <a:latin typeface="Calibri"/>
              </a:rPr>
              <a:t>•  Inadequate records</a:t>
            </a:r>
          </a:p>
          <a:p>
            <a:pPr>
              <a:spcAft>
                <a:spcPts val="400"/>
              </a:spcAft>
            </a:pPr>
            <a:r>
              <a:rPr sz="1200">
                <a:solidFill>
                  <a:srgbClr val="1F2533"/>
                </a:solidFill>
                <a:latin typeface="Calibri"/>
              </a:rPr>
              <a:t>•  Stress at AI</a:t>
            </a:r>
          </a:p>
        </p:txBody>
      </p:sp>
      <p:sp>
        <p:nvSpPr>
          <p:cNvPr id="19" name="Rectangle 18"/>
          <p:cNvSpPr/>
          <p:nvPr/>
        </p:nvSpPr>
        <p:spPr>
          <a:xfrm>
            <a:off x="9464040" y="1737360"/>
            <a:ext cx="2377440" cy="429768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418320" y="1691640"/>
            <a:ext cx="2377440" cy="50292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4. Genetic / Other</a:t>
            </a:r>
          </a:p>
        </p:txBody>
      </p:sp>
      <p:sp>
        <p:nvSpPr>
          <p:cNvPr id="21" name="Rectangle 20"/>
          <p:cNvSpPr/>
          <p:nvPr/>
        </p:nvSpPr>
        <p:spPr>
          <a:xfrm>
            <a:off x="9418320" y="2194560"/>
            <a:ext cx="2377440" cy="3794760"/>
          </a:xfrm>
          <a:prstGeom prst="rect">
            <a:avLst/>
          </a:prstGeom>
          <a:solidFill>
            <a:srgbClr val="FFFFFF"/>
          </a:solidFill>
          <a:ln w="9525">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Inbreeding</a:t>
            </a:r>
          </a:p>
          <a:p>
            <a:pPr>
              <a:spcAft>
                <a:spcPts val="400"/>
              </a:spcAft>
            </a:pPr>
            <a:r>
              <a:rPr sz="1200">
                <a:solidFill>
                  <a:srgbClr val="1F2533"/>
                </a:solidFill>
                <a:latin typeface="Calibri"/>
              </a:rPr>
              <a:t>•  Lethal genes</a:t>
            </a:r>
          </a:p>
          <a:p>
            <a:pPr>
              <a:spcAft>
                <a:spcPts val="400"/>
              </a:spcAft>
            </a:pPr>
            <a:r>
              <a:rPr sz="1200">
                <a:solidFill>
                  <a:srgbClr val="1F2533"/>
                </a:solidFill>
                <a:latin typeface="Calibri"/>
              </a:rPr>
              <a:t>•  Freemartinism</a:t>
            </a:r>
          </a:p>
          <a:p>
            <a:pPr>
              <a:spcAft>
                <a:spcPts val="400"/>
              </a:spcAft>
            </a:pPr>
            <a:r>
              <a:rPr sz="1200">
                <a:solidFill>
                  <a:srgbClr val="1F2533"/>
                </a:solidFill>
                <a:latin typeface="Calibri"/>
              </a:rPr>
              <a:t>•  White heifer disease</a:t>
            </a:r>
          </a:p>
          <a:p>
            <a:pPr>
              <a:spcAft>
                <a:spcPts val="400"/>
              </a:spcAft>
            </a:pPr>
            <a:r>
              <a:rPr sz="1200">
                <a:solidFill>
                  <a:srgbClr val="1F2533"/>
                </a:solidFill>
                <a:latin typeface="Calibri"/>
              </a:rPr>
              <a:t>•  Age &amp; parity</a:t>
            </a:r>
          </a:p>
        </p:txBody>
      </p:sp>
      <p:sp>
        <p:nvSpPr>
          <p:cNvPr id="22" name="Rounded Rectangle 21"/>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Roughly 60 % of repeat breeding is due to fertilization failure or early embryonic death.</a:t>
            </a:r>
          </a:p>
        </p:txBody>
      </p:sp>
      <p:sp>
        <p:nvSpPr>
          <p:cNvPr id="23" name="Rectangle 22"/>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5" name="TextBox 24"/>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8 of 24</a:t>
            </a:r>
          </a:p>
        </p:txBody>
      </p:sp>
      <p:sp>
        <p:nvSpPr>
          <p:cNvPr id="26" name="Rectangle 25"/>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Infectious &amp; Genital Tract Causes</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09</a:t>
            </a:r>
          </a:p>
        </p:txBody>
      </p:sp>
      <p:sp>
        <p:nvSpPr>
          <p:cNvPr id="9" name="TextBox 8"/>
          <p:cNvSpPr txBox="1"/>
          <p:nvPr/>
        </p:nvSpPr>
        <p:spPr>
          <a:xfrm>
            <a:off x="777240" y="1691640"/>
            <a:ext cx="10972800" cy="4572000"/>
          </a:xfrm>
          <a:prstGeom prst="rect">
            <a:avLst/>
          </a:prstGeom>
          <a:noFill/>
        </p:spPr>
        <p:txBody>
          <a:bodyPr wrap="square" lIns="0" rIns="0">
            <a:spAutoFit/>
          </a:bodyPr>
          <a:lstStyle/>
          <a:p>
            <a:pPr>
              <a:spcAft>
                <a:spcPts val="600"/>
              </a:spcAft>
            </a:pPr>
            <a:r>
              <a:rPr sz="1500">
                <a:solidFill>
                  <a:srgbClr val="1F2533"/>
                </a:solidFill>
                <a:latin typeface="Calibri"/>
              </a:rPr>
              <a:t>▸  Subclinical / chronic endometritis — most common cause (40–60 %).</a:t>
            </a:r>
          </a:p>
          <a:p>
            <a:pPr>
              <a:spcAft>
                <a:spcPts val="600"/>
              </a:spcAft>
            </a:pPr>
            <a:r>
              <a:rPr sz="1500">
                <a:solidFill>
                  <a:srgbClr val="1F2533"/>
                </a:solidFill>
                <a:latin typeface="Calibri"/>
              </a:rPr>
              <a:t>▸  Specific infections:</a:t>
            </a:r>
          </a:p>
          <a:p>
            <a:pPr lvl="1">
              <a:spcAft>
                <a:spcPts val="600"/>
              </a:spcAft>
            </a:pPr>
            <a:r>
              <a:rPr sz="1300">
                <a:solidFill>
                  <a:srgbClr val="1F2533"/>
                </a:solidFill>
                <a:latin typeface="Calibri"/>
              </a:rPr>
              <a:t>•  Brucellosis (Brucella abortus)</a:t>
            </a:r>
          </a:p>
          <a:p>
            <a:pPr lvl="1">
              <a:spcAft>
                <a:spcPts val="600"/>
              </a:spcAft>
            </a:pPr>
            <a:r>
              <a:rPr sz="1300">
                <a:solidFill>
                  <a:srgbClr val="1F2533"/>
                </a:solidFill>
                <a:latin typeface="Calibri"/>
              </a:rPr>
              <a:t>•  Trichomoniasis (Tritrichomonas foetus)</a:t>
            </a:r>
          </a:p>
          <a:p>
            <a:pPr lvl="1">
              <a:spcAft>
                <a:spcPts val="600"/>
              </a:spcAft>
            </a:pPr>
            <a:r>
              <a:rPr sz="1300">
                <a:solidFill>
                  <a:srgbClr val="1F2533"/>
                </a:solidFill>
                <a:latin typeface="Calibri"/>
              </a:rPr>
              <a:t>•  Vibriosis / Campylobacteriosis (Campylobacter fetus)</a:t>
            </a:r>
          </a:p>
          <a:p>
            <a:pPr lvl="1">
              <a:spcAft>
                <a:spcPts val="600"/>
              </a:spcAft>
            </a:pPr>
            <a:r>
              <a:rPr sz="1300">
                <a:solidFill>
                  <a:srgbClr val="1F2533"/>
                </a:solidFill>
                <a:latin typeface="Calibri"/>
              </a:rPr>
              <a:t>•  IBR–IPV (Bovine Herpesvirus-1)</a:t>
            </a:r>
          </a:p>
          <a:p>
            <a:pPr lvl="1">
              <a:spcAft>
                <a:spcPts val="600"/>
              </a:spcAft>
            </a:pPr>
            <a:r>
              <a:rPr sz="1300">
                <a:solidFill>
                  <a:srgbClr val="1F2533"/>
                </a:solidFill>
                <a:latin typeface="Calibri"/>
              </a:rPr>
              <a:t>•  BVD (Bovine Viral Diarrhoea virus)</a:t>
            </a:r>
          </a:p>
          <a:p>
            <a:pPr lvl="1">
              <a:spcAft>
                <a:spcPts val="600"/>
              </a:spcAft>
            </a:pPr>
            <a:r>
              <a:rPr sz="1300">
                <a:solidFill>
                  <a:srgbClr val="1F2533"/>
                </a:solidFill>
                <a:latin typeface="Calibri"/>
              </a:rPr>
              <a:t>•  Leptospirosis, Mycoplasma, Ureaplasma spp.</a:t>
            </a:r>
          </a:p>
          <a:p>
            <a:pPr>
              <a:spcAft>
                <a:spcPts val="600"/>
              </a:spcAft>
            </a:pPr>
            <a:r>
              <a:rPr sz="1500">
                <a:solidFill>
                  <a:srgbClr val="1F2533"/>
                </a:solidFill>
                <a:latin typeface="Calibri"/>
              </a:rPr>
              <a:t>▸  Anatomical defects — cervical stenosis, persistent hymen, segmental aplasia.</a:t>
            </a:r>
          </a:p>
          <a:p>
            <a:pPr>
              <a:spcAft>
                <a:spcPts val="600"/>
              </a:spcAft>
            </a:pPr>
            <a:r>
              <a:rPr sz="1500">
                <a:solidFill>
                  <a:srgbClr val="1F2533"/>
                </a:solidFill>
                <a:latin typeface="Calibri"/>
              </a:rPr>
              <a:t>▸  Cystic ovarian disease (follicular &amp; luteal cysts).</a:t>
            </a:r>
          </a:p>
          <a:p>
            <a:pPr>
              <a:spcAft>
                <a:spcPts val="600"/>
              </a:spcAft>
            </a:pPr>
            <a:r>
              <a:rPr sz="1500">
                <a:solidFill>
                  <a:srgbClr val="1F2533"/>
                </a:solidFill>
                <a:latin typeface="Calibri"/>
              </a:rPr>
              <a:t>▸  Salpingitis &amp; hydrosalpinx — block fertilization.</a:t>
            </a:r>
          </a:p>
        </p:txBody>
      </p:sp>
      <p:sp>
        <p:nvSpPr>
          <p:cNvPr id="10" name="Rounded Rectangle 9"/>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Always rule out subclinical endometritis before any hormonal therapy.</a:t>
            </a:r>
          </a:p>
        </p:txBody>
      </p:sp>
      <p:sp>
        <p:nvSpPr>
          <p:cNvPr id="11" name="Rectangle 10"/>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3" name="TextBox 12"/>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9 of 24</a:t>
            </a:r>
          </a:p>
        </p:txBody>
      </p:sp>
      <p:sp>
        <p:nvSpPr>
          <p:cNvPr id="14" name="Rectangle 13"/>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Nutritional &amp; Metabolic Causes</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10</a:t>
            </a:r>
          </a:p>
        </p:txBody>
      </p:sp>
      <p:sp>
        <p:nvSpPr>
          <p:cNvPr id="9" name="TextBox 8"/>
          <p:cNvSpPr txBox="1"/>
          <p:nvPr/>
        </p:nvSpPr>
        <p:spPr>
          <a:xfrm>
            <a:off x="777240" y="1691640"/>
            <a:ext cx="10972800" cy="4572000"/>
          </a:xfrm>
          <a:prstGeom prst="rect">
            <a:avLst/>
          </a:prstGeom>
          <a:noFill/>
        </p:spPr>
        <p:txBody>
          <a:bodyPr wrap="square" lIns="0" rIns="0">
            <a:spAutoFit/>
          </a:bodyPr>
          <a:lstStyle/>
          <a:p>
            <a:pPr>
              <a:spcAft>
                <a:spcPts val="600"/>
              </a:spcAft>
            </a:pPr>
            <a:r>
              <a:rPr sz="1500">
                <a:solidFill>
                  <a:srgbClr val="1F2533"/>
                </a:solidFill>
                <a:latin typeface="Calibri"/>
              </a:rPr>
              <a:t>▸  Negative energy balance in early lactation → delayed cyclicity &amp; poor embryo quality.</a:t>
            </a:r>
          </a:p>
          <a:p>
            <a:pPr>
              <a:spcAft>
                <a:spcPts val="600"/>
              </a:spcAft>
            </a:pPr>
            <a:r>
              <a:rPr sz="1500">
                <a:solidFill>
                  <a:srgbClr val="1F2533"/>
                </a:solidFill>
                <a:latin typeface="Calibri"/>
              </a:rPr>
              <a:t>▸  Excess dietary protein → high blood urea N (&gt;20 mg/dL) is embryotoxic.</a:t>
            </a:r>
          </a:p>
          <a:p>
            <a:pPr>
              <a:spcAft>
                <a:spcPts val="600"/>
              </a:spcAft>
            </a:pPr>
            <a:r>
              <a:rPr sz="1500">
                <a:solidFill>
                  <a:srgbClr val="1F2533"/>
                </a:solidFill>
                <a:latin typeface="Calibri"/>
              </a:rPr>
              <a:t>▸  Mineral &amp; trace-element deficiencies:</a:t>
            </a:r>
          </a:p>
          <a:p>
            <a:pPr lvl="1">
              <a:spcAft>
                <a:spcPts val="600"/>
              </a:spcAft>
            </a:pPr>
            <a:r>
              <a:rPr sz="1300">
                <a:solidFill>
                  <a:srgbClr val="1F2533"/>
                </a:solidFill>
                <a:latin typeface="Calibri"/>
              </a:rPr>
              <a:t>•  Phosphorus, Calcium — anoestrus, weak heat</a:t>
            </a:r>
          </a:p>
          <a:p>
            <a:pPr lvl="1">
              <a:spcAft>
                <a:spcPts val="600"/>
              </a:spcAft>
            </a:pPr>
            <a:r>
              <a:rPr sz="1300">
                <a:solidFill>
                  <a:srgbClr val="1F2533"/>
                </a:solidFill>
                <a:latin typeface="Calibri"/>
              </a:rPr>
              <a:t>•  Copper, Cobalt, Zinc, Manganese — silent heat, low conception</a:t>
            </a:r>
          </a:p>
          <a:p>
            <a:pPr lvl="1">
              <a:spcAft>
                <a:spcPts val="600"/>
              </a:spcAft>
            </a:pPr>
            <a:r>
              <a:rPr sz="1300">
                <a:solidFill>
                  <a:srgbClr val="1F2533"/>
                </a:solidFill>
                <a:latin typeface="Calibri"/>
              </a:rPr>
              <a:t>•  Selenium / Vitamin E — early embryonic death, retained placenta</a:t>
            </a:r>
          </a:p>
          <a:p>
            <a:pPr lvl="1">
              <a:spcAft>
                <a:spcPts val="600"/>
              </a:spcAft>
            </a:pPr>
            <a:r>
              <a:rPr sz="1300">
                <a:solidFill>
                  <a:srgbClr val="1F2533"/>
                </a:solidFill>
                <a:latin typeface="Calibri"/>
              </a:rPr>
              <a:t>•  Iodine — irregular cycles</a:t>
            </a:r>
          </a:p>
          <a:p>
            <a:pPr lvl="1">
              <a:spcAft>
                <a:spcPts val="600"/>
              </a:spcAft>
            </a:pPr>
            <a:r>
              <a:rPr sz="1300">
                <a:solidFill>
                  <a:srgbClr val="1F2533"/>
                </a:solidFill>
                <a:latin typeface="Calibri"/>
              </a:rPr>
              <a:t>•  Vitamin A, D, E — endometrial &amp; embryo defects</a:t>
            </a:r>
          </a:p>
          <a:p>
            <a:pPr>
              <a:spcAft>
                <a:spcPts val="600"/>
              </a:spcAft>
            </a:pPr>
            <a:r>
              <a:rPr sz="1500">
                <a:solidFill>
                  <a:srgbClr val="1F2533"/>
                </a:solidFill>
                <a:latin typeface="Calibri"/>
              </a:rPr>
              <a:t>▸  Mycotoxins (zearalenone, aflatoxin) → ovarian &amp; embryonic disturbance.</a:t>
            </a:r>
          </a:p>
          <a:p>
            <a:pPr>
              <a:spcAft>
                <a:spcPts val="600"/>
              </a:spcAft>
            </a:pPr>
            <a:r>
              <a:rPr sz="1500">
                <a:solidFill>
                  <a:srgbClr val="1F2533"/>
                </a:solidFill>
                <a:latin typeface="Calibri"/>
              </a:rPr>
              <a:t>▸  Body Condition Score &lt; 2.5 or &gt; 4 at AI is strongly linked to repeat breeding.</a:t>
            </a:r>
          </a:p>
        </p:txBody>
      </p:sp>
      <p:sp>
        <p:nvSpPr>
          <p:cNvPr id="10" name="Rounded Rectangle 9"/>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Aim for BCS 3.0–3.5 at AI; correct minerals 30–45 days before breeding.</a:t>
            </a:r>
          </a:p>
        </p:txBody>
      </p:sp>
      <p:sp>
        <p:nvSpPr>
          <p:cNvPr id="11" name="Rectangle 10"/>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3" name="TextBox 12"/>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10 of 24</a:t>
            </a:r>
          </a:p>
        </p:txBody>
      </p:sp>
      <p:sp>
        <p:nvSpPr>
          <p:cNvPr id="14" name="Rectangle 13"/>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Hormonal &amp; Endocrine Causes</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11</a:t>
            </a:r>
          </a:p>
        </p:txBody>
      </p:sp>
      <p:sp>
        <p:nvSpPr>
          <p:cNvPr id="9" name="TextBox 8"/>
          <p:cNvSpPr txBox="1"/>
          <p:nvPr/>
        </p:nvSpPr>
        <p:spPr>
          <a:xfrm>
            <a:off x="777240" y="1691640"/>
            <a:ext cx="10972800" cy="4572000"/>
          </a:xfrm>
          <a:prstGeom prst="rect">
            <a:avLst/>
          </a:prstGeom>
          <a:noFill/>
        </p:spPr>
        <p:txBody>
          <a:bodyPr wrap="square" lIns="0" rIns="0">
            <a:spAutoFit/>
          </a:bodyPr>
          <a:lstStyle/>
          <a:p>
            <a:pPr>
              <a:spcAft>
                <a:spcPts val="600"/>
              </a:spcAft>
            </a:pPr>
            <a:r>
              <a:rPr sz="1700">
                <a:solidFill>
                  <a:srgbClr val="1F2533"/>
                </a:solidFill>
                <a:latin typeface="Calibri"/>
              </a:rPr>
              <a:t>▸  Inadequate pre-ovulatory LH surge → delayed or failed ovulation.</a:t>
            </a:r>
          </a:p>
          <a:p>
            <a:pPr>
              <a:spcAft>
                <a:spcPts val="600"/>
              </a:spcAft>
            </a:pPr>
            <a:r>
              <a:rPr sz="1700">
                <a:solidFill>
                  <a:srgbClr val="1F2533"/>
                </a:solidFill>
                <a:latin typeface="Calibri"/>
              </a:rPr>
              <a:t>▸  Sub-luteal progesterone (&lt; 1 ng/mL after Day-5) → embryonic loss.</a:t>
            </a:r>
          </a:p>
          <a:p>
            <a:pPr>
              <a:spcAft>
                <a:spcPts val="600"/>
              </a:spcAft>
            </a:pPr>
            <a:r>
              <a:rPr sz="1700">
                <a:solidFill>
                  <a:srgbClr val="1F2533"/>
                </a:solidFill>
                <a:latin typeface="Calibri"/>
              </a:rPr>
              <a:t>▸  Persistent corpus luteum (CL) — pseudo-pregnancy effect.</a:t>
            </a:r>
          </a:p>
          <a:p>
            <a:pPr>
              <a:spcAft>
                <a:spcPts val="600"/>
              </a:spcAft>
            </a:pPr>
            <a:r>
              <a:rPr sz="1700">
                <a:solidFill>
                  <a:srgbClr val="1F2533"/>
                </a:solidFill>
                <a:latin typeface="Calibri"/>
              </a:rPr>
              <a:t>▸  Hyper-prolactinaemia &amp; thyroid dysfunction.</a:t>
            </a:r>
          </a:p>
          <a:p>
            <a:pPr>
              <a:spcAft>
                <a:spcPts val="600"/>
              </a:spcAft>
            </a:pPr>
            <a:r>
              <a:rPr sz="1700">
                <a:solidFill>
                  <a:srgbClr val="1F2533"/>
                </a:solidFill>
                <a:latin typeface="Calibri"/>
              </a:rPr>
              <a:t>▸  Premature luteolysis — failure of maternal recognition (low Interferon-τ).</a:t>
            </a:r>
          </a:p>
          <a:p>
            <a:pPr>
              <a:spcAft>
                <a:spcPts val="600"/>
              </a:spcAft>
            </a:pPr>
            <a:r>
              <a:rPr sz="1700">
                <a:solidFill>
                  <a:srgbClr val="1F2533"/>
                </a:solidFill>
                <a:latin typeface="Calibri"/>
              </a:rPr>
              <a:t>▸  Stress-induced cortisol rise → suppression of GnRH / LH.</a:t>
            </a:r>
          </a:p>
          <a:p>
            <a:pPr>
              <a:spcAft>
                <a:spcPts val="600"/>
              </a:spcAft>
            </a:pPr>
            <a:r>
              <a:rPr sz="1700">
                <a:solidFill>
                  <a:srgbClr val="1F2533"/>
                </a:solidFill>
                <a:latin typeface="Calibri"/>
              </a:rPr>
              <a:t>▸  Heat stress in summer — reduced oestradiol, weak signs of oestrus, poor oocyte quality.</a:t>
            </a:r>
          </a:p>
        </p:txBody>
      </p:sp>
      <p:sp>
        <p:nvSpPr>
          <p:cNvPr id="10" name="Rounded Rectangle 9"/>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Day-7 progesterone &lt; 4 ng/mL is a strong predictor of embryonic loss in repeat breeders.</a:t>
            </a:r>
          </a:p>
        </p:txBody>
      </p:sp>
      <p:sp>
        <p:nvSpPr>
          <p:cNvPr id="11" name="Rectangle 10"/>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3" name="TextBox 12"/>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11 of 24</a:t>
            </a:r>
          </a:p>
        </p:txBody>
      </p:sp>
      <p:sp>
        <p:nvSpPr>
          <p:cNvPr id="14" name="Rectangle 13"/>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Management &amp; Inseminator-Related Causes</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12</a:t>
            </a:r>
          </a:p>
        </p:txBody>
      </p:sp>
      <p:sp>
        <p:nvSpPr>
          <p:cNvPr id="9" name="TextBox 8"/>
          <p:cNvSpPr txBox="1"/>
          <p:nvPr/>
        </p:nvSpPr>
        <p:spPr>
          <a:xfrm>
            <a:off x="777240" y="1691640"/>
            <a:ext cx="10972800" cy="4572000"/>
          </a:xfrm>
          <a:prstGeom prst="rect">
            <a:avLst/>
          </a:prstGeom>
          <a:noFill/>
        </p:spPr>
        <p:txBody>
          <a:bodyPr wrap="square" lIns="0" rIns="0">
            <a:spAutoFit/>
          </a:bodyPr>
          <a:lstStyle/>
          <a:p>
            <a:pPr>
              <a:spcAft>
                <a:spcPts val="600"/>
              </a:spcAft>
            </a:pPr>
            <a:r>
              <a:rPr sz="1700">
                <a:solidFill>
                  <a:srgbClr val="1F2533"/>
                </a:solidFill>
                <a:latin typeface="Calibri"/>
              </a:rPr>
              <a:t>▸  Improper heat detection — single twice-daily check misses 25–50 % of heats.</a:t>
            </a:r>
          </a:p>
          <a:p>
            <a:pPr>
              <a:spcAft>
                <a:spcPts val="600"/>
              </a:spcAft>
            </a:pPr>
            <a:r>
              <a:rPr sz="1700">
                <a:solidFill>
                  <a:srgbClr val="1F2533"/>
                </a:solidFill>
                <a:latin typeface="Calibri"/>
              </a:rPr>
              <a:t>▸  Wrong time of AI — outside the optimum window (mid- to late-oestrus).</a:t>
            </a:r>
          </a:p>
          <a:p>
            <a:pPr>
              <a:spcAft>
                <a:spcPts val="600"/>
              </a:spcAft>
            </a:pPr>
            <a:r>
              <a:rPr sz="1700">
                <a:solidFill>
                  <a:srgbClr val="1F2533"/>
                </a:solidFill>
                <a:latin typeface="Calibri"/>
              </a:rPr>
              <a:t>▸  Faulty semen thawing (water temperature, time) and storage practice.</a:t>
            </a:r>
          </a:p>
          <a:p>
            <a:pPr>
              <a:spcAft>
                <a:spcPts val="600"/>
              </a:spcAft>
            </a:pPr>
            <a:r>
              <a:rPr sz="1700">
                <a:solidFill>
                  <a:srgbClr val="1F2533"/>
                </a:solidFill>
                <a:latin typeface="Calibri"/>
              </a:rPr>
              <a:t>▸  Repeated use of same sub-fertile bull / semen batch.</a:t>
            </a:r>
          </a:p>
          <a:p>
            <a:pPr>
              <a:spcAft>
                <a:spcPts val="600"/>
              </a:spcAft>
            </a:pPr>
            <a:r>
              <a:rPr sz="1700">
                <a:solidFill>
                  <a:srgbClr val="1F2533"/>
                </a:solidFill>
                <a:latin typeface="Calibri"/>
              </a:rPr>
              <a:t>▸  Trauma to cervix or uterus during AI; deep-horn deposition errors.</a:t>
            </a:r>
          </a:p>
          <a:p>
            <a:pPr>
              <a:spcAft>
                <a:spcPts val="600"/>
              </a:spcAft>
            </a:pPr>
            <a:r>
              <a:rPr sz="1700">
                <a:solidFill>
                  <a:srgbClr val="1F2533"/>
                </a:solidFill>
                <a:latin typeface="Calibri"/>
              </a:rPr>
              <a:t>▸  Hygiene lapses → introduction of pathogens at the time of AI.</a:t>
            </a:r>
          </a:p>
          <a:p>
            <a:pPr>
              <a:spcAft>
                <a:spcPts val="600"/>
              </a:spcAft>
            </a:pPr>
            <a:r>
              <a:rPr sz="1700">
                <a:solidFill>
                  <a:srgbClr val="1F2533"/>
                </a:solidFill>
                <a:latin typeface="Calibri"/>
              </a:rPr>
              <a:t>▸  Lack of accurate breeding records and follow-up.</a:t>
            </a:r>
          </a:p>
        </p:txBody>
      </p:sp>
      <p:sp>
        <p:nvSpPr>
          <p:cNvPr id="10" name="Rounded Rectangle 9"/>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Up to 40 % of 'repeat breeders' are simply mis-timed AI — fix detection first.</a:t>
            </a:r>
          </a:p>
        </p:txBody>
      </p:sp>
      <p:sp>
        <p:nvSpPr>
          <p:cNvPr id="11" name="Rectangle 10"/>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3" name="TextBox 12"/>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12 of 24</a:t>
            </a:r>
          </a:p>
        </p:txBody>
      </p:sp>
      <p:sp>
        <p:nvSpPr>
          <p:cNvPr id="14" name="Rectangle 13"/>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Pathophysiology — Where Things Go Wrong</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13</a:t>
            </a:r>
          </a:p>
        </p:txBody>
      </p:sp>
      <p:sp>
        <p:nvSpPr>
          <p:cNvPr id="9" name="Rounded Rectangle 8"/>
          <p:cNvSpPr/>
          <p:nvPr/>
        </p:nvSpPr>
        <p:spPr>
          <a:xfrm>
            <a:off x="640080" y="1965960"/>
            <a:ext cx="1783080" cy="914400"/>
          </a:xfrm>
          <a:prstGeom prst="round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300" b="1">
                <a:solidFill>
                  <a:srgbClr val="FFFFFF"/>
                </a:solidFill>
                <a:latin typeface="Calibri"/>
              </a:rPr>
              <a:t>Oestrus &amp;
Ovulation</a:t>
            </a:r>
          </a:p>
        </p:txBody>
      </p:sp>
      <p:sp>
        <p:nvSpPr>
          <p:cNvPr id="10" name="Rounded Rectangle 9"/>
          <p:cNvSpPr/>
          <p:nvPr/>
        </p:nvSpPr>
        <p:spPr>
          <a:xfrm>
            <a:off x="2487168" y="1965960"/>
            <a:ext cx="1783080" cy="914400"/>
          </a:xfrm>
          <a:prstGeom prst="round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300" b="1">
                <a:solidFill>
                  <a:srgbClr val="FFFFFF"/>
                </a:solidFill>
                <a:latin typeface="Calibri"/>
              </a:rPr>
              <a:t>Sperm
Transport</a:t>
            </a:r>
          </a:p>
        </p:txBody>
      </p:sp>
      <p:sp>
        <p:nvSpPr>
          <p:cNvPr id="11" name="Rounded Rectangle 10"/>
          <p:cNvSpPr/>
          <p:nvPr/>
        </p:nvSpPr>
        <p:spPr>
          <a:xfrm>
            <a:off x="4334256" y="1965960"/>
            <a:ext cx="1783080" cy="914400"/>
          </a:xfrm>
          <a:prstGeom prst="round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300" b="1">
                <a:solidFill>
                  <a:srgbClr val="FFFFFF"/>
                </a:solidFill>
                <a:latin typeface="Calibri"/>
              </a:rPr>
              <a:t>Fertilization</a:t>
            </a:r>
          </a:p>
        </p:txBody>
      </p:sp>
      <p:sp>
        <p:nvSpPr>
          <p:cNvPr id="12" name="Rounded Rectangle 11"/>
          <p:cNvSpPr/>
          <p:nvPr/>
        </p:nvSpPr>
        <p:spPr>
          <a:xfrm>
            <a:off x="6181344" y="1965960"/>
            <a:ext cx="1783080" cy="914400"/>
          </a:xfrm>
          <a:prstGeom prst="round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300" b="1">
                <a:solidFill>
                  <a:srgbClr val="FFFFFF"/>
                </a:solidFill>
                <a:latin typeface="Calibri"/>
              </a:rPr>
              <a:t>Embryo
Development</a:t>
            </a:r>
          </a:p>
        </p:txBody>
      </p:sp>
      <p:sp>
        <p:nvSpPr>
          <p:cNvPr id="13" name="Rounded Rectangle 12"/>
          <p:cNvSpPr/>
          <p:nvPr/>
        </p:nvSpPr>
        <p:spPr>
          <a:xfrm>
            <a:off x="8028432" y="1965960"/>
            <a:ext cx="1783080" cy="914400"/>
          </a:xfrm>
          <a:prstGeom prst="round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300" b="1">
                <a:solidFill>
                  <a:srgbClr val="FFFFFF"/>
                </a:solidFill>
                <a:latin typeface="Calibri"/>
              </a:rPr>
              <a:t>Maternal
Recognition</a:t>
            </a:r>
          </a:p>
        </p:txBody>
      </p:sp>
      <p:sp>
        <p:nvSpPr>
          <p:cNvPr id="14" name="Rounded Rectangle 13"/>
          <p:cNvSpPr/>
          <p:nvPr/>
        </p:nvSpPr>
        <p:spPr>
          <a:xfrm>
            <a:off x="9875520" y="1965960"/>
            <a:ext cx="1783080" cy="914400"/>
          </a:xfrm>
          <a:prstGeom prst="round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r>
              <a:rPr sz="1300" b="1">
                <a:solidFill>
                  <a:srgbClr val="FFFFFF"/>
                </a:solidFill>
                <a:latin typeface="Calibri"/>
              </a:rPr>
              <a:t>Pregnancy</a:t>
            </a:r>
          </a:p>
        </p:txBody>
      </p:sp>
      <p:sp>
        <p:nvSpPr>
          <p:cNvPr id="15" name="Right Arrow 14"/>
          <p:cNvSpPr/>
          <p:nvPr/>
        </p:nvSpPr>
        <p:spPr>
          <a:xfrm>
            <a:off x="2404872" y="2350008"/>
            <a:ext cx="118872" cy="164592"/>
          </a:xfrm>
          <a:prstGeom prst="rightArrow">
            <a:avLst/>
          </a:prstGeom>
          <a:solidFill>
            <a:srgbClr val="1F2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4251960" y="2350008"/>
            <a:ext cx="118872" cy="164592"/>
          </a:xfrm>
          <a:prstGeom prst="rightArrow">
            <a:avLst/>
          </a:prstGeom>
          <a:solidFill>
            <a:srgbClr val="1F2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6099048" y="2350008"/>
            <a:ext cx="118872" cy="164592"/>
          </a:xfrm>
          <a:prstGeom prst="rightArrow">
            <a:avLst/>
          </a:prstGeom>
          <a:solidFill>
            <a:srgbClr val="1F2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7946136" y="2350008"/>
            <a:ext cx="118872" cy="164592"/>
          </a:xfrm>
          <a:prstGeom prst="rightArrow">
            <a:avLst/>
          </a:prstGeom>
          <a:solidFill>
            <a:srgbClr val="1F2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9793224" y="2350008"/>
            <a:ext cx="118872" cy="164592"/>
          </a:xfrm>
          <a:prstGeom prst="rightArrow">
            <a:avLst/>
          </a:prstGeom>
          <a:solidFill>
            <a:srgbClr val="1F25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46120"/>
            <a:ext cx="10972800" cy="4572000"/>
          </a:xfrm>
          <a:prstGeom prst="rect">
            <a:avLst/>
          </a:prstGeom>
          <a:noFill/>
        </p:spPr>
        <p:txBody>
          <a:bodyPr wrap="square" lIns="0" rIns="0">
            <a:spAutoFit/>
          </a:bodyPr>
          <a:lstStyle/>
          <a:p>
            <a:pPr>
              <a:spcAft>
                <a:spcPts val="600"/>
              </a:spcAft>
            </a:pPr>
            <a:r>
              <a:rPr sz="1500">
                <a:solidFill>
                  <a:srgbClr val="1F2533"/>
                </a:solidFill>
                <a:latin typeface="Calibri"/>
              </a:rPr>
              <a:t>▸  Failure of ovulation or asynchronous ovulation → no fertilization.</a:t>
            </a:r>
          </a:p>
          <a:p>
            <a:pPr>
              <a:spcAft>
                <a:spcPts val="600"/>
              </a:spcAft>
            </a:pPr>
            <a:r>
              <a:rPr sz="1500">
                <a:solidFill>
                  <a:srgbClr val="1F2533"/>
                </a:solidFill>
                <a:latin typeface="Calibri"/>
              </a:rPr>
              <a:t>▸  Sperm transport disturbance / hostile cervico-uterine environment.</a:t>
            </a:r>
          </a:p>
          <a:p>
            <a:pPr>
              <a:spcAft>
                <a:spcPts val="600"/>
              </a:spcAft>
            </a:pPr>
            <a:r>
              <a:rPr sz="1500">
                <a:solidFill>
                  <a:srgbClr val="1F2533"/>
                </a:solidFill>
                <a:latin typeface="Calibri"/>
              </a:rPr>
              <a:t>▸  Fertilization failure — poor oocyte / sperm quality, anti-sperm antibodies.</a:t>
            </a:r>
          </a:p>
          <a:p>
            <a:pPr>
              <a:spcAft>
                <a:spcPts val="600"/>
              </a:spcAft>
            </a:pPr>
            <a:r>
              <a:rPr sz="1500">
                <a:solidFill>
                  <a:srgbClr val="1F2533"/>
                </a:solidFill>
                <a:latin typeface="Calibri"/>
              </a:rPr>
              <a:t>▸  Early embryonic death (Day 8–16) — most common in repeat breeders.</a:t>
            </a:r>
          </a:p>
          <a:p>
            <a:pPr>
              <a:spcAft>
                <a:spcPts val="600"/>
              </a:spcAft>
            </a:pPr>
            <a:r>
              <a:rPr sz="1500">
                <a:solidFill>
                  <a:srgbClr val="1F2533"/>
                </a:solidFill>
                <a:latin typeface="Calibri"/>
              </a:rPr>
              <a:t>▸  Failure of maternal recognition of pregnancy → CL regresses → return to oestrus.</a:t>
            </a:r>
          </a:p>
        </p:txBody>
      </p:sp>
      <p:sp>
        <p:nvSpPr>
          <p:cNvPr id="21" name="Rounded Rectangle 20"/>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Day 8–16 is the danger zone — most repeat-breeder embryos die before maternal recognition of pregnancy.</a:t>
            </a:r>
          </a:p>
        </p:txBody>
      </p:sp>
      <p:sp>
        <p:nvSpPr>
          <p:cNvPr id="22" name="Rectangle 21"/>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4" name="TextBox 23"/>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13 of 24</a:t>
            </a:r>
          </a:p>
        </p:txBody>
      </p:sp>
      <p:sp>
        <p:nvSpPr>
          <p:cNvPr id="25" name="Rectangle 24"/>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468880"/>
            <a:ext cx="4572000" cy="2286000"/>
          </a:xfrm>
          <a:prstGeom prst="rect">
            <a:avLst/>
          </a:prstGeom>
          <a:noFill/>
        </p:spPr>
        <p:txBody>
          <a:bodyPr wrap="none">
            <a:spAutoFit/>
          </a:bodyPr>
          <a:lstStyle/>
          <a:p>
            <a:r>
              <a:rPr sz="14000" b="1">
                <a:solidFill>
                  <a:srgbClr val="E07A18"/>
                </a:solidFill>
                <a:latin typeface="Calibri"/>
              </a:rPr>
              <a:t>03</a:t>
            </a:r>
          </a:p>
        </p:txBody>
      </p:sp>
      <p:sp>
        <p:nvSpPr>
          <p:cNvPr id="5" name="Rectangle 4"/>
          <p:cNvSpPr/>
          <p:nvPr/>
        </p:nvSpPr>
        <p:spPr>
          <a:xfrm>
            <a:off x="5120640" y="2743200"/>
            <a:ext cx="1097280" cy="2926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1B3A57"/>
                </a:solidFill>
                <a:latin typeface="Calibri"/>
              </a:rPr>
              <a:t>SECTION</a:t>
            </a:r>
          </a:p>
        </p:txBody>
      </p:sp>
      <p:sp>
        <p:nvSpPr>
          <p:cNvPr id="6" name="TextBox 5"/>
          <p:cNvSpPr txBox="1"/>
          <p:nvPr/>
        </p:nvSpPr>
        <p:spPr>
          <a:xfrm>
            <a:off x="5074920" y="3108960"/>
            <a:ext cx="6858000" cy="1097280"/>
          </a:xfrm>
          <a:prstGeom prst="rect">
            <a:avLst/>
          </a:prstGeom>
          <a:noFill/>
        </p:spPr>
        <p:txBody>
          <a:bodyPr wrap="none">
            <a:spAutoFit/>
          </a:bodyPr>
          <a:lstStyle/>
          <a:p>
            <a:r>
              <a:rPr sz="4000" b="1">
                <a:solidFill>
                  <a:srgbClr val="FFFFFF"/>
                </a:solidFill>
                <a:latin typeface="Calibri"/>
              </a:rPr>
              <a:t>Diagnosis &amp; Treatment</a:t>
            </a:r>
          </a:p>
        </p:txBody>
      </p:sp>
      <p:sp>
        <p:nvSpPr>
          <p:cNvPr id="7" name="TextBox 6"/>
          <p:cNvSpPr txBox="1"/>
          <p:nvPr/>
        </p:nvSpPr>
        <p:spPr>
          <a:xfrm>
            <a:off x="5074920" y="4206240"/>
            <a:ext cx="6858000" cy="731520"/>
          </a:xfrm>
          <a:prstGeom prst="rect">
            <a:avLst/>
          </a:prstGeom>
          <a:noFill/>
        </p:spPr>
        <p:txBody>
          <a:bodyPr wrap="none">
            <a:spAutoFit/>
          </a:bodyPr>
          <a:lstStyle/>
          <a:p>
            <a:r>
              <a:rPr sz="1500" i="1">
                <a:solidFill>
                  <a:srgbClr val="DCE6F0"/>
                </a:solidFill>
                <a:latin typeface="Calibri"/>
              </a:rPr>
              <a:t>Systematic clinical approach and evidence-based therapeutics</a:t>
            </a:r>
          </a:p>
        </p:txBody>
      </p:sp>
      <p:sp>
        <p:nvSpPr>
          <p:cNvPr id="8" name="TextBox 7"/>
          <p:cNvSpPr txBox="1"/>
          <p:nvPr/>
        </p:nvSpPr>
        <p:spPr>
          <a:xfrm>
            <a:off x="9601200" y="6263640"/>
            <a:ext cx="2286000" cy="320040"/>
          </a:xfrm>
          <a:prstGeom prst="rect">
            <a:avLst/>
          </a:prstGeom>
          <a:noFill/>
        </p:spPr>
        <p:txBody>
          <a:bodyPr wrap="none">
            <a:spAutoFit/>
          </a:bodyPr>
          <a:lstStyle/>
          <a:p>
            <a:pPr algn="r"/>
            <a:r>
              <a:rPr sz="1000" b="1">
                <a:solidFill>
                  <a:srgbClr val="E07A18"/>
                </a:solidFill>
                <a:latin typeface="Calibri"/>
              </a:rPr>
              <a:t>REPEAT BREEDING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Diagnosis — Systematic Clinical Approach</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15</a:t>
            </a:r>
          </a:p>
        </p:txBody>
      </p:sp>
      <p:sp>
        <p:nvSpPr>
          <p:cNvPr id="9" name="TextBox 8"/>
          <p:cNvSpPr txBox="1"/>
          <p:nvPr/>
        </p:nvSpPr>
        <p:spPr>
          <a:xfrm>
            <a:off x="777240" y="1691640"/>
            <a:ext cx="10972800" cy="4572000"/>
          </a:xfrm>
          <a:prstGeom prst="rect">
            <a:avLst/>
          </a:prstGeom>
          <a:noFill/>
        </p:spPr>
        <p:txBody>
          <a:bodyPr wrap="square" lIns="0" rIns="0">
            <a:spAutoFit/>
          </a:bodyPr>
          <a:lstStyle/>
          <a:p>
            <a:pPr>
              <a:spcAft>
                <a:spcPts val="600"/>
              </a:spcAft>
            </a:pPr>
            <a:r>
              <a:rPr sz="1400">
                <a:solidFill>
                  <a:srgbClr val="1F2533"/>
                </a:solidFill>
                <a:latin typeface="Calibri"/>
              </a:rPr>
              <a:t>▸  History:</a:t>
            </a:r>
          </a:p>
          <a:p>
            <a:pPr lvl="1">
              <a:spcAft>
                <a:spcPts val="600"/>
              </a:spcAft>
            </a:pPr>
            <a:r>
              <a:rPr sz="1200">
                <a:solidFill>
                  <a:srgbClr val="1F2533"/>
                </a:solidFill>
                <a:latin typeface="Calibri"/>
              </a:rPr>
              <a:t>•  Age, parity, calving date, services given, AI dates, semen used</a:t>
            </a:r>
          </a:p>
          <a:p>
            <a:pPr lvl="1">
              <a:spcAft>
                <a:spcPts val="600"/>
              </a:spcAft>
            </a:pPr>
            <a:r>
              <a:rPr sz="1200">
                <a:solidFill>
                  <a:srgbClr val="1F2533"/>
                </a:solidFill>
                <a:latin typeface="Calibri"/>
              </a:rPr>
              <a:t>•  Bull fertility, nutrition, deworming, vaccination, prior treatments</a:t>
            </a:r>
          </a:p>
          <a:p>
            <a:pPr>
              <a:spcAft>
                <a:spcPts val="600"/>
              </a:spcAft>
            </a:pPr>
            <a:r>
              <a:rPr sz="1400">
                <a:solidFill>
                  <a:srgbClr val="1F2533"/>
                </a:solidFill>
                <a:latin typeface="Calibri"/>
              </a:rPr>
              <a:t>▸  General Examination — BCS, anaemia, lameness, mastitis, systemic disease.</a:t>
            </a:r>
          </a:p>
          <a:p>
            <a:pPr>
              <a:spcAft>
                <a:spcPts val="600"/>
              </a:spcAft>
            </a:pPr>
            <a:r>
              <a:rPr sz="1400">
                <a:solidFill>
                  <a:srgbClr val="1F2533"/>
                </a:solidFill>
                <a:latin typeface="Calibri"/>
              </a:rPr>
              <a:t>▸  Gynaeco-clinical Examination:</a:t>
            </a:r>
          </a:p>
          <a:p>
            <a:pPr lvl="1">
              <a:spcAft>
                <a:spcPts val="600"/>
              </a:spcAft>
            </a:pPr>
            <a:r>
              <a:rPr sz="1200">
                <a:solidFill>
                  <a:srgbClr val="1F2533"/>
                </a:solidFill>
                <a:latin typeface="Calibri"/>
              </a:rPr>
              <a:t>•  Vaginoscopy — discharge, cervicitis, adhesions</a:t>
            </a:r>
          </a:p>
          <a:p>
            <a:pPr lvl="1">
              <a:spcAft>
                <a:spcPts val="600"/>
              </a:spcAft>
            </a:pPr>
            <a:r>
              <a:rPr sz="1200">
                <a:solidFill>
                  <a:srgbClr val="1F2533"/>
                </a:solidFill>
                <a:latin typeface="Calibri"/>
              </a:rPr>
              <a:t>•  Per-rectal palpation — uterus, ovaries, cervix, follicles, CL</a:t>
            </a:r>
          </a:p>
          <a:p>
            <a:pPr lvl="1">
              <a:spcAft>
                <a:spcPts val="600"/>
              </a:spcAft>
            </a:pPr>
            <a:r>
              <a:rPr sz="1200">
                <a:solidFill>
                  <a:srgbClr val="1F2533"/>
                </a:solidFill>
                <a:latin typeface="Calibri"/>
              </a:rPr>
              <a:t>•  Trans-rectal ultrasonography — follicles, CL, uterine fluid, embryo</a:t>
            </a:r>
          </a:p>
          <a:p>
            <a:pPr>
              <a:spcAft>
                <a:spcPts val="600"/>
              </a:spcAft>
            </a:pPr>
            <a:r>
              <a:rPr sz="1400">
                <a:solidFill>
                  <a:srgbClr val="1F2533"/>
                </a:solidFill>
                <a:latin typeface="Calibri"/>
              </a:rPr>
              <a:t>▸  Laboratory Tests:</a:t>
            </a:r>
          </a:p>
          <a:p>
            <a:pPr lvl="1">
              <a:spcAft>
                <a:spcPts val="600"/>
              </a:spcAft>
            </a:pPr>
            <a:r>
              <a:rPr sz="1200">
                <a:solidFill>
                  <a:srgbClr val="1F2533"/>
                </a:solidFill>
                <a:latin typeface="Calibri"/>
              </a:rPr>
              <a:t>•  Cervico-vaginal mucus culture &amp; sensitivity, cytology</a:t>
            </a:r>
          </a:p>
          <a:p>
            <a:pPr lvl="1">
              <a:spcAft>
                <a:spcPts val="600"/>
              </a:spcAft>
            </a:pPr>
            <a:r>
              <a:rPr sz="1200">
                <a:solidFill>
                  <a:srgbClr val="1F2533"/>
                </a:solidFill>
                <a:latin typeface="Calibri"/>
              </a:rPr>
              <a:t>•  Serum progesterone, blood urea, minerals, liver / thyroid profile</a:t>
            </a:r>
          </a:p>
          <a:p>
            <a:pPr lvl="1">
              <a:spcAft>
                <a:spcPts val="600"/>
              </a:spcAft>
            </a:pPr>
            <a:r>
              <a:rPr sz="1200">
                <a:solidFill>
                  <a:srgbClr val="1F2533"/>
                </a:solidFill>
                <a:latin typeface="Calibri"/>
              </a:rPr>
              <a:t>•  Serology / PCR — Brucella, IBR, BVD, Leptospira, Trichomonas</a:t>
            </a:r>
          </a:p>
        </p:txBody>
      </p:sp>
      <p:sp>
        <p:nvSpPr>
          <p:cNvPr id="10" name="Rounded Rectangle 9"/>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Always proceed in order: history → general exam → gynaeco exam → laboratory tests.</a:t>
            </a:r>
          </a:p>
        </p:txBody>
      </p:sp>
      <p:sp>
        <p:nvSpPr>
          <p:cNvPr id="11" name="Rectangle 10"/>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3" name="TextBox 12"/>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15 of 24</a:t>
            </a:r>
          </a:p>
        </p:txBody>
      </p:sp>
      <p:sp>
        <p:nvSpPr>
          <p:cNvPr id="14" name="Rectangle 13"/>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Treatment — General Principles</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15568"/>
            <a:ext cx="10972800" cy="384048"/>
          </a:xfrm>
          <a:prstGeom prst="rect">
            <a:avLst/>
          </a:prstGeom>
          <a:noFill/>
        </p:spPr>
        <p:txBody>
          <a:bodyPr wrap="none">
            <a:spAutoFit/>
          </a:bodyPr>
          <a:lstStyle/>
          <a:p>
            <a:r>
              <a:rPr sz="1300" i="1">
                <a:solidFill>
                  <a:srgbClr val="555C66"/>
                </a:solidFill>
                <a:latin typeface="Calibri"/>
              </a:rPr>
              <a:t>Treat the cause, not just the symptom</a:t>
            </a:r>
          </a:p>
        </p:txBody>
      </p:sp>
      <p:sp>
        <p:nvSpPr>
          <p:cNvPr id="9" name="Oval 8"/>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16</a:t>
            </a:r>
          </a:p>
        </p:txBody>
      </p:sp>
      <p:sp>
        <p:nvSpPr>
          <p:cNvPr id="10" name="TextBox 9"/>
          <p:cNvSpPr txBox="1"/>
          <p:nvPr/>
        </p:nvSpPr>
        <p:spPr>
          <a:xfrm>
            <a:off x="777240" y="1691640"/>
            <a:ext cx="7315200" cy="4572000"/>
          </a:xfrm>
          <a:prstGeom prst="rect">
            <a:avLst/>
          </a:prstGeom>
          <a:noFill/>
        </p:spPr>
        <p:txBody>
          <a:bodyPr wrap="square" lIns="0" rIns="0">
            <a:spAutoFit/>
          </a:bodyPr>
          <a:lstStyle/>
          <a:p>
            <a:pPr>
              <a:spcAft>
                <a:spcPts val="600"/>
              </a:spcAft>
            </a:pPr>
            <a:r>
              <a:rPr sz="1500">
                <a:solidFill>
                  <a:srgbClr val="1F2533"/>
                </a:solidFill>
                <a:latin typeface="Calibri"/>
              </a:rPr>
              <a:t>▸  Correct underlying nutrition &amp; body condition (BCS 3.0–3.5 at AI).</a:t>
            </a:r>
          </a:p>
          <a:p>
            <a:pPr>
              <a:spcAft>
                <a:spcPts val="600"/>
              </a:spcAft>
            </a:pPr>
            <a:r>
              <a:rPr sz="1500">
                <a:solidFill>
                  <a:srgbClr val="1F2533"/>
                </a:solidFill>
                <a:latin typeface="Calibri"/>
              </a:rPr>
              <a:t>▸  Treat genital tract infection (intra-uterine antibiotics, antiseptics).</a:t>
            </a:r>
          </a:p>
          <a:p>
            <a:pPr>
              <a:spcAft>
                <a:spcPts val="600"/>
              </a:spcAft>
            </a:pPr>
            <a:r>
              <a:rPr sz="1500">
                <a:solidFill>
                  <a:srgbClr val="1F2533"/>
                </a:solidFill>
                <a:latin typeface="Calibri"/>
              </a:rPr>
              <a:t>▸  Correct hormonal imbalance with appropriate protocols.</a:t>
            </a:r>
          </a:p>
          <a:p>
            <a:pPr>
              <a:spcAft>
                <a:spcPts val="600"/>
              </a:spcAft>
            </a:pPr>
            <a:r>
              <a:rPr sz="1500">
                <a:solidFill>
                  <a:srgbClr val="1F2533"/>
                </a:solidFill>
                <a:latin typeface="Calibri"/>
              </a:rPr>
              <a:t>▸  Improve heat detection and AI timing (AM-PM rule / activity meters).</a:t>
            </a:r>
          </a:p>
          <a:p>
            <a:pPr>
              <a:spcAft>
                <a:spcPts val="600"/>
              </a:spcAft>
            </a:pPr>
            <a:r>
              <a:rPr sz="1500">
                <a:solidFill>
                  <a:srgbClr val="1F2533"/>
                </a:solidFill>
                <a:latin typeface="Calibri"/>
              </a:rPr>
              <a:t>▸  Use proven, high-quality semen; ensure proper thawing &amp; deposition.</a:t>
            </a:r>
          </a:p>
          <a:p>
            <a:pPr>
              <a:spcAft>
                <a:spcPts val="600"/>
              </a:spcAft>
            </a:pPr>
            <a:r>
              <a:rPr sz="1500">
                <a:solidFill>
                  <a:srgbClr val="1F2533"/>
                </a:solidFill>
                <a:latin typeface="Calibri"/>
              </a:rPr>
              <a:t>▸  Reduce stress — provide shade, water, comfortable housing, fly control.</a:t>
            </a:r>
          </a:p>
          <a:p>
            <a:pPr>
              <a:spcAft>
                <a:spcPts val="600"/>
              </a:spcAft>
            </a:pPr>
            <a:r>
              <a:rPr sz="1500">
                <a:solidFill>
                  <a:srgbClr val="1F2533"/>
                </a:solidFill>
                <a:latin typeface="Calibri"/>
              </a:rPr>
              <a:t>▸  Maintain proper records; cull chronic non-responders after 5–6 services.</a:t>
            </a:r>
          </a:p>
        </p:txBody>
      </p:sp>
      <p:sp>
        <p:nvSpPr>
          <p:cNvPr id="11" name="Rectangle 10"/>
          <p:cNvSpPr/>
          <p:nvPr/>
        </p:nvSpPr>
        <p:spPr>
          <a:xfrm>
            <a:off x="8284464" y="1746504"/>
            <a:ext cx="3456432" cy="2578608"/>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w_farm.jpg"/>
          <p:cNvPicPr>
            <a:picLocks noChangeAspect="1"/>
          </p:cNvPicPr>
          <p:nvPr/>
        </p:nvPicPr>
        <p:blipFill>
          <a:blip r:embed="rId2"/>
          <a:stretch>
            <a:fillRect/>
          </a:stretch>
        </p:blipFill>
        <p:spPr>
          <a:xfrm>
            <a:off x="8321040" y="1783080"/>
            <a:ext cx="3383280" cy="2505456"/>
          </a:xfrm>
          <a:prstGeom prst="rect">
            <a:avLst/>
          </a:prstGeom>
        </p:spPr>
      </p:pic>
      <p:sp>
        <p:nvSpPr>
          <p:cNvPr id="13" name="TextBox 12"/>
          <p:cNvSpPr txBox="1"/>
          <p:nvPr/>
        </p:nvSpPr>
        <p:spPr>
          <a:xfrm>
            <a:off x="8321040" y="4325112"/>
            <a:ext cx="3383280" cy="274320"/>
          </a:xfrm>
          <a:prstGeom prst="rect">
            <a:avLst/>
          </a:prstGeom>
          <a:noFill/>
        </p:spPr>
        <p:txBody>
          <a:bodyPr wrap="none">
            <a:spAutoFit/>
          </a:bodyPr>
          <a:lstStyle/>
          <a:p>
            <a:pPr algn="ctr"/>
            <a:r>
              <a:rPr sz="1000" i="1">
                <a:solidFill>
                  <a:srgbClr val="555C66"/>
                </a:solidFill>
                <a:latin typeface="Calibri"/>
              </a:rPr>
              <a:t>Well-managed dairy cow on farm</a:t>
            </a:r>
          </a:p>
        </p:txBody>
      </p:sp>
      <p:sp>
        <p:nvSpPr>
          <p:cNvPr id="14" name="Rounded Rectangle 13"/>
          <p:cNvSpPr/>
          <p:nvPr/>
        </p:nvSpPr>
        <p:spPr>
          <a:xfrm>
            <a:off x="8321040" y="4617720"/>
            <a:ext cx="3383280" cy="137160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r>
              <a:rPr sz="1300" i="1" b="1">
                <a:solidFill>
                  <a:srgbClr val="1B3A57"/>
                </a:solidFill>
              </a:rPr>
              <a:t>“Prevention is better, </a:t>
            </a:r>
            <a:r>
              <a:rPr sz="1300" i="1">
                <a:solidFill>
                  <a:srgbClr val="1F2533"/>
                </a:solidFill>
              </a:rPr>
              <a:t>but timely treatment saves the cow.”</a:t>
            </a:r>
          </a:p>
          <a:p>
            <a:pPr algn="ctr">
              <a:spcBef>
                <a:spcPts val="600"/>
              </a:spcBef>
            </a:pPr>
            <a:r>
              <a:rPr sz="1000">
                <a:solidFill>
                  <a:srgbClr val="555C66"/>
                </a:solidFill>
              </a:rPr>
              <a:t>— Field motto in dairy practice</a:t>
            </a:r>
          </a:p>
        </p:txBody>
      </p:sp>
      <p:sp>
        <p:nvSpPr>
          <p:cNvPr id="15" name="Rounded Rectangle 14"/>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Hormones are the last step, not the first. Fix nutrition, infection and AI errors before reaching for the syringe.</a:t>
            </a:r>
          </a:p>
        </p:txBody>
      </p:sp>
      <p:sp>
        <p:nvSpPr>
          <p:cNvPr id="16" name="Rectangle 15"/>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8" name="TextBox 17"/>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16 of 24</a:t>
            </a:r>
          </a:p>
        </p:txBody>
      </p:sp>
      <p:sp>
        <p:nvSpPr>
          <p:cNvPr id="19" name="Rectangle 18"/>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Specific Therapeutic Protocols</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17</a:t>
            </a:r>
          </a:p>
        </p:txBody>
      </p:sp>
      <p:sp>
        <p:nvSpPr>
          <p:cNvPr id="9" name="Rectangle 8"/>
          <p:cNvSpPr/>
          <p:nvPr/>
        </p:nvSpPr>
        <p:spPr>
          <a:xfrm>
            <a:off x="822960" y="1737360"/>
            <a:ext cx="3520440" cy="420624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3520440" cy="50292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GnRH at AI</a:t>
            </a:r>
          </a:p>
        </p:txBody>
      </p:sp>
      <p:sp>
        <p:nvSpPr>
          <p:cNvPr id="11" name="Rectangle 10"/>
          <p:cNvSpPr/>
          <p:nvPr/>
        </p:nvSpPr>
        <p:spPr>
          <a:xfrm>
            <a:off x="777240" y="2194560"/>
            <a:ext cx="3520440" cy="3703320"/>
          </a:xfrm>
          <a:prstGeom prst="rect">
            <a:avLst/>
          </a:prstGeom>
          <a:solidFill>
            <a:srgbClr val="FFFFFF"/>
          </a:solidFill>
          <a:ln w="9525">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Buserelin 10 µg or Gonadorelin 100 µg IM at AI</a:t>
            </a:r>
          </a:p>
          <a:p>
            <a:pPr>
              <a:spcAft>
                <a:spcPts val="400"/>
              </a:spcAft>
            </a:pPr>
            <a:r>
              <a:rPr sz="1200">
                <a:solidFill>
                  <a:srgbClr val="1F2533"/>
                </a:solidFill>
                <a:latin typeface="Calibri"/>
              </a:rPr>
              <a:t>•  Improves LH surge &amp; ovulation</a:t>
            </a:r>
          </a:p>
          <a:p>
            <a:pPr>
              <a:spcAft>
                <a:spcPts val="400"/>
              </a:spcAft>
            </a:pPr>
            <a:r>
              <a:rPr sz="1200">
                <a:solidFill>
                  <a:srgbClr val="1F2533"/>
                </a:solidFill>
                <a:latin typeface="Calibri"/>
              </a:rPr>
              <a:t>•  Increases conception by 10–20 %</a:t>
            </a:r>
          </a:p>
          <a:p>
            <a:pPr>
              <a:spcAft>
                <a:spcPts val="400"/>
              </a:spcAft>
            </a:pPr>
            <a:r>
              <a:rPr sz="1200">
                <a:solidFill>
                  <a:srgbClr val="1F2533"/>
                </a:solidFill>
                <a:latin typeface="Calibri"/>
              </a:rPr>
              <a:t>•  Best for delayed ovulators</a:t>
            </a:r>
          </a:p>
        </p:txBody>
      </p:sp>
      <p:sp>
        <p:nvSpPr>
          <p:cNvPr id="12" name="Rectangle 11"/>
          <p:cNvSpPr/>
          <p:nvPr/>
        </p:nvSpPr>
        <p:spPr>
          <a:xfrm>
            <a:off x="4572000" y="1737360"/>
            <a:ext cx="3520440" cy="420624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80" y="1691640"/>
            <a:ext cx="3520440" cy="50292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Progesterone Support</a:t>
            </a:r>
          </a:p>
        </p:txBody>
      </p:sp>
      <p:sp>
        <p:nvSpPr>
          <p:cNvPr id="14" name="Rectangle 13"/>
          <p:cNvSpPr/>
          <p:nvPr/>
        </p:nvSpPr>
        <p:spPr>
          <a:xfrm>
            <a:off x="4526280" y="2194560"/>
            <a:ext cx="3520440" cy="3703320"/>
          </a:xfrm>
          <a:prstGeom prst="rect">
            <a:avLst/>
          </a:prstGeom>
          <a:solidFill>
            <a:srgbClr val="FFFFFF"/>
          </a:solidFill>
          <a:ln w="952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CIDR / PRID for 7 days post-AI</a:t>
            </a:r>
          </a:p>
          <a:p>
            <a:pPr>
              <a:spcAft>
                <a:spcPts val="400"/>
              </a:spcAft>
            </a:pPr>
            <a:r>
              <a:rPr sz="1200">
                <a:solidFill>
                  <a:srgbClr val="1F2533"/>
                </a:solidFill>
                <a:latin typeface="Calibri"/>
              </a:rPr>
              <a:t>•  Long-acting P4 injection on Day 5</a:t>
            </a:r>
          </a:p>
          <a:p>
            <a:pPr>
              <a:spcAft>
                <a:spcPts val="400"/>
              </a:spcAft>
            </a:pPr>
            <a:r>
              <a:rPr sz="1200">
                <a:solidFill>
                  <a:srgbClr val="1F2533"/>
                </a:solidFill>
                <a:latin typeface="Calibri"/>
              </a:rPr>
              <a:t>•  Prevents premature luteolysis &amp; embryo loss</a:t>
            </a:r>
          </a:p>
          <a:p>
            <a:pPr>
              <a:spcAft>
                <a:spcPts val="400"/>
              </a:spcAft>
            </a:pPr>
            <a:r>
              <a:rPr sz="1200">
                <a:solidFill>
                  <a:srgbClr val="1F2533"/>
                </a:solidFill>
                <a:latin typeface="Calibri"/>
              </a:rPr>
              <a:t>•  Best for cows with short luteal phase</a:t>
            </a:r>
          </a:p>
        </p:txBody>
      </p:sp>
      <p:sp>
        <p:nvSpPr>
          <p:cNvPr id="15" name="Rectangle 14"/>
          <p:cNvSpPr/>
          <p:nvPr/>
        </p:nvSpPr>
        <p:spPr>
          <a:xfrm>
            <a:off x="8321040" y="1737360"/>
            <a:ext cx="3520440" cy="420624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20" y="1691640"/>
            <a:ext cx="35204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Ovsynch / Double-AI</a:t>
            </a:r>
          </a:p>
        </p:txBody>
      </p:sp>
      <p:sp>
        <p:nvSpPr>
          <p:cNvPr id="17" name="Rectangle 16"/>
          <p:cNvSpPr/>
          <p:nvPr/>
        </p:nvSpPr>
        <p:spPr>
          <a:xfrm>
            <a:off x="8275320" y="2194560"/>
            <a:ext cx="3520440" cy="3703320"/>
          </a:xfrm>
          <a:prstGeom prst="rect">
            <a:avLst/>
          </a:prstGeom>
          <a:solidFill>
            <a:srgbClr val="FFFFFF"/>
          </a:solidFill>
          <a:ln w="9525">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GnRH (D0) → PGF2α (D7) → GnRH (D9) → AI 16 h later</a:t>
            </a:r>
          </a:p>
          <a:p>
            <a:pPr>
              <a:spcAft>
                <a:spcPts val="400"/>
              </a:spcAft>
            </a:pPr>
            <a:r>
              <a:rPr sz="1200">
                <a:solidFill>
                  <a:srgbClr val="1F2533"/>
                </a:solidFill>
                <a:latin typeface="Calibri"/>
              </a:rPr>
              <a:t>•  Synchronises ovulation precisely</a:t>
            </a:r>
          </a:p>
          <a:p>
            <a:pPr>
              <a:spcAft>
                <a:spcPts val="400"/>
              </a:spcAft>
            </a:pPr>
            <a:r>
              <a:rPr sz="1200">
                <a:solidFill>
                  <a:srgbClr val="1F2533"/>
                </a:solidFill>
                <a:latin typeface="Calibri"/>
              </a:rPr>
              <a:t>•  Useful in herds with poor heat detection</a:t>
            </a:r>
          </a:p>
          <a:p>
            <a:pPr>
              <a:spcAft>
                <a:spcPts val="400"/>
              </a:spcAft>
            </a:pPr>
            <a:r>
              <a:rPr sz="1200">
                <a:solidFill>
                  <a:srgbClr val="1F2533"/>
                </a:solidFill>
                <a:latin typeface="Calibri"/>
              </a:rPr>
              <a:t>•  Modified / Co-Synch / Double-Ovsynch for repeaters</a:t>
            </a:r>
          </a:p>
        </p:txBody>
      </p:sp>
      <p:sp>
        <p:nvSpPr>
          <p:cNvPr id="18" name="Rounded Rectangle 17"/>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Combining GnRH at AI + Day-5 progesterone is a simple, field-friendly upgrade for repeat breeders.</a:t>
            </a:r>
          </a:p>
        </p:txBody>
      </p:sp>
      <p:sp>
        <p:nvSpPr>
          <p:cNvPr id="19" name="Rectangle 18"/>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1" name="TextBox 20"/>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17 of 24</a:t>
            </a:r>
          </a:p>
        </p:txBody>
      </p:sp>
      <p:sp>
        <p:nvSpPr>
          <p:cNvPr id="22" name="Rectangle 21"/>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Intra-Uterine &amp; Adjunct Therapy</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18</a:t>
            </a:r>
          </a:p>
        </p:txBody>
      </p:sp>
      <p:sp>
        <p:nvSpPr>
          <p:cNvPr id="9" name="TextBox 8"/>
          <p:cNvSpPr txBox="1"/>
          <p:nvPr/>
        </p:nvSpPr>
        <p:spPr>
          <a:xfrm>
            <a:off x="777240" y="1691640"/>
            <a:ext cx="10972800" cy="4572000"/>
          </a:xfrm>
          <a:prstGeom prst="rect">
            <a:avLst/>
          </a:prstGeom>
          <a:noFill/>
        </p:spPr>
        <p:txBody>
          <a:bodyPr wrap="square" lIns="0" rIns="0">
            <a:spAutoFit/>
          </a:bodyPr>
          <a:lstStyle/>
          <a:p>
            <a:pPr>
              <a:spcAft>
                <a:spcPts val="600"/>
              </a:spcAft>
            </a:pPr>
            <a:r>
              <a:rPr sz="1500">
                <a:solidFill>
                  <a:srgbClr val="1F2533"/>
                </a:solidFill>
                <a:latin typeface="Calibri"/>
              </a:rPr>
              <a:t>▸  Intra-uterine antibiotics (after culture / sensitivity):</a:t>
            </a:r>
          </a:p>
          <a:p>
            <a:pPr lvl="1">
              <a:spcAft>
                <a:spcPts val="600"/>
              </a:spcAft>
            </a:pPr>
            <a:r>
              <a:rPr sz="1300">
                <a:solidFill>
                  <a:srgbClr val="1F2533"/>
                </a:solidFill>
                <a:latin typeface="Calibri"/>
              </a:rPr>
              <a:t>•  Cephapirin, Ceftiofur, Oxytetracycline, Enrofloxacin</a:t>
            </a:r>
          </a:p>
          <a:p>
            <a:pPr lvl="1">
              <a:spcAft>
                <a:spcPts val="600"/>
              </a:spcAft>
            </a:pPr>
            <a:r>
              <a:rPr sz="1300">
                <a:solidFill>
                  <a:srgbClr val="1F2533"/>
                </a:solidFill>
                <a:latin typeface="Calibri"/>
              </a:rPr>
              <a:t>•  Avoid penicillin — inactivated by uterine exudate</a:t>
            </a:r>
          </a:p>
          <a:p>
            <a:pPr>
              <a:spcAft>
                <a:spcPts val="600"/>
              </a:spcAft>
            </a:pPr>
            <a:r>
              <a:rPr sz="1500">
                <a:solidFill>
                  <a:srgbClr val="1F2533"/>
                </a:solidFill>
                <a:latin typeface="Calibri"/>
              </a:rPr>
              <a:t>▸  Lugol's iodine (1–2 %) flushing — mild irritant, stimulates leucocytosis.</a:t>
            </a:r>
          </a:p>
          <a:p>
            <a:pPr>
              <a:spcAft>
                <a:spcPts val="600"/>
              </a:spcAft>
            </a:pPr>
            <a:r>
              <a:rPr sz="1500">
                <a:solidFill>
                  <a:srgbClr val="1F2533"/>
                </a:solidFill>
                <a:latin typeface="Calibri"/>
              </a:rPr>
              <a:t>▸  Oyster glycogen / E. coli LPS — non-specific immuno-stimulation.</a:t>
            </a:r>
          </a:p>
          <a:p>
            <a:pPr>
              <a:spcAft>
                <a:spcPts val="600"/>
              </a:spcAft>
            </a:pPr>
            <a:r>
              <a:rPr sz="1500">
                <a:solidFill>
                  <a:srgbClr val="1F2533"/>
                </a:solidFill>
                <a:latin typeface="Calibri"/>
              </a:rPr>
              <a:t>▸  Intra-uterine PGF2α &amp; oxytocin — promote uterine clearance.</a:t>
            </a:r>
          </a:p>
          <a:p>
            <a:pPr>
              <a:spcAft>
                <a:spcPts val="600"/>
              </a:spcAft>
            </a:pPr>
            <a:r>
              <a:rPr sz="1500">
                <a:solidFill>
                  <a:srgbClr val="1F2533"/>
                </a:solidFill>
                <a:latin typeface="Calibri"/>
              </a:rPr>
              <a:t>▸  Mineral &amp; vitamin supplementation:</a:t>
            </a:r>
          </a:p>
          <a:p>
            <a:pPr lvl="1">
              <a:spcAft>
                <a:spcPts val="600"/>
              </a:spcAft>
            </a:pPr>
            <a:r>
              <a:rPr sz="1300">
                <a:solidFill>
                  <a:srgbClr val="1F2533"/>
                </a:solidFill>
                <a:latin typeface="Calibri"/>
              </a:rPr>
              <a:t>•  AD3E, Vitamin E + Selenium, Chelated Zn-Cu-Mn-Co</a:t>
            </a:r>
          </a:p>
          <a:p>
            <a:pPr lvl="1">
              <a:spcAft>
                <a:spcPts val="600"/>
              </a:spcAft>
            </a:pPr>
            <a:r>
              <a:rPr sz="1300">
                <a:solidFill>
                  <a:srgbClr val="1F2533"/>
                </a:solidFill>
                <a:latin typeface="Calibri"/>
              </a:rPr>
              <a:t>•  Bypass protein &amp; energy correction during AI period</a:t>
            </a:r>
          </a:p>
          <a:p>
            <a:pPr>
              <a:spcAft>
                <a:spcPts val="600"/>
              </a:spcAft>
            </a:pPr>
            <a:r>
              <a:rPr sz="1500">
                <a:solidFill>
                  <a:srgbClr val="1F2533"/>
                </a:solidFill>
                <a:latin typeface="Calibri"/>
              </a:rPr>
              <a:t>▸  Herbal / Ayurvedic preparations (Aloes compound, Janova, Prajana) as adjuncts.</a:t>
            </a:r>
          </a:p>
        </p:txBody>
      </p:sp>
      <p:sp>
        <p:nvSpPr>
          <p:cNvPr id="10" name="Rounded Rectangle 9"/>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Intra-uterine therapy must follow culture &amp; sensitivity — blind antibiotic infusion damages the endometrium.</a:t>
            </a:r>
          </a:p>
        </p:txBody>
      </p:sp>
      <p:sp>
        <p:nvSpPr>
          <p:cNvPr id="11" name="Rectangle 10"/>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3" name="TextBox 12"/>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18 of 24</a:t>
            </a:r>
          </a:p>
        </p:txBody>
      </p:sp>
      <p:sp>
        <p:nvSpPr>
          <p:cNvPr id="14" name="Rectangle 13"/>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468880"/>
            <a:ext cx="4572000" cy="2286000"/>
          </a:xfrm>
          <a:prstGeom prst="rect">
            <a:avLst/>
          </a:prstGeom>
          <a:noFill/>
        </p:spPr>
        <p:txBody>
          <a:bodyPr wrap="none">
            <a:spAutoFit/>
          </a:bodyPr>
          <a:lstStyle/>
          <a:p>
            <a:r>
              <a:rPr sz="14000" b="1">
                <a:solidFill>
                  <a:srgbClr val="2E86AB"/>
                </a:solidFill>
                <a:latin typeface="Calibri"/>
              </a:rPr>
              <a:t>04</a:t>
            </a:r>
          </a:p>
        </p:txBody>
      </p:sp>
      <p:sp>
        <p:nvSpPr>
          <p:cNvPr id="5" name="Rectangle 4"/>
          <p:cNvSpPr/>
          <p:nvPr/>
        </p:nvSpPr>
        <p:spPr>
          <a:xfrm>
            <a:off x="5120640" y="2743200"/>
            <a:ext cx="1097280" cy="2926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1B3A57"/>
                </a:solidFill>
                <a:latin typeface="Calibri"/>
              </a:rPr>
              <a:t>SECTION</a:t>
            </a:r>
          </a:p>
        </p:txBody>
      </p:sp>
      <p:sp>
        <p:nvSpPr>
          <p:cNvPr id="6" name="TextBox 5"/>
          <p:cNvSpPr txBox="1"/>
          <p:nvPr/>
        </p:nvSpPr>
        <p:spPr>
          <a:xfrm>
            <a:off x="5074920" y="3108960"/>
            <a:ext cx="6858000" cy="1097280"/>
          </a:xfrm>
          <a:prstGeom prst="rect">
            <a:avLst/>
          </a:prstGeom>
          <a:noFill/>
        </p:spPr>
        <p:txBody>
          <a:bodyPr wrap="none">
            <a:spAutoFit/>
          </a:bodyPr>
          <a:lstStyle/>
          <a:p>
            <a:r>
              <a:rPr sz="4000" b="1">
                <a:solidFill>
                  <a:srgbClr val="FFFFFF"/>
                </a:solidFill>
                <a:latin typeface="Calibri"/>
              </a:rPr>
              <a:t>Buffalo Focus &amp; Prevention</a:t>
            </a:r>
          </a:p>
        </p:txBody>
      </p:sp>
      <p:sp>
        <p:nvSpPr>
          <p:cNvPr id="7" name="TextBox 6"/>
          <p:cNvSpPr txBox="1"/>
          <p:nvPr/>
        </p:nvSpPr>
        <p:spPr>
          <a:xfrm>
            <a:off x="5074920" y="4206240"/>
            <a:ext cx="6858000" cy="731520"/>
          </a:xfrm>
          <a:prstGeom prst="rect">
            <a:avLst/>
          </a:prstGeom>
          <a:noFill/>
        </p:spPr>
        <p:txBody>
          <a:bodyPr wrap="none">
            <a:spAutoFit/>
          </a:bodyPr>
          <a:lstStyle/>
          <a:p>
            <a:r>
              <a:rPr sz="1500" i="1">
                <a:solidFill>
                  <a:srgbClr val="DCE6F0"/>
                </a:solidFill>
                <a:latin typeface="Calibri"/>
              </a:rPr>
              <a:t>Special considerations and the road ahead</a:t>
            </a:r>
          </a:p>
        </p:txBody>
      </p:sp>
      <p:sp>
        <p:nvSpPr>
          <p:cNvPr id="8" name="TextBox 7"/>
          <p:cNvSpPr txBox="1"/>
          <p:nvPr/>
        </p:nvSpPr>
        <p:spPr>
          <a:xfrm>
            <a:off x="9601200" y="6263640"/>
            <a:ext cx="2286000" cy="320040"/>
          </a:xfrm>
          <a:prstGeom prst="rect">
            <a:avLst/>
          </a:prstGeom>
          <a:noFill/>
        </p:spPr>
        <p:txBody>
          <a:bodyPr wrap="none">
            <a:spAutoFit/>
          </a:bodyPr>
          <a:lstStyle/>
          <a:p>
            <a:pPr algn="r"/>
            <a:r>
              <a:rPr sz="1000" b="1">
                <a:solidFill>
                  <a:srgbClr val="2E86AB"/>
                </a:solidFill>
                <a:latin typeface="Calibri"/>
              </a:rPr>
              <a:t>REPEAT BREEDING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Buffalo-Specific Repeat Breeding</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15568"/>
            <a:ext cx="10972800" cy="384048"/>
          </a:xfrm>
          <a:prstGeom prst="rect">
            <a:avLst/>
          </a:prstGeom>
          <a:noFill/>
        </p:spPr>
        <p:txBody>
          <a:bodyPr wrap="none">
            <a:spAutoFit/>
          </a:bodyPr>
          <a:lstStyle/>
          <a:p>
            <a:r>
              <a:rPr sz="1300" i="1">
                <a:solidFill>
                  <a:srgbClr val="555C66"/>
                </a:solidFill>
                <a:latin typeface="Calibri"/>
              </a:rPr>
              <a:t>Why buffaloes pose unique reproductive challenges</a:t>
            </a:r>
          </a:p>
        </p:txBody>
      </p:sp>
      <p:sp>
        <p:nvSpPr>
          <p:cNvPr id="9" name="Oval 8"/>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20</a:t>
            </a:r>
          </a:p>
        </p:txBody>
      </p:sp>
      <p:sp>
        <p:nvSpPr>
          <p:cNvPr id="10" name="Rectangle 9"/>
          <p:cNvSpPr/>
          <p:nvPr/>
        </p:nvSpPr>
        <p:spPr>
          <a:xfrm>
            <a:off x="740664" y="1700784"/>
            <a:ext cx="4187952" cy="2862072"/>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uffalo_murrah.jpg"/>
          <p:cNvPicPr>
            <a:picLocks noChangeAspect="1"/>
          </p:cNvPicPr>
          <p:nvPr/>
        </p:nvPicPr>
        <p:blipFill>
          <a:blip r:embed="rId2"/>
          <a:stretch>
            <a:fillRect/>
          </a:stretch>
        </p:blipFill>
        <p:spPr>
          <a:xfrm>
            <a:off x="777240" y="1737360"/>
            <a:ext cx="4114800" cy="2788920"/>
          </a:xfrm>
          <a:prstGeom prst="rect">
            <a:avLst/>
          </a:prstGeom>
        </p:spPr>
      </p:pic>
      <p:sp>
        <p:nvSpPr>
          <p:cNvPr id="12" name="TextBox 11"/>
          <p:cNvSpPr txBox="1"/>
          <p:nvPr/>
        </p:nvSpPr>
        <p:spPr>
          <a:xfrm>
            <a:off x="777240" y="4562856"/>
            <a:ext cx="4114800" cy="274320"/>
          </a:xfrm>
          <a:prstGeom prst="rect">
            <a:avLst/>
          </a:prstGeom>
          <a:noFill/>
        </p:spPr>
        <p:txBody>
          <a:bodyPr wrap="none">
            <a:spAutoFit/>
          </a:bodyPr>
          <a:lstStyle/>
          <a:p>
            <a:pPr algn="ctr"/>
            <a:r>
              <a:rPr sz="1000" i="1">
                <a:solidFill>
                  <a:srgbClr val="555C66"/>
                </a:solidFill>
                <a:latin typeface="Calibri"/>
              </a:rPr>
              <a:t>Murrah buffalo (Bubalus bubalis)</a:t>
            </a:r>
          </a:p>
        </p:txBody>
      </p:sp>
      <p:sp>
        <p:nvSpPr>
          <p:cNvPr id="13" name="TextBox 12"/>
          <p:cNvSpPr txBox="1"/>
          <p:nvPr/>
        </p:nvSpPr>
        <p:spPr>
          <a:xfrm>
            <a:off x="5120640" y="1737360"/>
            <a:ext cx="6675120" cy="3200400"/>
          </a:xfrm>
          <a:prstGeom prst="rect">
            <a:avLst/>
          </a:prstGeom>
          <a:noFill/>
        </p:spPr>
        <p:txBody>
          <a:bodyPr wrap="square" lIns="0" rIns="0">
            <a:spAutoFit/>
          </a:bodyPr>
          <a:lstStyle/>
          <a:p>
            <a:pPr>
              <a:spcAft>
                <a:spcPts val="600"/>
              </a:spcAft>
            </a:pPr>
            <a:r>
              <a:rPr sz="1300">
                <a:solidFill>
                  <a:srgbClr val="1F2533"/>
                </a:solidFill>
                <a:latin typeface="Calibri"/>
              </a:rPr>
              <a:t>▸  Silent / sub-oestrus — up to 50–60 % of heats are missed without close observation.</a:t>
            </a:r>
          </a:p>
          <a:p>
            <a:pPr>
              <a:spcAft>
                <a:spcPts val="600"/>
              </a:spcAft>
            </a:pPr>
            <a:r>
              <a:rPr sz="1300">
                <a:solidFill>
                  <a:srgbClr val="1F2533"/>
                </a:solidFill>
                <a:latin typeface="Calibri"/>
              </a:rPr>
              <a:t>▸  Late maturity (36–42 months) and longer post-partum anoestrus (90–150 days) than cows.</a:t>
            </a:r>
          </a:p>
          <a:p>
            <a:pPr>
              <a:spcAft>
                <a:spcPts val="600"/>
              </a:spcAft>
            </a:pPr>
            <a:r>
              <a:rPr sz="1300">
                <a:solidFill>
                  <a:srgbClr val="1F2533"/>
                </a:solidFill>
                <a:latin typeface="Calibri"/>
              </a:rPr>
              <a:t>▸  Strongly seasonal — short photoperiod (Oct–Feb) is the peak breeding season.</a:t>
            </a:r>
          </a:p>
          <a:p>
            <a:pPr>
              <a:spcAft>
                <a:spcPts val="600"/>
              </a:spcAft>
            </a:pPr>
            <a:r>
              <a:rPr sz="1300">
                <a:solidFill>
                  <a:srgbClr val="1F2533"/>
                </a:solidFill>
                <a:latin typeface="Calibri"/>
              </a:rPr>
              <a:t>▸  Summer infertility — heat stress depresses LH surge, oocyte quality and embryo survival.</a:t>
            </a:r>
          </a:p>
          <a:p>
            <a:pPr>
              <a:spcAft>
                <a:spcPts val="600"/>
              </a:spcAft>
            </a:pPr>
            <a:r>
              <a:rPr sz="1300">
                <a:solidFill>
                  <a:srgbClr val="1F2533"/>
                </a:solidFill>
                <a:latin typeface="Calibri"/>
              </a:rPr>
              <a:t>▸  Smaller, deeper-seated ovaries with fewer antral follicles than cows.</a:t>
            </a:r>
          </a:p>
          <a:p>
            <a:pPr>
              <a:spcAft>
                <a:spcPts val="600"/>
              </a:spcAft>
            </a:pPr>
            <a:r>
              <a:rPr sz="1300">
                <a:solidFill>
                  <a:srgbClr val="1F2533"/>
                </a:solidFill>
                <a:latin typeface="Calibri"/>
              </a:rPr>
              <a:t>▸  Higher incidence of true anoestrus, ovarian inactivity and anovulatory cysts.</a:t>
            </a:r>
          </a:p>
        </p:txBody>
      </p:sp>
      <p:sp>
        <p:nvSpPr>
          <p:cNvPr id="14" name="Rectangle 13"/>
          <p:cNvSpPr/>
          <p:nvPr/>
        </p:nvSpPr>
        <p:spPr>
          <a:xfrm>
            <a:off x="822960" y="4800600"/>
            <a:ext cx="3611880" cy="14173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754880"/>
            <a:ext cx="3611880" cy="50292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Heat Detection</a:t>
            </a:r>
          </a:p>
        </p:txBody>
      </p:sp>
      <p:sp>
        <p:nvSpPr>
          <p:cNvPr id="16" name="Rectangle 15"/>
          <p:cNvSpPr/>
          <p:nvPr/>
        </p:nvSpPr>
        <p:spPr>
          <a:xfrm>
            <a:off x="777240" y="5257800"/>
            <a:ext cx="3611880" cy="914400"/>
          </a:xfrm>
          <a:prstGeom prst="rect">
            <a:avLst/>
          </a:prstGeom>
          <a:solidFill>
            <a:srgbClr val="FFFFFF"/>
          </a:solidFill>
          <a:ln w="9525">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Observe 4–5 ×/day; early morning &amp; late evening</a:t>
            </a:r>
          </a:p>
          <a:p>
            <a:pPr>
              <a:spcAft>
                <a:spcPts val="400"/>
              </a:spcAft>
            </a:pPr>
            <a:r>
              <a:rPr sz="1200">
                <a:solidFill>
                  <a:srgbClr val="1F2533"/>
                </a:solidFill>
                <a:latin typeface="Calibri"/>
              </a:rPr>
              <a:t>•  Teaser bull / pedometer / activity meter</a:t>
            </a:r>
          </a:p>
          <a:p>
            <a:pPr>
              <a:spcAft>
                <a:spcPts val="400"/>
              </a:spcAft>
            </a:pPr>
            <a:r>
              <a:rPr sz="1200">
                <a:solidFill>
                  <a:srgbClr val="1F2533"/>
                </a:solidFill>
                <a:latin typeface="Calibri"/>
              </a:rPr>
              <a:t>•  Watch vulvar oedema, mucus, bellowing</a:t>
            </a:r>
          </a:p>
        </p:txBody>
      </p:sp>
      <p:sp>
        <p:nvSpPr>
          <p:cNvPr id="17" name="Rectangle 16"/>
          <p:cNvSpPr/>
          <p:nvPr/>
        </p:nvSpPr>
        <p:spPr>
          <a:xfrm>
            <a:off x="4572000" y="4800600"/>
            <a:ext cx="3611880" cy="14173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4754880"/>
            <a:ext cx="3611880" cy="50292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Hormonal / Synchrony</a:t>
            </a:r>
          </a:p>
        </p:txBody>
      </p:sp>
      <p:sp>
        <p:nvSpPr>
          <p:cNvPr id="19" name="Rectangle 18"/>
          <p:cNvSpPr/>
          <p:nvPr/>
        </p:nvSpPr>
        <p:spPr>
          <a:xfrm>
            <a:off x="4526280" y="5257800"/>
            <a:ext cx="3611880" cy="914400"/>
          </a:xfrm>
          <a:prstGeom prst="rect">
            <a:avLst/>
          </a:prstGeom>
          <a:solidFill>
            <a:srgbClr val="FFFFFF"/>
          </a:solidFill>
          <a:ln w="952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Ovsynch / Heatsynch / CIDR work well</a:t>
            </a:r>
          </a:p>
          <a:p>
            <a:pPr>
              <a:spcAft>
                <a:spcPts val="400"/>
              </a:spcAft>
            </a:pPr>
            <a:r>
              <a:rPr sz="1200">
                <a:solidFill>
                  <a:srgbClr val="1F2533"/>
                </a:solidFill>
                <a:latin typeface="Calibri"/>
              </a:rPr>
              <a:t>•  Pre-synch / Double-Ovsynch in summer</a:t>
            </a:r>
          </a:p>
          <a:p>
            <a:pPr>
              <a:spcAft>
                <a:spcPts val="400"/>
              </a:spcAft>
            </a:pPr>
            <a:r>
              <a:rPr sz="1200">
                <a:solidFill>
                  <a:srgbClr val="1F2533"/>
                </a:solidFill>
                <a:latin typeface="Calibri"/>
              </a:rPr>
              <a:t>•  GnRH at AI for late-cycling buffaloes</a:t>
            </a:r>
          </a:p>
        </p:txBody>
      </p:sp>
      <p:sp>
        <p:nvSpPr>
          <p:cNvPr id="20" name="Rectangle 19"/>
          <p:cNvSpPr/>
          <p:nvPr/>
        </p:nvSpPr>
        <p:spPr>
          <a:xfrm>
            <a:off x="8321040" y="4800600"/>
            <a:ext cx="3520440" cy="14173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75320" y="4754880"/>
            <a:ext cx="35204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Environment &amp; Nutrition</a:t>
            </a:r>
          </a:p>
        </p:txBody>
      </p:sp>
      <p:sp>
        <p:nvSpPr>
          <p:cNvPr id="22" name="Rectangle 21"/>
          <p:cNvSpPr/>
          <p:nvPr/>
        </p:nvSpPr>
        <p:spPr>
          <a:xfrm>
            <a:off x="8275320" y="5257800"/>
            <a:ext cx="3520440" cy="914400"/>
          </a:xfrm>
          <a:prstGeom prst="rect">
            <a:avLst/>
          </a:prstGeom>
          <a:solidFill>
            <a:srgbClr val="FFFFFF"/>
          </a:solidFill>
          <a:ln w="9525">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Wallowing / showers when &gt; 32 °C</a:t>
            </a:r>
          </a:p>
          <a:p>
            <a:pPr>
              <a:spcAft>
                <a:spcPts val="400"/>
              </a:spcAft>
            </a:pPr>
            <a:r>
              <a:rPr sz="1200">
                <a:solidFill>
                  <a:srgbClr val="1F2533"/>
                </a:solidFill>
                <a:latin typeface="Calibri"/>
              </a:rPr>
              <a:t>•  Shade, fans, fly control</a:t>
            </a:r>
          </a:p>
          <a:p>
            <a:pPr>
              <a:spcAft>
                <a:spcPts val="400"/>
              </a:spcAft>
            </a:pPr>
            <a:r>
              <a:rPr sz="1200">
                <a:solidFill>
                  <a:srgbClr val="1F2533"/>
                </a:solidFill>
                <a:latin typeface="Calibri"/>
              </a:rPr>
              <a:t>•  Bypass fat &amp; mineral supplementation</a:t>
            </a:r>
          </a:p>
        </p:txBody>
      </p:sp>
      <p:sp>
        <p:nvSpPr>
          <p:cNvPr id="23" name="TextBox 22"/>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4" name="TextBox 23"/>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20 of 24</a:t>
            </a:r>
          </a:p>
        </p:txBody>
      </p:sp>
      <p:sp>
        <p:nvSpPr>
          <p:cNvPr id="25" name="Rectangle 24"/>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Cow vs Buffalo — At a Glance</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15568"/>
            <a:ext cx="10972800" cy="384048"/>
          </a:xfrm>
          <a:prstGeom prst="rect">
            <a:avLst/>
          </a:prstGeom>
          <a:noFill/>
        </p:spPr>
        <p:txBody>
          <a:bodyPr wrap="none">
            <a:spAutoFit/>
          </a:bodyPr>
          <a:lstStyle/>
          <a:p>
            <a:r>
              <a:rPr sz="1300" i="1">
                <a:solidFill>
                  <a:srgbClr val="555C66"/>
                </a:solidFill>
                <a:latin typeface="Calibri"/>
              </a:rPr>
              <a:t>Comparative reproductive features relevant to repeat breeding</a:t>
            </a:r>
          </a:p>
        </p:txBody>
      </p:sp>
      <p:sp>
        <p:nvSpPr>
          <p:cNvPr id="9" name="Oval 8"/>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21</a:t>
            </a:r>
          </a:p>
        </p:txBody>
      </p:sp>
      <p:graphicFrame>
        <p:nvGraphicFramePr>
          <p:cNvPr id="10" name="Table 9"/>
          <p:cNvGraphicFramePr>
            <a:graphicFrameLocks noGrp="1"/>
          </p:cNvGraphicFramePr>
          <p:nvPr/>
        </p:nvGraphicFramePr>
        <p:xfrm>
          <a:off x="777240" y="1691640"/>
          <a:ext cx="10607040" cy="4251960"/>
        </p:xfrm>
        <a:graphic>
          <a:graphicData uri="http://schemas.openxmlformats.org/drawingml/2006/table">
            <a:tbl>
              <a:tblPr firstRow="1" bandRow="1">
                <a:tableStyleId>{5C22544A-7EE6-4342-B048-85BDC9FD1C3A}</a:tableStyleId>
              </a:tblPr>
              <a:tblGrid>
                <a:gridCol w="2743200"/>
                <a:gridCol w="3931920"/>
                <a:gridCol w="3931920"/>
              </a:tblGrid>
              <a:tr h="386541">
                <a:tc>
                  <a:txBody>
                    <a:bodyPr tIns="36576" bIns="36576" wrap="square"/>
                    <a:lstStyle/>
                    <a:p>
                      <a:pPr algn="l"/>
                      <a:r>
                        <a:rPr sz="1300" b="1">
                          <a:solidFill>
                            <a:srgbClr val="FFFFFF"/>
                          </a:solidFill>
                          <a:latin typeface="Calibri"/>
                        </a:rPr>
                        <a:t>Parameter</a:t>
                      </a:r>
                    </a:p>
                  </a:txBody>
                  <a:tcPr>
                    <a:solidFill>
                      <a:srgbClr val="1B3A57"/>
                    </a:solidFill>
                  </a:tcPr>
                </a:tc>
                <a:tc>
                  <a:txBody>
                    <a:bodyPr tIns="36576" bIns="36576" wrap="square"/>
                    <a:lstStyle/>
                    <a:p>
                      <a:pPr algn="l"/>
                      <a:r>
                        <a:rPr sz="1300" b="1">
                          <a:solidFill>
                            <a:srgbClr val="FFFFFF"/>
                          </a:solidFill>
                          <a:latin typeface="Calibri"/>
                        </a:rPr>
                        <a:t>Cow (Bos taurus / indicus)</a:t>
                      </a:r>
                    </a:p>
                  </a:txBody>
                  <a:tcPr>
                    <a:solidFill>
                      <a:srgbClr val="1B3A57"/>
                    </a:solidFill>
                  </a:tcPr>
                </a:tc>
                <a:tc>
                  <a:txBody>
                    <a:bodyPr tIns="36576" bIns="36576" wrap="square"/>
                    <a:lstStyle/>
                    <a:p>
                      <a:pPr algn="l"/>
                      <a:r>
                        <a:rPr sz="1300" b="1">
                          <a:solidFill>
                            <a:srgbClr val="FFFFFF"/>
                          </a:solidFill>
                          <a:latin typeface="Calibri"/>
                        </a:rPr>
                        <a:t>Buffalo (Bubalus bubalis)</a:t>
                      </a:r>
                    </a:p>
                  </a:txBody>
                  <a:tcPr>
                    <a:solidFill>
                      <a:srgbClr val="1B3A57"/>
                    </a:solidFill>
                  </a:tcPr>
                </a:tc>
              </a:tr>
              <a:tr h="386541">
                <a:tc>
                  <a:txBody>
                    <a:bodyPr tIns="36576" bIns="36576" wrap="square"/>
                    <a:lstStyle/>
                    <a:p>
                      <a:pPr algn="l"/>
                      <a:r>
                        <a:rPr sz="1150" b="1">
                          <a:solidFill>
                            <a:srgbClr val="1B3A57"/>
                          </a:solidFill>
                          <a:latin typeface="Calibri"/>
                        </a:rPr>
                        <a:t>Age at puberty</a:t>
                      </a:r>
                    </a:p>
                  </a:txBody>
                  <a:tcPr>
                    <a:solidFill>
                      <a:srgbClr val="FFFFFF"/>
                    </a:solidFill>
                  </a:tcPr>
                </a:tc>
                <a:tc>
                  <a:txBody>
                    <a:bodyPr tIns="36576" bIns="36576" wrap="square"/>
                    <a:lstStyle/>
                    <a:p>
                      <a:pPr algn="l"/>
                      <a:r>
                        <a:rPr sz="1150">
                          <a:solidFill>
                            <a:srgbClr val="1F2533"/>
                          </a:solidFill>
                          <a:latin typeface="Calibri"/>
                        </a:rPr>
                        <a:t>12–18 months</a:t>
                      </a:r>
                    </a:p>
                  </a:txBody>
                  <a:tcPr>
                    <a:solidFill>
                      <a:srgbClr val="FFFFFF"/>
                    </a:solidFill>
                  </a:tcPr>
                </a:tc>
                <a:tc>
                  <a:txBody>
                    <a:bodyPr tIns="36576" bIns="36576" wrap="square"/>
                    <a:lstStyle/>
                    <a:p>
                      <a:pPr algn="l"/>
                      <a:r>
                        <a:rPr sz="1150">
                          <a:solidFill>
                            <a:srgbClr val="1F2533"/>
                          </a:solidFill>
                          <a:latin typeface="Calibri"/>
                        </a:rPr>
                        <a:t>24–36 months</a:t>
                      </a:r>
                    </a:p>
                  </a:txBody>
                  <a:tcPr>
                    <a:solidFill>
                      <a:srgbClr val="FFFFFF"/>
                    </a:solidFill>
                  </a:tcPr>
                </a:tc>
              </a:tr>
              <a:tr h="386541">
                <a:tc>
                  <a:txBody>
                    <a:bodyPr tIns="36576" bIns="36576" wrap="square"/>
                    <a:lstStyle/>
                    <a:p>
                      <a:pPr algn="l"/>
                      <a:r>
                        <a:rPr sz="1150" b="1">
                          <a:solidFill>
                            <a:srgbClr val="1B3A57"/>
                          </a:solidFill>
                          <a:latin typeface="Calibri"/>
                        </a:rPr>
                        <a:t>Age at first calving</a:t>
                      </a:r>
                    </a:p>
                  </a:txBody>
                  <a:tcPr>
                    <a:solidFill>
                      <a:srgbClr val="DCE6F0"/>
                    </a:solidFill>
                  </a:tcPr>
                </a:tc>
                <a:tc>
                  <a:txBody>
                    <a:bodyPr tIns="36576" bIns="36576" wrap="square"/>
                    <a:lstStyle/>
                    <a:p>
                      <a:pPr algn="l"/>
                      <a:r>
                        <a:rPr sz="1150">
                          <a:solidFill>
                            <a:srgbClr val="1F2533"/>
                          </a:solidFill>
                          <a:latin typeface="Calibri"/>
                        </a:rPr>
                        <a:t>24–30 months</a:t>
                      </a:r>
                    </a:p>
                  </a:txBody>
                  <a:tcPr>
                    <a:solidFill>
                      <a:srgbClr val="DCE6F0"/>
                    </a:solidFill>
                  </a:tcPr>
                </a:tc>
                <a:tc>
                  <a:txBody>
                    <a:bodyPr tIns="36576" bIns="36576" wrap="square"/>
                    <a:lstStyle/>
                    <a:p>
                      <a:pPr algn="l"/>
                      <a:r>
                        <a:rPr sz="1150">
                          <a:solidFill>
                            <a:srgbClr val="1F2533"/>
                          </a:solidFill>
                          <a:latin typeface="Calibri"/>
                        </a:rPr>
                        <a:t>36–48 months</a:t>
                      </a:r>
                    </a:p>
                  </a:txBody>
                  <a:tcPr>
                    <a:solidFill>
                      <a:srgbClr val="DCE6F0"/>
                    </a:solidFill>
                  </a:tcPr>
                </a:tc>
              </a:tr>
              <a:tr h="386541">
                <a:tc>
                  <a:txBody>
                    <a:bodyPr tIns="36576" bIns="36576" wrap="square"/>
                    <a:lstStyle/>
                    <a:p>
                      <a:pPr algn="l"/>
                      <a:r>
                        <a:rPr sz="1150" b="1">
                          <a:solidFill>
                            <a:srgbClr val="1B3A57"/>
                          </a:solidFill>
                          <a:latin typeface="Calibri"/>
                        </a:rPr>
                        <a:t>Oestrous cycle length</a:t>
                      </a:r>
                    </a:p>
                  </a:txBody>
                  <a:tcPr>
                    <a:solidFill>
                      <a:srgbClr val="FFFFFF"/>
                    </a:solidFill>
                  </a:tcPr>
                </a:tc>
                <a:tc>
                  <a:txBody>
                    <a:bodyPr tIns="36576" bIns="36576" wrap="square"/>
                    <a:lstStyle/>
                    <a:p>
                      <a:pPr algn="l"/>
                      <a:r>
                        <a:rPr sz="1150">
                          <a:solidFill>
                            <a:srgbClr val="1F2533"/>
                          </a:solidFill>
                          <a:latin typeface="Calibri"/>
                        </a:rPr>
                        <a:t>21 days (18–24)</a:t>
                      </a:r>
                    </a:p>
                  </a:txBody>
                  <a:tcPr>
                    <a:solidFill>
                      <a:srgbClr val="FFFFFF"/>
                    </a:solidFill>
                  </a:tcPr>
                </a:tc>
                <a:tc>
                  <a:txBody>
                    <a:bodyPr tIns="36576" bIns="36576" wrap="square"/>
                    <a:lstStyle/>
                    <a:p>
                      <a:pPr algn="l"/>
                      <a:r>
                        <a:rPr sz="1150">
                          <a:solidFill>
                            <a:srgbClr val="1F2533"/>
                          </a:solidFill>
                          <a:latin typeface="Calibri"/>
                        </a:rPr>
                        <a:t>21 days (18–22)</a:t>
                      </a:r>
                    </a:p>
                  </a:txBody>
                  <a:tcPr>
                    <a:solidFill>
                      <a:srgbClr val="FFFFFF"/>
                    </a:solidFill>
                  </a:tcPr>
                </a:tc>
              </a:tr>
              <a:tr h="386541">
                <a:tc>
                  <a:txBody>
                    <a:bodyPr tIns="36576" bIns="36576" wrap="square"/>
                    <a:lstStyle/>
                    <a:p>
                      <a:pPr algn="l"/>
                      <a:r>
                        <a:rPr sz="1150" b="1">
                          <a:solidFill>
                            <a:srgbClr val="1B3A57"/>
                          </a:solidFill>
                          <a:latin typeface="Calibri"/>
                        </a:rPr>
                        <a:t>Duration of oestrus</a:t>
                      </a:r>
                    </a:p>
                  </a:txBody>
                  <a:tcPr>
                    <a:solidFill>
                      <a:srgbClr val="DCE6F0"/>
                    </a:solidFill>
                  </a:tcPr>
                </a:tc>
                <a:tc>
                  <a:txBody>
                    <a:bodyPr tIns="36576" bIns="36576" wrap="square"/>
                    <a:lstStyle/>
                    <a:p>
                      <a:pPr algn="l"/>
                      <a:r>
                        <a:rPr sz="1150">
                          <a:solidFill>
                            <a:srgbClr val="1F2533"/>
                          </a:solidFill>
                          <a:latin typeface="Calibri"/>
                        </a:rPr>
                        <a:t>12–18 hours</a:t>
                      </a:r>
                    </a:p>
                  </a:txBody>
                  <a:tcPr>
                    <a:solidFill>
                      <a:srgbClr val="DCE6F0"/>
                    </a:solidFill>
                  </a:tcPr>
                </a:tc>
                <a:tc>
                  <a:txBody>
                    <a:bodyPr tIns="36576" bIns="36576" wrap="square"/>
                    <a:lstStyle/>
                    <a:p>
                      <a:pPr algn="l"/>
                      <a:r>
                        <a:rPr sz="1150">
                          <a:solidFill>
                            <a:srgbClr val="1F2533"/>
                          </a:solidFill>
                          <a:latin typeface="Calibri"/>
                        </a:rPr>
                        <a:t>18–30 hours</a:t>
                      </a:r>
                    </a:p>
                  </a:txBody>
                  <a:tcPr>
                    <a:solidFill>
                      <a:srgbClr val="DCE6F0"/>
                    </a:solidFill>
                  </a:tcPr>
                </a:tc>
              </a:tr>
              <a:tr h="386541">
                <a:tc>
                  <a:txBody>
                    <a:bodyPr tIns="36576" bIns="36576" wrap="square"/>
                    <a:lstStyle/>
                    <a:p>
                      <a:pPr algn="l"/>
                      <a:r>
                        <a:rPr sz="1150" b="1">
                          <a:solidFill>
                            <a:srgbClr val="1B3A57"/>
                          </a:solidFill>
                          <a:latin typeface="Calibri"/>
                        </a:rPr>
                        <a:t>Signs of oestrus</a:t>
                      </a:r>
                    </a:p>
                  </a:txBody>
                  <a:tcPr>
                    <a:solidFill>
                      <a:srgbClr val="FFFFFF"/>
                    </a:solidFill>
                  </a:tcPr>
                </a:tc>
                <a:tc>
                  <a:txBody>
                    <a:bodyPr tIns="36576" bIns="36576" wrap="square"/>
                    <a:lstStyle/>
                    <a:p>
                      <a:pPr algn="l"/>
                      <a:r>
                        <a:rPr sz="1150">
                          <a:solidFill>
                            <a:srgbClr val="1F2533"/>
                          </a:solidFill>
                          <a:latin typeface="Calibri"/>
                        </a:rPr>
                        <a:t>Overt — clear mucus, mounting</a:t>
                      </a:r>
                    </a:p>
                  </a:txBody>
                  <a:tcPr>
                    <a:solidFill>
                      <a:srgbClr val="FFFFFF"/>
                    </a:solidFill>
                  </a:tcPr>
                </a:tc>
                <a:tc>
                  <a:txBody>
                    <a:bodyPr tIns="36576" bIns="36576" wrap="square"/>
                    <a:lstStyle/>
                    <a:p>
                      <a:pPr algn="l"/>
                      <a:r>
                        <a:rPr sz="1150">
                          <a:solidFill>
                            <a:srgbClr val="1F2533"/>
                          </a:solidFill>
                          <a:latin typeface="Calibri"/>
                        </a:rPr>
                        <a:t>Often silent / sub-oestrus</a:t>
                      </a:r>
                    </a:p>
                  </a:txBody>
                  <a:tcPr>
                    <a:solidFill>
                      <a:srgbClr val="FFFFFF"/>
                    </a:solidFill>
                  </a:tcPr>
                </a:tc>
              </a:tr>
              <a:tr h="386541">
                <a:tc>
                  <a:txBody>
                    <a:bodyPr tIns="36576" bIns="36576" wrap="square"/>
                    <a:lstStyle/>
                    <a:p>
                      <a:pPr algn="l"/>
                      <a:r>
                        <a:rPr sz="1150" b="1">
                          <a:solidFill>
                            <a:srgbClr val="1B3A57"/>
                          </a:solidFill>
                          <a:latin typeface="Calibri"/>
                        </a:rPr>
                        <a:t>Seasonality</a:t>
                      </a:r>
                    </a:p>
                  </a:txBody>
                  <a:tcPr>
                    <a:solidFill>
                      <a:srgbClr val="DCE6F0"/>
                    </a:solidFill>
                  </a:tcPr>
                </a:tc>
                <a:tc>
                  <a:txBody>
                    <a:bodyPr tIns="36576" bIns="36576" wrap="square"/>
                    <a:lstStyle/>
                    <a:p>
                      <a:pPr algn="l"/>
                      <a:r>
                        <a:rPr sz="1150">
                          <a:solidFill>
                            <a:srgbClr val="1F2533"/>
                          </a:solidFill>
                          <a:latin typeface="Calibri"/>
                        </a:rPr>
                        <a:t>Year-round breeder</a:t>
                      </a:r>
                    </a:p>
                  </a:txBody>
                  <a:tcPr>
                    <a:solidFill>
                      <a:srgbClr val="DCE6F0"/>
                    </a:solidFill>
                  </a:tcPr>
                </a:tc>
                <a:tc>
                  <a:txBody>
                    <a:bodyPr tIns="36576" bIns="36576" wrap="square"/>
                    <a:lstStyle/>
                    <a:p>
                      <a:pPr algn="l"/>
                      <a:r>
                        <a:rPr sz="1150">
                          <a:solidFill>
                            <a:srgbClr val="1F2533"/>
                          </a:solidFill>
                          <a:latin typeface="Calibri"/>
                        </a:rPr>
                        <a:t>Strongly seasonal (Oct–Feb)</a:t>
                      </a:r>
                    </a:p>
                  </a:txBody>
                  <a:tcPr>
                    <a:solidFill>
                      <a:srgbClr val="DCE6F0"/>
                    </a:solidFill>
                  </a:tcPr>
                </a:tc>
              </a:tr>
              <a:tr h="386541">
                <a:tc>
                  <a:txBody>
                    <a:bodyPr tIns="36576" bIns="36576" wrap="square"/>
                    <a:lstStyle/>
                    <a:p>
                      <a:pPr algn="l"/>
                      <a:r>
                        <a:rPr sz="1150" b="1">
                          <a:solidFill>
                            <a:srgbClr val="1B3A57"/>
                          </a:solidFill>
                          <a:latin typeface="Calibri"/>
                        </a:rPr>
                        <a:t>Post-partum anoestrus</a:t>
                      </a:r>
                    </a:p>
                  </a:txBody>
                  <a:tcPr>
                    <a:solidFill>
                      <a:srgbClr val="FFFFFF"/>
                    </a:solidFill>
                  </a:tcPr>
                </a:tc>
                <a:tc>
                  <a:txBody>
                    <a:bodyPr tIns="36576" bIns="36576" wrap="square"/>
                    <a:lstStyle/>
                    <a:p>
                      <a:pPr algn="l"/>
                      <a:r>
                        <a:rPr sz="1150">
                          <a:solidFill>
                            <a:srgbClr val="1F2533"/>
                          </a:solidFill>
                          <a:latin typeface="Calibri"/>
                        </a:rPr>
                        <a:t>45–90 days</a:t>
                      </a:r>
                    </a:p>
                  </a:txBody>
                  <a:tcPr>
                    <a:solidFill>
                      <a:srgbClr val="FFFFFF"/>
                    </a:solidFill>
                  </a:tcPr>
                </a:tc>
                <a:tc>
                  <a:txBody>
                    <a:bodyPr tIns="36576" bIns="36576" wrap="square"/>
                    <a:lstStyle/>
                    <a:p>
                      <a:pPr algn="l"/>
                      <a:r>
                        <a:rPr sz="1150">
                          <a:solidFill>
                            <a:srgbClr val="1F2533"/>
                          </a:solidFill>
                          <a:latin typeface="Calibri"/>
                        </a:rPr>
                        <a:t>90–150 days</a:t>
                      </a:r>
                    </a:p>
                  </a:txBody>
                  <a:tcPr>
                    <a:solidFill>
                      <a:srgbClr val="FFFFFF"/>
                    </a:solidFill>
                  </a:tcPr>
                </a:tc>
              </a:tr>
              <a:tr h="386541">
                <a:tc>
                  <a:txBody>
                    <a:bodyPr tIns="36576" bIns="36576" wrap="square"/>
                    <a:lstStyle/>
                    <a:p>
                      <a:pPr algn="l"/>
                      <a:r>
                        <a:rPr sz="1150" b="1">
                          <a:solidFill>
                            <a:srgbClr val="1B3A57"/>
                          </a:solidFill>
                          <a:latin typeface="Calibri"/>
                        </a:rPr>
                        <a:t>Antral follicle count</a:t>
                      </a:r>
                    </a:p>
                  </a:txBody>
                  <a:tcPr>
                    <a:solidFill>
                      <a:srgbClr val="DCE6F0"/>
                    </a:solidFill>
                  </a:tcPr>
                </a:tc>
                <a:tc>
                  <a:txBody>
                    <a:bodyPr tIns="36576" bIns="36576" wrap="square"/>
                    <a:lstStyle/>
                    <a:p>
                      <a:pPr algn="l"/>
                      <a:r>
                        <a:rPr sz="1150">
                          <a:solidFill>
                            <a:srgbClr val="1F2533"/>
                          </a:solidFill>
                          <a:latin typeface="Calibri"/>
                        </a:rPr>
                        <a:t>Higher</a:t>
                      </a:r>
                    </a:p>
                  </a:txBody>
                  <a:tcPr>
                    <a:solidFill>
                      <a:srgbClr val="DCE6F0"/>
                    </a:solidFill>
                  </a:tcPr>
                </a:tc>
                <a:tc>
                  <a:txBody>
                    <a:bodyPr tIns="36576" bIns="36576" wrap="square"/>
                    <a:lstStyle/>
                    <a:p>
                      <a:pPr algn="l"/>
                      <a:r>
                        <a:rPr sz="1150">
                          <a:solidFill>
                            <a:srgbClr val="1F2533"/>
                          </a:solidFill>
                          <a:latin typeface="Calibri"/>
                        </a:rPr>
                        <a:t>Lower</a:t>
                      </a:r>
                    </a:p>
                  </a:txBody>
                  <a:tcPr>
                    <a:solidFill>
                      <a:srgbClr val="DCE6F0"/>
                    </a:solidFill>
                  </a:tcPr>
                </a:tc>
              </a:tr>
              <a:tr h="386541">
                <a:tc>
                  <a:txBody>
                    <a:bodyPr tIns="36576" bIns="36576" wrap="square"/>
                    <a:lstStyle/>
                    <a:p>
                      <a:pPr algn="l"/>
                      <a:r>
                        <a:rPr sz="1150" b="1">
                          <a:solidFill>
                            <a:srgbClr val="1B3A57"/>
                          </a:solidFill>
                          <a:latin typeface="Calibri"/>
                        </a:rPr>
                        <a:t>Heat-stress sensitivity</a:t>
                      </a:r>
                    </a:p>
                  </a:txBody>
                  <a:tcPr>
                    <a:solidFill>
                      <a:srgbClr val="FFFFFF"/>
                    </a:solidFill>
                  </a:tcPr>
                </a:tc>
                <a:tc>
                  <a:txBody>
                    <a:bodyPr tIns="36576" bIns="36576" wrap="square"/>
                    <a:lstStyle/>
                    <a:p>
                      <a:pPr algn="l"/>
                      <a:r>
                        <a:rPr sz="1150">
                          <a:solidFill>
                            <a:srgbClr val="1F2533"/>
                          </a:solidFill>
                          <a:latin typeface="Calibri"/>
                        </a:rPr>
                        <a:t>Moderate</a:t>
                      </a:r>
                    </a:p>
                  </a:txBody>
                  <a:tcPr>
                    <a:solidFill>
                      <a:srgbClr val="FFFFFF"/>
                    </a:solidFill>
                  </a:tcPr>
                </a:tc>
                <a:tc>
                  <a:txBody>
                    <a:bodyPr tIns="36576" bIns="36576" wrap="square"/>
                    <a:lstStyle/>
                    <a:p>
                      <a:pPr algn="l"/>
                      <a:r>
                        <a:rPr sz="1150">
                          <a:solidFill>
                            <a:srgbClr val="1F2533"/>
                          </a:solidFill>
                          <a:latin typeface="Calibri"/>
                        </a:rPr>
                        <a:t>High — needs wallow / shower</a:t>
                      </a:r>
                    </a:p>
                  </a:txBody>
                  <a:tcPr>
                    <a:solidFill>
                      <a:srgbClr val="FFFFFF"/>
                    </a:solidFill>
                  </a:tcPr>
                </a:tc>
              </a:tr>
              <a:tr h="386550">
                <a:tc>
                  <a:txBody>
                    <a:bodyPr tIns="36576" bIns="36576" wrap="square"/>
                    <a:lstStyle/>
                    <a:p>
                      <a:pPr algn="l"/>
                      <a:r>
                        <a:rPr sz="1150" b="1">
                          <a:solidFill>
                            <a:srgbClr val="1B3A57"/>
                          </a:solidFill>
                          <a:latin typeface="Calibri"/>
                        </a:rPr>
                        <a:t>Common cause of repeat breeding</a:t>
                      </a:r>
                    </a:p>
                  </a:txBody>
                  <a:tcPr>
                    <a:solidFill>
                      <a:srgbClr val="DCE6F0"/>
                    </a:solidFill>
                  </a:tcPr>
                </a:tc>
                <a:tc>
                  <a:txBody>
                    <a:bodyPr tIns="36576" bIns="36576" wrap="square"/>
                    <a:lstStyle/>
                    <a:p>
                      <a:pPr algn="l"/>
                      <a:r>
                        <a:rPr sz="1150">
                          <a:solidFill>
                            <a:srgbClr val="1F2533"/>
                          </a:solidFill>
                          <a:latin typeface="Calibri"/>
                        </a:rPr>
                        <a:t>Subclinical endometritis</a:t>
                      </a:r>
                    </a:p>
                  </a:txBody>
                  <a:tcPr>
                    <a:solidFill>
                      <a:srgbClr val="DCE6F0"/>
                    </a:solidFill>
                  </a:tcPr>
                </a:tc>
                <a:tc>
                  <a:txBody>
                    <a:bodyPr tIns="36576" bIns="36576" wrap="square"/>
                    <a:lstStyle/>
                    <a:p>
                      <a:pPr algn="l"/>
                      <a:r>
                        <a:rPr sz="1150">
                          <a:solidFill>
                            <a:srgbClr val="1F2533"/>
                          </a:solidFill>
                          <a:latin typeface="Calibri"/>
                        </a:rPr>
                        <a:t>Silent oestrus + summer infertility</a:t>
                      </a:r>
                    </a:p>
                  </a:txBody>
                  <a:tcPr>
                    <a:solidFill>
                      <a:srgbClr val="DCE6F0"/>
                    </a:solidFill>
                  </a:tcPr>
                </a:tc>
              </a:tr>
            </a:tbl>
          </a:graphicData>
        </a:graphic>
      </p:graphicFrame>
      <p:sp>
        <p:nvSpPr>
          <p:cNvPr id="11" name="Rounded Rectangle 10"/>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Silent oestrus and summer infertility are the dominant drivers of repeat breeding in buffaloes.</a:t>
            </a:r>
          </a:p>
        </p:txBody>
      </p:sp>
      <p:sp>
        <p:nvSpPr>
          <p:cNvPr id="12" name="Rectangle 11"/>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4" name="TextBox 13"/>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21 of 24</a:t>
            </a:r>
          </a:p>
        </p:txBody>
      </p:sp>
      <p:sp>
        <p:nvSpPr>
          <p:cNvPr id="15" name="Rectangle 14"/>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Prevention — Better Than Cure</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22</a:t>
            </a:r>
          </a:p>
        </p:txBody>
      </p:sp>
      <p:sp>
        <p:nvSpPr>
          <p:cNvPr id="9" name="Rectangle 8"/>
          <p:cNvSpPr/>
          <p:nvPr/>
        </p:nvSpPr>
        <p:spPr>
          <a:xfrm>
            <a:off x="822960" y="1737360"/>
            <a:ext cx="5394960" cy="21031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5394960" cy="50292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Herd-Level Practices</a:t>
            </a:r>
          </a:p>
        </p:txBody>
      </p:sp>
      <p:sp>
        <p:nvSpPr>
          <p:cNvPr id="11" name="Rectangle 10"/>
          <p:cNvSpPr/>
          <p:nvPr/>
        </p:nvSpPr>
        <p:spPr>
          <a:xfrm>
            <a:off x="777240" y="2194560"/>
            <a:ext cx="5394960" cy="1600200"/>
          </a:xfrm>
          <a:prstGeom prst="rect">
            <a:avLst/>
          </a:prstGeom>
          <a:solidFill>
            <a:srgbClr val="FFFFFF"/>
          </a:solidFill>
          <a:ln w="9525">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Routine post-partum exam on Day 30–45</a:t>
            </a:r>
          </a:p>
          <a:p>
            <a:pPr>
              <a:spcAft>
                <a:spcPts val="400"/>
              </a:spcAft>
            </a:pPr>
            <a:r>
              <a:rPr sz="1200">
                <a:solidFill>
                  <a:srgbClr val="1F2533"/>
                </a:solidFill>
                <a:latin typeface="Calibri"/>
              </a:rPr>
              <a:t>•  Maintain calving interval 12–13 months</a:t>
            </a:r>
          </a:p>
          <a:p>
            <a:pPr>
              <a:spcAft>
                <a:spcPts val="400"/>
              </a:spcAft>
            </a:pPr>
            <a:r>
              <a:rPr sz="1200">
                <a:solidFill>
                  <a:srgbClr val="1F2533"/>
                </a:solidFill>
                <a:latin typeface="Calibri"/>
              </a:rPr>
              <a:t>•  Vaccinate against Brucella, IBR, BVD, Leptospira</a:t>
            </a:r>
          </a:p>
          <a:p>
            <a:pPr>
              <a:spcAft>
                <a:spcPts val="400"/>
              </a:spcAft>
            </a:pPr>
            <a:r>
              <a:rPr sz="1200">
                <a:solidFill>
                  <a:srgbClr val="1F2533"/>
                </a:solidFill>
                <a:latin typeface="Calibri"/>
              </a:rPr>
              <a:t>•  Bio-security; quarantine new animals</a:t>
            </a:r>
          </a:p>
        </p:txBody>
      </p:sp>
      <p:sp>
        <p:nvSpPr>
          <p:cNvPr id="12" name="Rectangle 11"/>
          <p:cNvSpPr/>
          <p:nvPr/>
        </p:nvSpPr>
        <p:spPr>
          <a:xfrm>
            <a:off x="6446520" y="1737360"/>
            <a:ext cx="5394960" cy="21031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691640"/>
            <a:ext cx="5394960" cy="50292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Cow / Buffalo-Level Practices</a:t>
            </a:r>
          </a:p>
        </p:txBody>
      </p:sp>
      <p:sp>
        <p:nvSpPr>
          <p:cNvPr id="14" name="Rectangle 13"/>
          <p:cNvSpPr/>
          <p:nvPr/>
        </p:nvSpPr>
        <p:spPr>
          <a:xfrm>
            <a:off x="6400800" y="2194560"/>
            <a:ext cx="5394960" cy="1600200"/>
          </a:xfrm>
          <a:prstGeom prst="rect">
            <a:avLst/>
          </a:prstGeom>
          <a:solidFill>
            <a:srgbClr val="FFFFFF"/>
          </a:solidFill>
          <a:ln w="952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Balanced ration — energy, protein &amp; minerals</a:t>
            </a:r>
          </a:p>
          <a:p>
            <a:pPr>
              <a:spcAft>
                <a:spcPts val="400"/>
              </a:spcAft>
            </a:pPr>
            <a:r>
              <a:rPr sz="1200">
                <a:solidFill>
                  <a:srgbClr val="1F2533"/>
                </a:solidFill>
                <a:latin typeface="Calibri"/>
              </a:rPr>
              <a:t>•  Body Condition Scoring at dry-off, calving, AI</a:t>
            </a:r>
          </a:p>
          <a:p>
            <a:pPr>
              <a:spcAft>
                <a:spcPts val="400"/>
              </a:spcAft>
            </a:pPr>
            <a:r>
              <a:rPr sz="1200">
                <a:solidFill>
                  <a:srgbClr val="1F2533"/>
                </a:solidFill>
                <a:latin typeface="Calibri"/>
              </a:rPr>
              <a:t>•  Heat detection 3× daily / pedometers / activity collars</a:t>
            </a:r>
          </a:p>
          <a:p>
            <a:pPr>
              <a:spcAft>
                <a:spcPts val="400"/>
              </a:spcAft>
            </a:pPr>
            <a:r>
              <a:rPr sz="1200">
                <a:solidFill>
                  <a:srgbClr val="1F2533"/>
                </a:solidFill>
                <a:latin typeface="Calibri"/>
              </a:rPr>
              <a:t>•  AI by trained technicians using fertile, properly thawed semen</a:t>
            </a:r>
          </a:p>
        </p:txBody>
      </p:sp>
      <p:sp>
        <p:nvSpPr>
          <p:cNvPr id="15" name="Rectangle 14"/>
          <p:cNvSpPr/>
          <p:nvPr/>
        </p:nvSpPr>
        <p:spPr>
          <a:xfrm>
            <a:off x="822960" y="4023359"/>
            <a:ext cx="5394960" cy="21031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977639"/>
            <a:ext cx="539496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Environment</a:t>
            </a:r>
          </a:p>
        </p:txBody>
      </p:sp>
      <p:sp>
        <p:nvSpPr>
          <p:cNvPr id="17" name="Rectangle 16"/>
          <p:cNvSpPr/>
          <p:nvPr/>
        </p:nvSpPr>
        <p:spPr>
          <a:xfrm>
            <a:off x="777240" y="4480559"/>
            <a:ext cx="5394960" cy="1600200"/>
          </a:xfrm>
          <a:prstGeom prst="rect">
            <a:avLst/>
          </a:prstGeom>
          <a:solidFill>
            <a:srgbClr val="FFFFFF"/>
          </a:solidFill>
          <a:ln w="9525">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Shade, fans, sprinklers / wallows in summer</a:t>
            </a:r>
          </a:p>
          <a:p>
            <a:pPr>
              <a:spcAft>
                <a:spcPts val="400"/>
              </a:spcAft>
            </a:pPr>
            <a:r>
              <a:rPr sz="1200">
                <a:solidFill>
                  <a:srgbClr val="1F2533"/>
                </a:solidFill>
                <a:latin typeface="Calibri"/>
              </a:rPr>
              <a:t>•  Comfortable, non-slippery flooring</a:t>
            </a:r>
          </a:p>
          <a:p>
            <a:pPr>
              <a:spcAft>
                <a:spcPts val="400"/>
              </a:spcAft>
            </a:pPr>
            <a:r>
              <a:rPr sz="1200">
                <a:solidFill>
                  <a:srgbClr val="1F2533"/>
                </a:solidFill>
                <a:latin typeface="Calibri"/>
              </a:rPr>
              <a:t>•  Adequate water and clean housing</a:t>
            </a:r>
          </a:p>
          <a:p>
            <a:pPr>
              <a:spcAft>
                <a:spcPts val="400"/>
              </a:spcAft>
            </a:pPr>
            <a:r>
              <a:rPr sz="1200">
                <a:solidFill>
                  <a:srgbClr val="1F2533"/>
                </a:solidFill>
                <a:latin typeface="Calibri"/>
              </a:rPr>
              <a:t>•  Reduce overcrowding &amp; social stress</a:t>
            </a:r>
          </a:p>
        </p:txBody>
      </p:sp>
      <p:sp>
        <p:nvSpPr>
          <p:cNvPr id="18" name="Rectangle 17"/>
          <p:cNvSpPr/>
          <p:nvPr/>
        </p:nvSpPr>
        <p:spPr>
          <a:xfrm>
            <a:off x="6446520" y="4023359"/>
            <a:ext cx="5394960" cy="210312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3977639"/>
            <a:ext cx="5394960" cy="50292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l">
              <a:spcBef>
                <a:spcPts val="0"/>
              </a:spcBef>
            </a:pPr>
            <a:r>
              <a:rPr sz="1500" b="1">
                <a:solidFill>
                  <a:srgbClr val="FFFFFF"/>
                </a:solidFill>
                <a:latin typeface="Calibri"/>
              </a:rPr>
              <a:t>Records &amp; Decisions</a:t>
            </a:r>
          </a:p>
        </p:txBody>
      </p:sp>
      <p:sp>
        <p:nvSpPr>
          <p:cNvPr id="20" name="Rectangle 19"/>
          <p:cNvSpPr/>
          <p:nvPr/>
        </p:nvSpPr>
        <p:spPr>
          <a:xfrm>
            <a:off x="6400800" y="4480559"/>
            <a:ext cx="5394960" cy="1600200"/>
          </a:xfrm>
          <a:prstGeom prst="rect">
            <a:avLst/>
          </a:prstGeom>
          <a:solidFill>
            <a:srgbClr val="FFFFFF"/>
          </a:solidFill>
          <a:ln w="9525">
            <a:solidFill>
              <a:srgbClr val="1B3A5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pPr>
            <a:r>
              <a:rPr sz="1200">
                <a:solidFill>
                  <a:srgbClr val="1F2533"/>
                </a:solidFill>
                <a:latin typeface="Calibri"/>
              </a:rPr>
              <a:t>•  Maintain individual breeding records / software</a:t>
            </a:r>
          </a:p>
          <a:p>
            <a:pPr>
              <a:spcAft>
                <a:spcPts val="400"/>
              </a:spcAft>
            </a:pPr>
            <a:r>
              <a:rPr sz="1200">
                <a:solidFill>
                  <a:srgbClr val="1F2533"/>
                </a:solidFill>
                <a:latin typeface="Calibri"/>
              </a:rPr>
              <a:t>•  Identify chronic repeaters early</a:t>
            </a:r>
          </a:p>
          <a:p>
            <a:pPr>
              <a:spcAft>
                <a:spcPts val="400"/>
              </a:spcAft>
            </a:pPr>
            <a:r>
              <a:rPr sz="1200">
                <a:solidFill>
                  <a:srgbClr val="1F2533"/>
                </a:solidFill>
                <a:latin typeface="Calibri"/>
              </a:rPr>
              <a:t>•  Selective culling after 5–6 unsuccessful services</a:t>
            </a:r>
          </a:p>
          <a:p>
            <a:pPr>
              <a:spcAft>
                <a:spcPts val="400"/>
              </a:spcAft>
            </a:pPr>
            <a:r>
              <a:rPr sz="1200">
                <a:solidFill>
                  <a:srgbClr val="1F2533"/>
                </a:solidFill>
                <a:latin typeface="Calibri"/>
              </a:rPr>
              <a:t>•  Periodic herd fertility audit</a:t>
            </a:r>
          </a:p>
        </p:txBody>
      </p:sp>
      <p:sp>
        <p:nvSpPr>
          <p:cNvPr id="21" name="TextBox 20"/>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22" name="TextBox 21"/>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22 of 24</a:t>
            </a:r>
          </a:p>
        </p:txBody>
      </p:sp>
      <p:sp>
        <p:nvSpPr>
          <p:cNvPr id="23" name="Rectangle 22"/>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Recent Advances</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23</a:t>
            </a:r>
          </a:p>
        </p:txBody>
      </p:sp>
      <p:sp>
        <p:nvSpPr>
          <p:cNvPr id="9" name="TextBox 8"/>
          <p:cNvSpPr txBox="1"/>
          <p:nvPr/>
        </p:nvSpPr>
        <p:spPr>
          <a:xfrm>
            <a:off x="777240" y="1691640"/>
            <a:ext cx="10972800" cy="4572000"/>
          </a:xfrm>
          <a:prstGeom prst="rect">
            <a:avLst/>
          </a:prstGeom>
          <a:noFill/>
        </p:spPr>
        <p:txBody>
          <a:bodyPr wrap="square" lIns="0" rIns="0">
            <a:spAutoFit/>
          </a:bodyPr>
          <a:lstStyle/>
          <a:p>
            <a:pPr>
              <a:spcAft>
                <a:spcPts val="600"/>
              </a:spcAft>
            </a:pPr>
            <a:r>
              <a:rPr sz="1600">
                <a:solidFill>
                  <a:srgbClr val="1F2533"/>
                </a:solidFill>
                <a:latin typeface="Calibri"/>
              </a:rPr>
              <a:t>▸  Doppler ultrasonography of CL — early detection of luteal insufficiency.</a:t>
            </a:r>
          </a:p>
          <a:p>
            <a:pPr>
              <a:spcAft>
                <a:spcPts val="600"/>
              </a:spcAft>
            </a:pPr>
            <a:r>
              <a:rPr sz="1600">
                <a:solidFill>
                  <a:srgbClr val="1F2533"/>
                </a:solidFill>
                <a:latin typeface="Calibri"/>
              </a:rPr>
              <a:t>▸  Embryo transfer (ET) in chronic repeat breeders — bypasses fertilization and early embryo problems.</a:t>
            </a:r>
          </a:p>
          <a:p>
            <a:pPr>
              <a:spcAft>
                <a:spcPts val="600"/>
              </a:spcAft>
            </a:pPr>
            <a:r>
              <a:rPr sz="1600">
                <a:solidFill>
                  <a:srgbClr val="1F2533"/>
                </a:solidFill>
                <a:latin typeface="Calibri"/>
              </a:rPr>
              <a:t>▸  In-vitro fertilization (IVF / OPU-IVP) for valuable persistent repeaters.</a:t>
            </a:r>
          </a:p>
          <a:p>
            <a:pPr>
              <a:spcAft>
                <a:spcPts val="600"/>
              </a:spcAft>
            </a:pPr>
            <a:r>
              <a:rPr sz="1600">
                <a:solidFill>
                  <a:srgbClr val="1F2533"/>
                </a:solidFill>
                <a:latin typeface="Calibri"/>
              </a:rPr>
              <a:t>▸  Sexed semen with optimised AI timing for high-genetic-merit cows.</a:t>
            </a:r>
          </a:p>
          <a:p>
            <a:pPr>
              <a:spcAft>
                <a:spcPts val="600"/>
              </a:spcAft>
            </a:pPr>
            <a:r>
              <a:rPr sz="1600">
                <a:solidFill>
                  <a:srgbClr val="1F2533"/>
                </a:solidFill>
                <a:latin typeface="Calibri"/>
              </a:rPr>
              <a:t>▸  Genomic selection — identifying cows predisposed to early embryonic death.</a:t>
            </a:r>
          </a:p>
          <a:p>
            <a:pPr>
              <a:spcAft>
                <a:spcPts val="600"/>
              </a:spcAft>
            </a:pPr>
            <a:r>
              <a:rPr sz="1600">
                <a:solidFill>
                  <a:srgbClr val="1F2533"/>
                </a:solidFill>
                <a:latin typeface="Calibri"/>
              </a:rPr>
              <a:t>▸  Activity-monitoring collars &amp; AI-based heat detection systems.</a:t>
            </a:r>
          </a:p>
          <a:p>
            <a:pPr>
              <a:spcAft>
                <a:spcPts val="600"/>
              </a:spcAft>
            </a:pPr>
            <a:r>
              <a:rPr sz="1600">
                <a:solidFill>
                  <a:srgbClr val="1F2533"/>
                </a:solidFill>
                <a:latin typeface="Calibri"/>
              </a:rPr>
              <a:t>▸  Anti-oxidant therapy (Vitamin E, Selenium, Astaxanthin) to improve oocyte and embryo quality.</a:t>
            </a:r>
          </a:p>
          <a:p>
            <a:pPr>
              <a:spcAft>
                <a:spcPts val="600"/>
              </a:spcAft>
            </a:pPr>
            <a:r>
              <a:rPr sz="1600">
                <a:solidFill>
                  <a:srgbClr val="1F2533"/>
                </a:solidFill>
                <a:latin typeface="Calibri"/>
              </a:rPr>
              <a:t>▸  Targeted reproductive ultrasonography &amp; uterine biopsy for refractory cases.</a:t>
            </a:r>
          </a:p>
        </p:txBody>
      </p:sp>
      <p:sp>
        <p:nvSpPr>
          <p:cNvPr id="10" name="Rounded Rectangle 9"/>
          <p:cNvSpPr/>
          <p:nvPr/>
        </p:nvSpPr>
        <p:spPr>
          <a:xfrm>
            <a:off x="777240" y="5486400"/>
            <a:ext cx="10607040" cy="868680"/>
          </a:xfrm>
          <a:prstGeom prst="roundRect">
            <a:avLst/>
          </a:prstGeom>
          <a:solidFill>
            <a:srgbClr val="FFFFFF"/>
          </a:solidFill>
          <a:ln w="1905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411480" rIns="182880" tIns="73152"/>
          <a:lstStyle/>
          <a:p>
            <a:pPr algn="ctr"/>
            <a:r>
              <a:rPr sz="1100" b="1">
                <a:solidFill>
                  <a:srgbClr val="E07A18"/>
                </a:solidFill>
                <a:latin typeface="Calibri"/>
              </a:rPr>
              <a:t>KEY TAKEAWAY  </a:t>
            </a:r>
            <a:r>
              <a:rPr sz="1300" i="1">
                <a:solidFill>
                  <a:srgbClr val="1F2533"/>
                </a:solidFill>
                <a:latin typeface="Calibri"/>
              </a:rPr>
              <a:t>ET and OPU-IVP can rescue genetically valuable repeat breeders that fail all conventional therapy.</a:t>
            </a:r>
          </a:p>
        </p:txBody>
      </p:sp>
      <p:sp>
        <p:nvSpPr>
          <p:cNvPr id="11" name="Rectangle 10"/>
          <p:cNvSpPr/>
          <p:nvPr/>
        </p:nvSpPr>
        <p:spPr>
          <a:xfrm>
            <a:off x="777240" y="5486400"/>
            <a:ext cx="164592" cy="8686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92240"/>
            <a:ext cx="7315200" cy="274320"/>
          </a:xfrm>
          <a:prstGeom prst="rect">
            <a:avLst/>
          </a:prstGeom>
          <a:noFill/>
        </p:spPr>
        <p:txBody>
          <a:bodyPr wrap="none" lIns="0" rIns="0">
            <a:spAutoFit/>
          </a:bodyPr>
          <a:lstStyle/>
          <a:p>
            <a:pPr algn="l"/>
            <a:r>
              <a:rPr sz="900">
                <a:solidFill>
                  <a:srgbClr val="555C66"/>
                </a:solidFill>
                <a:latin typeface="Calibri"/>
              </a:rPr>
              <a:t>Repeat Breeding in Cattle  |  Veterinary Gynaecology &amp; Obstetrics</a:t>
            </a:r>
          </a:p>
        </p:txBody>
      </p:sp>
      <p:sp>
        <p:nvSpPr>
          <p:cNvPr id="13" name="TextBox 12"/>
          <p:cNvSpPr txBox="1"/>
          <p:nvPr/>
        </p:nvSpPr>
        <p:spPr>
          <a:xfrm>
            <a:off x="10058400" y="6492240"/>
            <a:ext cx="1828800" cy="274320"/>
          </a:xfrm>
          <a:prstGeom prst="rect">
            <a:avLst/>
          </a:prstGeom>
          <a:noFill/>
        </p:spPr>
        <p:txBody>
          <a:bodyPr wrap="none">
            <a:spAutoFit/>
          </a:bodyPr>
          <a:lstStyle/>
          <a:p>
            <a:pPr algn="r"/>
            <a:r>
              <a:rPr sz="900">
                <a:solidFill>
                  <a:srgbClr val="555C66"/>
                </a:solidFill>
                <a:latin typeface="Calibri"/>
              </a:rPr>
              <a:t>Page 23 of 24</a:t>
            </a:r>
          </a:p>
        </p:txBody>
      </p:sp>
      <p:sp>
        <p:nvSpPr>
          <p:cNvPr id="14" name="Rectangle 13"/>
          <p:cNvSpPr/>
          <p:nvPr/>
        </p:nvSpPr>
        <p:spPr>
          <a:xfrm>
            <a:off x="548640" y="6446520"/>
            <a:ext cx="11091672" cy="6000"/>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3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54864" cy="685800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74320"/>
            <a:ext cx="10515600" cy="777240"/>
          </a:xfrm>
          <a:prstGeom prst="rect">
            <a:avLst/>
          </a:prstGeom>
          <a:noFill/>
        </p:spPr>
        <p:txBody>
          <a:bodyPr wrap="none" lIns="0" rIns="0">
            <a:spAutoFit/>
          </a:bodyPr>
          <a:lstStyle/>
          <a:p>
            <a:r>
              <a:rPr sz="3200" b="1">
                <a:solidFill>
                  <a:srgbClr val="1B3A57"/>
                </a:solidFill>
                <a:latin typeface="Calibri"/>
              </a:rPr>
              <a:t>Conclusion &amp; References</a:t>
            </a:r>
          </a:p>
        </p:txBody>
      </p:sp>
      <p:sp>
        <p:nvSpPr>
          <p:cNvPr id="6" name="Rectangle 5"/>
          <p:cNvSpPr/>
          <p:nvPr/>
        </p:nvSpPr>
        <p:spPr>
          <a:xfrm>
            <a:off x="594360" y="1005840"/>
            <a:ext cx="822960" cy="64008"/>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17320" y="1005840"/>
            <a:ext cx="365760" cy="6400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75720" y="292608"/>
            <a:ext cx="502920" cy="502920"/>
          </a:xfrm>
          <a:prstGeom prst="ellipse">
            <a:avLst/>
          </a:prstGeom>
          <a:solidFill>
            <a:srgbClr val="1B3A57"/>
          </a:solidFill>
          <a:ln w="15875">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lIns="0" rIns="0" tIns="18288" bIns="18288"/>
          <a:lstStyle/>
          <a:p>
            <a:pPr algn="ctr"/>
            <a:r>
              <a:rPr sz="1300" b="1">
                <a:solidFill>
                  <a:srgbClr val="FFFFFF"/>
                </a:solidFill>
                <a:latin typeface="Calibri"/>
              </a:rPr>
              <a:t>24</a:t>
            </a:r>
          </a:p>
        </p:txBody>
      </p:sp>
      <p:sp>
        <p:nvSpPr>
          <p:cNvPr id="9" name="Rounded Rectangle 8"/>
          <p:cNvSpPr/>
          <p:nvPr/>
        </p:nvSpPr>
        <p:spPr>
          <a:xfrm>
            <a:off x="822960" y="1737360"/>
            <a:ext cx="10607040" cy="2103120"/>
          </a:xfrm>
          <a:prstGeom prst="round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1691640"/>
            <a:ext cx="10607040" cy="2103120"/>
          </a:xfrm>
          <a:prstGeom prst="roundRect">
            <a:avLst/>
          </a:prstGeom>
          <a:solidFill>
            <a:srgbClr val="FFFFFF"/>
          </a:solidFill>
          <a:ln w="25400">
            <a:solidFill>
              <a:srgbClr val="E07A1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r>
              <a:rPr sz="1800" b="1">
                <a:solidFill>
                  <a:srgbClr val="1B3A57"/>
                </a:solidFill>
                <a:latin typeface="Calibri"/>
              </a:rPr>
              <a:t>Conclusion</a:t>
            </a:r>
          </a:p>
          <a:p>
            <a:pPr>
              <a:spcAft>
                <a:spcPts val="200"/>
              </a:spcAft>
            </a:pPr>
            <a:r>
              <a:rPr sz="1300">
                <a:solidFill>
                  <a:srgbClr val="1F2533"/>
                </a:solidFill>
                <a:latin typeface="Calibri"/>
              </a:rPr>
              <a:t>▸  Repeat breeding is a multifactorial syndrome — a symptom rather than a disease.</a:t>
            </a:r>
          </a:p>
          <a:p>
            <a:pPr>
              <a:spcAft>
                <a:spcPts val="200"/>
              </a:spcAft>
            </a:pPr>
            <a:r>
              <a:rPr sz="1300">
                <a:solidFill>
                  <a:srgbClr val="1F2533"/>
                </a:solidFill>
                <a:latin typeface="Calibri"/>
              </a:rPr>
              <a:t>▸  Successful management requires accurate diagnosis, correction of nutrition, infection and hormonal imbalance, plus excellent AI practices.</a:t>
            </a:r>
          </a:p>
          <a:p>
            <a:pPr>
              <a:spcAft>
                <a:spcPts val="200"/>
              </a:spcAft>
            </a:pPr>
            <a:r>
              <a:rPr sz="1300">
                <a:solidFill>
                  <a:srgbClr val="1F2533"/>
                </a:solidFill>
                <a:latin typeface="Calibri"/>
              </a:rPr>
              <a:t>▸  Buffaloes need extra attention to silent oestrus, seasonality and summer heat-stress mitigation.</a:t>
            </a:r>
          </a:p>
          <a:p>
            <a:pPr>
              <a:spcAft>
                <a:spcPts val="200"/>
              </a:spcAft>
            </a:pPr>
            <a:r>
              <a:rPr sz="1300">
                <a:solidFill>
                  <a:srgbClr val="1F2533"/>
                </a:solidFill>
                <a:latin typeface="Calibri"/>
              </a:rPr>
              <a:t>▸  Prevention through good husbandry and herd health is far more economical than treatment.</a:t>
            </a:r>
          </a:p>
        </p:txBody>
      </p:sp>
      <p:sp>
        <p:nvSpPr>
          <p:cNvPr id="11" name="TextBox 10"/>
          <p:cNvSpPr txBox="1"/>
          <p:nvPr/>
        </p:nvSpPr>
        <p:spPr>
          <a:xfrm>
            <a:off x="777240" y="3977639"/>
            <a:ext cx="10607040" cy="2194560"/>
          </a:xfrm>
          <a:prstGeom prst="rect">
            <a:avLst/>
          </a:prstGeom>
          <a:noFill/>
        </p:spPr>
        <p:txBody>
          <a:bodyPr wrap="square">
            <a:spAutoFit/>
          </a:bodyPr>
          <a:lstStyle/>
          <a:p>
            <a:r>
              <a:rPr sz="1600" b="1">
                <a:solidFill>
                  <a:srgbClr val="1B3A57"/>
                </a:solidFill>
                <a:latin typeface="Calibri"/>
              </a:rPr>
              <a:t>References (selected)</a:t>
            </a:r>
          </a:p>
          <a:p>
            <a:pPr>
              <a:spcAft>
                <a:spcPts val="200"/>
              </a:spcAft>
            </a:pPr>
            <a:r>
              <a:rPr sz="1100">
                <a:solidFill>
                  <a:srgbClr val="1F2533"/>
                </a:solidFill>
                <a:latin typeface="Calibri"/>
              </a:rPr>
              <a:t>•  Roberts S.J. — Veterinary Obstetrics &amp; Genital Diseases (Theriogenology), 3rd Ed.</a:t>
            </a:r>
          </a:p>
          <a:p>
            <a:pPr>
              <a:spcAft>
                <a:spcPts val="200"/>
              </a:spcAft>
            </a:pPr>
            <a:r>
              <a:rPr sz="1100">
                <a:solidFill>
                  <a:srgbClr val="1F2533"/>
                </a:solidFill>
                <a:latin typeface="Calibri"/>
              </a:rPr>
              <a:t>•  Arthur, Noakes, Pearson &amp; Parkinson — Veterinary Reproduction &amp; Obstetrics, 11th Ed.</a:t>
            </a:r>
          </a:p>
          <a:p>
            <a:pPr>
              <a:spcAft>
                <a:spcPts val="200"/>
              </a:spcAft>
            </a:pPr>
            <a:r>
              <a:rPr sz="1100">
                <a:solidFill>
                  <a:srgbClr val="1F2533"/>
                </a:solidFill>
                <a:latin typeface="Calibri"/>
              </a:rPr>
              <a:t>•  Hafez E.S.E. &amp; Hafez B. — Reproduction in Farm Animals, 7th Ed.</a:t>
            </a:r>
          </a:p>
          <a:p>
            <a:pPr>
              <a:spcAft>
                <a:spcPts val="200"/>
              </a:spcAft>
            </a:pPr>
            <a:r>
              <a:rPr sz="1100">
                <a:solidFill>
                  <a:srgbClr val="1F2533"/>
                </a:solidFill>
                <a:latin typeface="Calibri"/>
              </a:rPr>
              <a:t>•  Peters A.R. &amp; Ball P.J.H. — Reproduction in Cattle, 3rd Ed.</a:t>
            </a:r>
          </a:p>
          <a:p>
            <a:pPr>
              <a:spcAft>
                <a:spcPts val="200"/>
              </a:spcAft>
            </a:pPr>
            <a:r>
              <a:rPr sz="1100">
                <a:solidFill>
                  <a:srgbClr val="1F2533"/>
                </a:solidFill>
                <a:latin typeface="Calibri"/>
              </a:rPr>
              <a:t>•  Bartlett P.C. et al. — Repeat breeder syndrome in dairy cattle, JDS.</a:t>
            </a:r>
          </a:p>
          <a:p>
            <a:pPr>
              <a:spcAft>
                <a:spcPts val="200"/>
              </a:spcAft>
            </a:pPr>
            <a:r>
              <a:rPr sz="1100">
                <a:solidFill>
                  <a:srgbClr val="1F2533"/>
                </a:solidFill>
                <a:latin typeface="Calibri"/>
              </a:rPr>
              <a:t>•  Gustafsson H. &amp; Emanuelson U. — Repeat breeding syndrome in Swedish dairy cattle, Acta Vet. Scand.</a:t>
            </a:r>
          </a:p>
          <a:p>
            <a:pPr>
              <a:spcAft>
                <a:spcPts val="200"/>
              </a:spcAft>
            </a:pPr>
            <a:r>
              <a:rPr sz="1100">
                <a:solidFill>
                  <a:srgbClr val="1F2533"/>
                </a:solidFill>
                <a:latin typeface="Calibri"/>
              </a:rPr>
              <a:t>•  Perera B.M.A.O. — Reproductive cycles of buffalo, Anim. Reprod. Sci.</a:t>
            </a:r>
          </a:p>
        </p:txBody>
      </p:sp>
      <p:sp>
        <p:nvSpPr>
          <p:cNvPr id="12" name="TextBox 11"/>
          <p:cNvSpPr txBox="1"/>
          <p:nvPr/>
        </p:nvSpPr>
        <p:spPr>
          <a:xfrm>
            <a:off x="777240" y="6172200"/>
            <a:ext cx="7772400" cy="274320"/>
          </a:xfrm>
          <a:prstGeom prst="rect">
            <a:avLst/>
          </a:prstGeom>
          <a:noFill/>
        </p:spPr>
        <p:txBody>
          <a:bodyPr wrap="none">
            <a:spAutoFit/>
          </a:bodyPr>
          <a:lstStyle/>
          <a:p>
            <a:r>
              <a:rPr sz="900" i="1">
                <a:solidFill>
                  <a:srgbClr val="555C66"/>
                </a:solidFill>
                <a:latin typeface="Calibri"/>
              </a:rPr>
              <a:t>Image credits: cow &amp; buffalo photographs from Wikimedia Commons (CC BY-SA / public domain).</a:t>
            </a:r>
          </a:p>
        </p:txBody>
      </p:sp>
      <p:sp>
        <p:nvSpPr>
          <p:cNvPr id="13" name="Rectangle 12"/>
          <p:cNvSpPr/>
          <p:nvPr/>
        </p:nvSpPr>
        <p:spPr>
          <a:xfrm>
            <a:off x="8778240" y="6126480"/>
            <a:ext cx="2862072" cy="411480"/>
          </a:xfrm>
          <a:prstGeom prst="rect">
            <a:avLst/>
          </a:prstGeom>
          <a:solidFill>
            <a:srgbClr val="E07A18"/>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600" b="1">
                <a:solidFill>
                  <a:srgbClr val="FFFFFF"/>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